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Black Ops One" charset="1" panose="02000000000000000000"/>
      <p:regular r:id="rId25"/>
    </p:embeddedFont>
    <p:embeddedFont>
      <p:font typeface="League Spartan" charset="1" panose="00000800000000000000"/>
      <p:regular r:id="rId26"/>
    </p:embeddedFont>
    <p:embeddedFont>
      <p:font typeface="Opun" charset="1" panose="000000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2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2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2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2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492107" y="0"/>
            <a:ext cx="21272214" cy="6647567"/>
          </a:xfrm>
          <a:custGeom>
            <a:avLst/>
            <a:gdLst/>
            <a:ahLst/>
            <a:cxnLst/>
            <a:rect r="r" b="b" t="t" l="l"/>
            <a:pathLst>
              <a:path h="6647567" w="21272214">
                <a:moveTo>
                  <a:pt x="0" y="0"/>
                </a:moveTo>
                <a:lnTo>
                  <a:pt x="21272214" y="0"/>
                </a:lnTo>
                <a:lnTo>
                  <a:pt x="21272214" y="6647567"/>
                </a:lnTo>
                <a:lnTo>
                  <a:pt x="0" y="6647567"/>
                </a:lnTo>
                <a:lnTo>
                  <a:pt x="0" y="0"/>
                </a:lnTo>
                <a:close/>
              </a:path>
            </a:pathLst>
          </a:custGeom>
          <a:blipFill>
            <a:blip r:embed="rId2"/>
            <a:stretch>
              <a:fillRect l="0" t="0" r="0" b="0"/>
            </a:stretch>
          </a:blipFill>
        </p:spPr>
      </p:sp>
      <p:sp>
        <p:nvSpPr>
          <p:cNvPr name="Freeform 3" id="3"/>
          <p:cNvSpPr/>
          <p:nvPr/>
        </p:nvSpPr>
        <p:spPr>
          <a:xfrm flipH="false" flipV="false" rot="0">
            <a:off x="-814865" y="0"/>
            <a:ext cx="19102865" cy="7697115"/>
          </a:xfrm>
          <a:custGeom>
            <a:avLst/>
            <a:gdLst/>
            <a:ahLst/>
            <a:cxnLst/>
            <a:rect r="r" b="b" t="t" l="l"/>
            <a:pathLst>
              <a:path h="7697115" w="19102865">
                <a:moveTo>
                  <a:pt x="0" y="0"/>
                </a:moveTo>
                <a:lnTo>
                  <a:pt x="19102865" y="0"/>
                </a:lnTo>
                <a:lnTo>
                  <a:pt x="19102865" y="7697115"/>
                </a:lnTo>
                <a:lnTo>
                  <a:pt x="0" y="7697115"/>
                </a:lnTo>
                <a:lnTo>
                  <a:pt x="0" y="0"/>
                </a:lnTo>
                <a:close/>
              </a:path>
            </a:pathLst>
          </a:custGeom>
          <a:blipFill>
            <a:blip r:embed="rId3"/>
            <a:stretch>
              <a:fillRect l="-6918" t="-23829" r="-7906" b="-25783"/>
            </a:stretch>
          </a:blipFill>
        </p:spPr>
      </p:sp>
      <p:sp>
        <p:nvSpPr>
          <p:cNvPr name="Freeform 4" id="4"/>
          <p:cNvSpPr/>
          <p:nvPr/>
        </p:nvSpPr>
        <p:spPr>
          <a:xfrm flipH="false" flipV="false" rot="-5400000">
            <a:off x="5094479" y="-2921055"/>
            <a:ext cx="6316903" cy="21236341"/>
          </a:xfrm>
          <a:custGeom>
            <a:avLst/>
            <a:gdLst/>
            <a:ahLst/>
            <a:cxnLst/>
            <a:rect r="r" b="b" t="t" l="l"/>
            <a:pathLst>
              <a:path h="21236341" w="6316903">
                <a:moveTo>
                  <a:pt x="0" y="0"/>
                </a:moveTo>
                <a:lnTo>
                  <a:pt x="6316903" y="0"/>
                </a:lnTo>
                <a:lnTo>
                  <a:pt x="6316903" y="21236341"/>
                </a:lnTo>
                <a:lnTo>
                  <a:pt x="0" y="21236341"/>
                </a:lnTo>
                <a:lnTo>
                  <a:pt x="0" y="0"/>
                </a:lnTo>
                <a:close/>
              </a:path>
            </a:pathLst>
          </a:custGeom>
          <a:blipFill>
            <a:blip r:embed="rId4"/>
            <a:stretch>
              <a:fillRect l="-57347" t="0" r="-21642" b="-7559"/>
            </a:stretch>
          </a:blipFill>
        </p:spPr>
      </p:sp>
      <p:sp>
        <p:nvSpPr>
          <p:cNvPr name="Freeform 5" id="5"/>
          <p:cNvSpPr/>
          <p:nvPr/>
        </p:nvSpPr>
        <p:spPr>
          <a:xfrm flipH="false" flipV="false" rot="0">
            <a:off x="2267781" y="5416170"/>
            <a:ext cx="13752437" cy="2819250"/>
          </a:xfrm>
          <a:custGeom>
            <a:avLst/>
            <a:gdLst/>
            <a:ahLst/>
            <a:cxnLst/>
            <a:rect r="r" b="b" t="t" l="l"/>
            <a:pathLst>
              <a:path h="2819250" w="13752437">
                <a:moveTo>
                  <a:pt x="0" y="0"/>
                </a:moveTo>
                <a:lnTo>
                  <a:pt x="13752438" y="0"/>
                </a:lnTo>
                <a:lnTo>
                  <a:pt x="13752438" y="2819249"/>
                </a:lnTo>
                <a:lnTo>
                  <a:pt x="0" y="2819249"/>
                </a:lnTo>
                <a:lnTo>
                  <a:pt x="0" y="0"/>
                </a:lnTo>
                <a:close/>
              </a:path>
            </a:pathLst>
          </a:custGeom>
          <a:blipFill>
            <a:blip r:embed="rId5"/>
            <a:stretch>
              <a:fillRect l="0" t="0" r="0" b="0"/>
            </a:stretch>
          </a:blipFill>
        </p:spPr>
      </p:sp>
      <p:sp>
        <p:nvSpPr>
          <p:cNvPr name="AutoShape 6" id="6"/>
          <p:cNvSpPr/>
          <p:nvPr/>
        </p:nvSpPr>
        <p:spPr>
          <a:xfrm>
            <a:off x="4287033" y="9373605"/>
            <a:ext cx="9713934" cy="0"/>
          </a:xfrm>
          <a:prstGeom prst="line">
            <a:avLst/>
          </a:prstGeom>
          <a:ln cap="flat" w="38100">
            <a:solidFill>
              <a:srgbClr val="DCDDDD"/>
            </a:solidFill>
            <a:prstDash val="solid"/>
            <a:headEnd type="none" len="sm" w="sm"/>
            <a:tailEnd type="none" len="sm" w="sm"/>
          </a:ln>
        </p:spPr>
      </p:sp>
      <p:sp>
        <p:nvSpPr>
          <p:cNvPr name="TextBox 7" id="7"/>
          <p:cNvSpPr txBox="true"/>
          <p:nvPr/>
        </p:nvSpPr>
        <p:spPr>
          <a:xfrm rot="0">
            <a:off x="5219042" y="8291564"/>
            <a:ext cx="7849916" cy="910591"/>
          </a:xfrm>
          <a:prstGeom prst="rect">
            <a:avLst/>
          </a:prstGeom>
        </p:spPr>
        <p:txBody>
          <a:bodyPr anchor="t" rtlCol="false" tIns="0" lIns="0" bIns="0" rIns="0">
            <a:spAutoFit/>
          </a:bodyPr>
          <a:lstStyle/>
          <a:p>
            <a:pPr algn="ctr">
              <a:lnSpc>
                <a:spcPts val="7559"/>
              </a:lnSpc>
              <a:spcBef>
                <a:spcPct val="0"/>
              </a:spcBef>
            </a:pPr>
            <a:r>
              <a:rPr lang="en-US" sz="5399">
                <a:solidFill>
                  <a:srgbClr val="DCDDDD"/>
                </a:solidFill>
                <a:latin typeface="Black Ops One"/>
                <a:ea typeface="Black Ops One"/>
                <a:cs typeface="Black Ops One"/>
                <a:sym typeface="Black Ops One"/>
              </a:rPr>
              <a:t>Tournament Analysis</a:t>
            </a:r>
          </a:p>
        </p:txBody>
      </p:sp>
      <p:sp>
        <p:nvSpPr>
          <p:cNvPr name="TextBox 8" id="8"/>
          <p:cNvSpPr txBox="true"/>
          <p:nvPr/>
        </p:nvSpPr>
        <p:spPr>
          <a:xfrm rot="0">
            <a:off x="4444594" y="9575045"/>
            <a:ext cx="9398811" cy="438803"/>
          </a:xfrm>
          <a:prstGeom prst="rect">
            <a:avLst/>
          </a:prstGeom>
        </p:spPr>
        <p:txBody>
          <a:bodyPr anchor="t" rtlCol="false" tIns="0" lIns="0" bIns="0" rIns="0">
            <a:spAutoFit/>
          </a:bodyPr>
          <a:lstStyle/>
          <a:p>
            <a:pPr algn="ctr">
              <a:lnSpc>
                <a:spcPts val="3640"/>
              </a:lnSpc>
              <a:spcBef>
                <a:spcPct val="0"/>
              </a:spcBef>
            </a:pPr>
            <a:r>
              <a:rPr lang="en-US" sz="2600">
                <a:solidFill>
                  <a:srgbClr val="DCDDDD"/>
                </a:solidFill>
                <a:latin typeface="League Spartan"/>
                <a:ea typeface="League Spartan"/>
                <a:cs typeface="League Spartan"/>
                <a:sym typeface="League Spartan"/>
              </a:rPr>
              <a:t>Cesaratto Ilaria - Mezzanzanica Chiara - Porro Andrea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E3B50"/>
        </a:solidFill>
      </p:bgPr>
    </p:bg>
    <p:spTree>
      <p:nvGrpSpPr>
        <p:cNvPr id="1" name=""/>
        <p:cNvGrpSpPr/>
        <p:nvPr/>
      </p:nvGrpSpPr>
      <p:grpSpPr>
        <a:xfrm>
          <a:off x="0" y="0"/>
          <a:ext cx="0" cy="0"/>
          <a:chOff x="0" y="0"/>
          <a:chExt cx="0" cy="0"/>
        </a:xfrm>
      </p:grpSpPr>
      <p:sp>
        <p:nvSpPr>
          <p:cNvPr name="Freeform 2" id="2"/>
          <p:cNvSpPr/>
          <p:nvPr/>
        </p:nvSpPr>
        <p:spPr>
          <a:xfrm flipH="false" flipV="false" rot="0">
            <a:off x="0" y="-667728"/>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39000"/>
            </a:blip>
            <a:stretch>
              <a:fillRect l="0" t="0" r="0" b="0"/>
            </a:stretch>
          </a:blipFill>
        </p:spPr>
      </p:sp>
      <p:grpSp>
        <p:nvGrpSpPr>
          <p:cNvPr name="Group 3" id="3"/>
          <p:cNvGrpSpPr/>
          <p:nvPr/>
        </p:nvGrpSpPr>
        <p:grpSpPr>
          <a:xfrm rot="-10800000">
            <a:off x="11268979" y="945880"/>
            <a:ext cx="5990321" cy="8395239"/>
            <a:chOff x="0" y="0"/>
            <a:chExt cx="7987095" cy="11193652"/>
          </a:xfrm>
        </p:grpSpPr>
        <p:sp>
          <p:nvSpPr>
            <p:cNvPr name="Freeform 4" id="4"/>
            <p:cNvSpPr/>
            <p:nvPr/>
          </p:nvSpPr>
          <p:spPr>
            <a:xfrm flipH="false" flipV="false" rot="5400000">
              <a:off x="-1672052" y="1672052"/>
              <a:ext cx="11193652" cy="7849549"/>
            </a:xfrm>
            <a:custGeom>
              <a:avLst/>
              <a:gdLst/>
              <a:ahLst/>
              <a:cxnLst/>
              <a:rect r="r" b="b" t="t" l="l"/>
              <a:pathLst>
                <a:path h="7849549" w="11193652">
                  <a:moveTo>
                    <a:pt x="0" y="0"/>
                  </a:moveTo>
                  <a:lnTo>
                    <a:pt x="11193653" y="0"/>
                  </a:lnTo>
                  <a:lnTo>
                    <a:pt x="11193653" y="7849549"/>
                  </a:lnTo>
                  <a:lnTo>
                    <a:pt x="0" y="7849549"/>
                  </a:lnTo>
                  <a:lnTo>
                    <a:pt x="0" y="0"/>
                  </a:lnTo>
                  <a:close/>
                </a:path>
              </a:pathLst>
            </a:custGeom>
            <a:blipFill>
              <a:blip r:embed="rId3"/>
              <a:stretch>
                <a:fillRect l="0" t="0" r="0" b="0"/>
              </a:stretch>
            </a:blipFill>
          </p:spPr>
        </p:sp>
        <p:sp>
          <p:nvSpPr>
            <p:cNvPr name="Freeform 5" id="5"/>
            <p:cNvSpPr/>
            <p:nvPr/>
          </p:nvSpPr>
          <p:spPr>
            <a:xfrm flipH="false" flipV="false" rot="0">
              <a:off x="3769667" y="5366915"/>
              <a:ext cx="445855" cy="434423"/>
            </a:xfrm>
            <a:custGeom>
              <a:avLst/>
              <a:gdLst/>
              <a:ahLst/>
              <a:cxnLst/>
              <a:rect r="r" b="b" t="t" l="l"/>
              <a:pathLst>
                <a:path h="434423" w="445855">
                  <a:moveTo>
                    <a:pt x="0" y="0"/>
                  </a:moveTo>
                  <a:lnTo>
                    <a:pt x="445855" y="0"/>
                  </a:lnTo>
                  <a:lnTo>
                    <a:pt x="445855" y="434423"/>
                  </a:lnTo>
                  <a:lnTo>
                    <a:pt x="0" y="434423"/>
                  </a:lnTo>
                  <a:lnTo>
                    <a:pt x="0" y="0"/>
                  </a:lnTo>
                  <a:close/>
                </a:path>
              </a:pathLst>
            </a:custGeom>
            <a:blipFill>
              <a:blip r:embed="rId4"/>
              <a:stretch>
                <a:fillRect l="0" t="0" r="0" b="0"/>
              </a:stretch>
            </a:blipFill>
          </p:spPr>
        </p:sp>
        <p:sp>
          <p:nvSpPr>
            <p:cNvPr name="Freeform 6" id="6"/>
            <p:cNvSpPr/>
            <p:nvPr/>
          </p:nvSpPr>
          <p:spPr>
            <a:xfrm flipH="false" flipV="false" rot="0">
              <a:off x="1012172" y="5379615"/>
              <a:ext cx="445855" cy="434423"/>
            </a:xfrm>
            <a:custGeom>
              <a:avLst/>
              <a:gdLst/>
              <a:ahLst/>
              <a:cxnLst/>
              <a:rect r="r" b="b" t="t" l="l"/>
              <a:pathLst>
                <a:path h="434423" w="445855">
                  <a:moveTo>
                    <a:pt x="0" y="0"/>
                  </a:moveTo>
                  <a:lnTo>
                    <a:pt x="445856" y="0"/>
                  </a:lnTo>
                  <a:lnTo>
                    <a:pt x="445856" y="434423"/>
                  </a:lnTo>
                  <a:lnTo>
                    <a:pt x="0" y="434423"/>
                  </a:lnTo>
                  <a:lnTo>
                    <a:pt x="0" y="0"/>
                  </a:lnTo>
                  <a:close/>
                </a:path>
              </a:pathLst>
            </a:custGeom>
            <a:blipFill>
              <a:blip r:embed="rId4"/>
              <a:stretch>
                <a:fillRect l="0" t="0" r="0" b="0"/>
              </a:stretch>
            </a:blipFill>
          </p:spPr>
        </p:sp>
        <p:sp>
          <p:nvSpPr>
            <p:cNvPr name="Freeform 7" id="7"/>
            <p:cNvSpPr/>
            <p:nvPr/>
          </p:nvSpPr>
          <p:spPr>
            <a:xfrm flipH="false" flipV="false" rot="0">
              <a:off x="6526922" y="5379615"/>
              <a:ext cx="445855" cy="434423"/>
            </a:xfrm>
            <a:custGeom>
              <a:avLst/>
              <a:gdLst/>
              <a:ahLst/>
              <a:cxnLst/>
              <a:rect r="r" b="b" t="t" l="l"/>
              <a:pathLst>
                <a:path h="434423" w="445855">
                  <a:moveTo>
                    <a:pt x="0" y="0"/>
                  </a:moveTo>
                  <a:lnTo>
                    <a:pt x="445856" y="0"/>
                  </a:lnTo>
                  <a:lnTo>
                    <a:pt x="445856" y="434423"/>
                  </a:lnTo>
                  <a:lnTo>
                    <a:pt x="0" y="434423"/>
                  </a:lnTo>
                  <a:lnTo>
                    <a:pt x="0" y="0"/>
                  </a:lnTo>
                  <a:close/>
                </a:path>
              </a:pathLst>
            </a:custGeom>
            <a:blipFill>
              <a:blip r:embed="rId4"/>
              <a:stretch>
                <a:fillRect l="0" t="0" r="0" b="0"/>
              </a:stretch>
            </a:blipFill>
          </p:spPr>
        </p:sp>
        <p:sp>
          <p:nvSpPr>
            <p:cNvPr name="Freeform 8" id="8"/>
            <p:cNvSpPr/>
            <p:nvPr/>
          </p:nvSpPr>
          <p:spPr>
            <a:xfrm flipH="false" flipV="false" rot="0">
              <a:off x="3769667" y="8803266"/>
              <a:ext cx="445855" cy="434423"/>
            </a:xfrm>
            <a:custGeom>
              <a:avLst/>
              <a:gdLst/>
              <a:ahLst/>
              <a:cxnLst/>
              <a:rect r="r" b="b" t="t" l="l"/>
              <a:pathLst>
                <a:path h="434423" w="445855">
                  <a:moveTo>
                    <a:pt x="0" y="0"/>
                  </a:moveTo>
                  <a:lnTo>
                    <a:pt x="445855" y="0"/>
                  </a:lnTo>
                  <a:lnTo>
                    <a:pt x="445855" y="434423"/>
                  </a:lnTo>
                  <a:lnTo>
                    <a:pt x="0" y="434423"/>
                  </a:lnTo>
                  <a:lnTo>
                    <a:pt x="0" y="0"/>
                  </a:lnTo>
                  <a:close/>
                </a:path>
              </a:pathLst>
            </a:custGeom>
            <a:blipFill>
              <a:blip r:embed="rId4"/>
              <a:stretch>
                <a:fillRect l="0" t="0" r="0" b="0"/>
              </a:stretch>
            </a:blipFill>
          </p:spPr>
        </p:sp>
        <p:sp>
          <p:nvSpPr>
            <p:cNvPr name="Freeform 9" id="9"/>
            <p:cNvSpPr/>
            <p:nvPr/>
          </p:nvSpPr>
          <p:spPr>
            <a:xfrm flipH="false" flipV="false" rot="0">
              <a:off x="3769667" y="1935291"/>
              <a:ext cx="445855" cy="434423"/>
            </a:xfrm>
            <a:custGeom>
              <a:avLst/>
              <a:gdLst/>
              <a:ahLst/>
              <a:cxnLst/>
              <a:rect r="r" b="b" t="t" l="l"/>
              <a:pathLst>
                <a:path h="434423" w="445855">
                  <a:moveTo>
                    <a:pt x="0" y="0"/>
                  </a:moveTo>
                  <a:lnTo>
                    <a:pt x="445855" y="0"/>
                  </a:lnTo>
                  <a:lnTo>
                    <a:pt x="445855" y="434424"/>
                  </a:lnTo>
                  <a:lnTo>
                    <a:pt x="0" y="434424"/>
                  </a:lnTo>
                  <a:lnTo>
                    <a:pt x="0" y="0"/>
                  </a:lnTo>
                  <a:close/>
                </a:path>
              </a:pathLst>
            </a:custGeom>
            <a:blipFill>
              <a:blip r:embed="rId4"/>
              <a:stretch>
                <a:fillRect l="0" t="0" r="0" b="0"/>
              </a:stretch>
            </a:blipFill>
          </p:spPr>
        </p:sp>
        <p:sp>
          <p:nvSpPr>
            <p:cNvPr name="Freeform 10" id="10"/>
            <p:cNvSpPr/>
            <p:nvPr/>
          </p:nvSpPr>
          <p:spPr>
            <a:xfrm flipH="false" flipV="false" rot="-5400000">
              <a:off x="-1534506" y="1672052"/>
              <a:ext cx="11193652" cy="7849549"/>
            </a:xfrm>
            <a:custGeom>
              <a:avLst/>
              <a:gdLst/>
              <a:ahLst/>
              <a:cxnLst/>
              <a:rect r="r" b="b" t="t" l="l"/>
              <a:pathLst>
                <a:path h="7849549" w="11193652">
                  <a:moveTo>
                    <a:pt x="0" y="0"/>
                  </a:moveTo>
                  <a:lnTo>
                    <a:pt x="11193652" y="0"/>
                  </a:lnTo>
                  <a:lnTo>
                    <a:pt x="11193652" y="7849549"/>
                  </a:lnTo>
                  <a:lnTo>
                    <a:pt x="0" y="7849549"/>
                  </a:lnTo>
                  <a:lnTo>
                    <a:pt x="0" y="0"/>
                  </a:lnTo>
                  <a:close/>
                </a:path>
              </a:pathLst>
            </a:custGeom>
            <a:blipFill>
              <a:blip r:embed="rId3"/>
              <a:stretch>
                <a:fillRect l="0" t="0" r="0" b="0"/>
              </a:stretch>
            </a:blipFill>
          </p:spPr>
        </p:sp>
        <p:sp>
          <p:nvSpPr>
            <p:cNvPr name="Freeform 11" id="11"/>
            <p:cNvSpPr/>
            <p:nvPr/>
          </p:nvSpPr>
          <p:spPr>
            <a:xfrm flipH="false" flipV="false" rot="-10800000">
              <a:off x="3771572" y="5389951"/>
              <a:ext cx="445855" cy="434423"/>
            </a:xfrm>
            <a:custGeom>
              <a:avLst/>
              <a:gdLst/>
              <a:ahLst/>
              <a:cxnLst/>
              <a:rect r="r" b="b" t="t" l="l"/>
              <a:pathLst>
                <a:path h="434423" w="445855">
                  <a:moveTo>
                    <a:pt x="0" y="0"/>
                  </a:moveTo>
                  <a:lnTo>
                    <a:pt x="445856" y="0"/>
                  </a:lnTo>
                  <a:lnTo>
                    <a:pt x="445856" y="434423"/>
                  </a:lnTo>
                  <a:lnTo>
                    <a:pt x="0" y="434423"/>
                  </a:lnTo>
                  <a:lnTo>
                    <a:pt x="0" y="0"/>
                  </a:lnTo>
                  <a:close/>
                </a:path>
              </a:pathLst>
            </a:custGeom>
            <a:blipFill>
              <a:blip r:embed="rId4"/>
              <a:stretch>
                <a:fillRect l="0" t="0" r="0" b="0"/>
              </a:stretch>
            </a:blipFill>
          </p:spPr>
        </p:sp>
        <p:sp>
          <p:nvSpPr>
            <p:cNvPr name="Freeform 12" id="12"/>
            <p:cNvSpPr/>
            <p:nvPr/>
          </p:nvSpPr>
          <p:spPr>
            <a:xfrm flipH="false" flipV="false" rot="-10800000">
              <a:off x="6529067" y="5379615"/>
              <a:ext cx="445855" cy="434423"/>
            </a:xfrm>
            <a:custGeom>
              <a:avLst/>
              <a:gdLst/>
              <a:ahLst/>
              <a:cxnLst/>
              <a:rect r="r" b="b" t="t" l="l"/>
              <a:pathLst>
                <a:path h="434423" w="445855">
                  <a:moveTo>
                    <a:pt x="0" y="0"/>
                  </a:moveTo>
                  <a:lnTo>
                    <a:pt x="445855" y="0"/>
                  </a:lnTo>
                  <a:lnTo>
                    <a:pt x="445855" y="434423"/>
                  </a:lnTo>
                  <a:lnTo>
                    <a:pt x="0" y="434423"/>
                  </a:lnTo>
                  <a:lnTo>
                    <a:pt x="0" y="0"/>
                  </a:lnTo>
                  <a:close/>
                </a:path>
              </a:pathLst>
            </a:custGeom>
            <a:blipFill>
              <a:blip r:embed="rId4"/>
              <a:stretch>
                <a:fillRect l="0" t="0" r="0" b="0"/>
              </a:stretch>
            </a:blipFill>
          </p:spPr>
        </p:sp>
        <p:sp>
          <p:nvSpPr>
            <p:cNvPr name="Freeform 13" id="13"/>
            <p:cNvSpPr/>
            <p:nvPr/>
          </p:nvSpPr>
          <p:spPr>
            <a:xfrm flipH="false" flipV="false" rot="-10800000">
              <a:off x="1014317" y="5379615"/>
              <a:ext cx="445855" cy="434423"/>
            </a:xfrm>
            <a:custGeom>
              <a:avLst/>
              <a:gdLst/>
              <a:ahLst/>
              <a:cxnLst/>
              <a:rect r="r" b="b" t="t" l="l"/>
              <a:pathLst>
                <a:path h="434423" w="445855">
                  <a:moveTo>
                    <a:pt x="0" y="0"/>
                  </a:moveTo>
                  <a:lnTo>
                    <a:pt x="445855" y="0"/>
                  </a:lnTo>
                  <a:lnTo>
                    <a:pt x="445855" y="434423"/>
                  </a:lnTo>
                  <a:lnTo>
                    <a:pt x="0" y="434423"/>
                  </a:lnTo>
                  <a:lnTo>
                    <a:pt x="0" y="0"/>
                  </a:lnTo>
                  <a:close/>
                </a:path>
              </a:pathLst>
            </a:custGeom>
            <a:blipFill>
              <a:blip r:embed="rId4"/>
              <a:stretch>
                <a:fillRect l="0" t="0" r="0" b="0"/>
              </a:stretch>
            </a:blipFill>
          </p:spPr>
        </p:sp>
        <p:sp>
          <p:nvSpPr>
            <p:cNvPr name="Freeform 14" id="14"/>
            <p:cNvSpPr/>
            <p:nvPr/>
          </p:nvSpPr>
          <p:spPr>
            <a:xfrm flipH="false" flipV="false" rot="-10800000">
              <a:off x="3771572" y="1955963"/>
              <a:ext cx="445855" cy="434423"/>
            </a:xfrm>
            <a:custGeom>
              <a:avLst/>
              <a:gdLst/>
              <a:ahLst/>
              <a:cxnLst/>
              <a:rect r="r" b="b" t="t" l="l"/>
              <a:pathLst>
                <a:path h="434423" w="445855">
                  <a:moveTo>
                    <a:pt x="0" y="0"/>
                  </a:moveTo>
                  <a:lnTo>
                    <a:pt x="445856" y="0"/>
                  </a:lnTo>
                  <a:lnTo>
                    <a:pt x="445856" y="434424"/>
                  </a:lnTo>
                  <a:lnTo>
                    <a:pt x="0" y="434424"/>
                  </a:lnTo>
                  <a:lnTo>
                    <a:pt x="0" y="0"/>
                  </a:lnTo>
                  <a:close/>
                </a:path>
              </a:pathLst>
            </a:custGeom>
            <a:blipFill>
              <a:blip r:embed="rId4"/>
              <a:stretch>
                <a:fillRect l="0" t="0" r="0" b="0"/>
              </a:stretch>
            </a:blipFill>
          </p:spPr>
        </p:sp>
        <p:sp>
          <p:nvSpPr>
            <p:cNvPr name="Freeform 15" id="15"/>
            <p:cNvSpPr/>
            <p:nvPr/>
          </p:nvSpPr>
          <p:spPr>
            <a:xfrm flipH="false" flipV="false" rot="-10800000">
              <a:off x="3771572" y="8823938"/>
              <a:ext cx="445855" cy="434423"/>
            </a:xfrm>
            <a:custGeom>
              <a:avLst/>
              <a:gdLst/>
              <a:ahLst/>
              <a:cxnLst/>
              <a:rect r="r" b="b" t="t" l="l"/>
              <a:pathLst>
                <a:path h="434423" w="445855">
                  <a:moveTo>
                    <a:pt x="0" y="0"/>
                  </a:moveTo>
                  <a:lnTo>
                    <a:pt x="445856" y="0"/>
                  </a:lnTo>
                  <a:lnTo>
                    <a:pt x="445856" y="434423"/>
                  </a:lnTo>
                  <a:lnTo>
                    <a:pt x="0" y="434423"/>
                  </a:lnTo>
                  <a:lnTo>
                    <a:pt x="0" y="0"/>
                  </a:lnTo>
                  <a:close/>
                </a:path>
              </a:pathLst>
            </a:custGeom>
            <a:blipFill>
              <a:blip r:embed="rId4"/>
              <a:stretch>
                <a:fillRect l="0" t="0" r="0" b="0"/>
              </a:stretch>
            </a:blipFill>
          </p:spPr>
        </p:sp>
      </p:grpSp>
      <p:sp>
        <p:nvSpPr>
          <p:cNvPr name="TextBox 16" id="16"/>
          <p:cNvSpPr txBox="true"/>
          <p:nvPr/>
        </p:nvSpPr>
        <p:spPr>
          <a:xfrm rot="0">
            <a:off x="789358" y="831580"/>
            <a:ext cx="10258767" cy="995700"/>
          </a:xfrm>
          <a:prstGeom prst="rect">
            <a:avLst/>
          </a:prstGeom>
        </p:spPr>
        <p:txBody>
          <a:bodyPr anchor="t" rtlCol="false" tIns="0" lIns="0" bIns="0" rIns="0">
            <a:spAutoFit/>
          </a:bodyPr>
          <a:lstStyle/>
          <a:p>
            <a:pPr algn="ctr">
              <a:lnSpc>
                <a:spcPts val="8119"/>
              </a:lnSpc>
              <a:spcBef>
                <a:spcPct val="0"/>
              </a:spcBef>
            </a:pPr>
            <a:r>
              <a:rPr lang="en-US" sz="5799">
                <a:solidFill>
                  <a:srgbClr val="DCDDDD"/>
                </a:solidFill>
                <a:latin typeface="Black Ops One"/>
                <a:ea typeface="Black Ops One"/>
                <a:cs typeface="Black Ops One"/>
                <a:sym typeface="Black Ops One"/>
              </a:rPr>
              <a:t>What is warhammer 40k?</a:t>
            </a:r>
          </a:p>
        </p:txBody>
      </p:sp>
      <p:sp>
        <p:nvSpPr>
          <p:cNvPr name="AutoShape 17" id="17"/>
          <p:cNvSpPr/>
          <p:nvPr/>
        </p:nvSpPr>
        <p:spPr>
          <a:xfrm flipV="true">
            <a:off x="1028700" y="2080900"/>
            <a:ext cx="9780082" cy="0"/>
          </a:xfrm>
          <a:prstGeom prst="line">
            <a:avLst/>
          </a:prstGeom>
          <a:ln cap="flat" w="38100">
            <a:solidFill>
              <a:srgbClr val="DCDDDD"/>
            </a:solidFill>
            <a:prstDash val="solid"/>
            <a:headEnd type="none" len="sm" w="sm"/>
            <a:tailEnd type="none" len="sm" w="sm"/>
          </a:ln>
        </p:spPr>
      </p:sp>
      <p:grpSp>
        <p:nvGrpSpPr>
          <p:cNvPr name="Group 18" id="18"/>
          <p:cNvGrpSpPr/>
          <p:nvPr/>
        </p:nvGrpSpPr>
        <p:grpSpPr>
          <a:xfrm rot="0">
            <a:off x="-1792651" y="2451442"/>
            <a:ext cx="11860348" cy="1929269"/>
            <a:chOff x="0" y="0"/>
            <a:chExt cx="3334446" cy="542399"/>
          </a:xfrm>
        </p:grpSpPr>
        <p:sp>
          <p:nvSpPr>
            <p:cNvPr name="Freeform 19" id="19"/>
            <p:cNvSpPr/>
            <p:nvPr/>
          </p:nvSpPr>
          <p:spPr>
            <a:xfrm flipH="false" flipV="false" rot="0">
              <a:off x="0" y="0"/>
              <a:ext cx="3334446" cy="542399"/>
            </a:xfrm>
            <a:custGeom>
              <a:avLst/>
              <a:gdLst/>
              <a:ahLst/>
              <a:cxnLst/>
              <a:rect r="r" b="b" t="t" l="l"/>
              <a:pathLst>
                <a:path h="542399" w="3334446">
                  <a:moveTo>
                    <a:pt x="22194" y="0"/>
                  </a:moveTo>
                  <a:lnTo>
                    <a:pt x="3312252" y="0"/>
                  </a:lnTo>
                  <a:cubicBezTo>
                    <a:pt x="3324509" y="0"/>
                    <a:pt x="3334446" y="9936"/>
                    <a:pt x="3334446" y="22194"/>
                  </a:cubicBezTo>
                  <a:lnTo>
                    <a:pt x="3334446" y="520206"/>
                  </a:lnTo>
                  <a:cubicBezTo>
                    <a:pt x="3334446" y="532463"/>
                    <a:pt x="3324509" y="542399"/>
                    <a:pt x="3312252" y="542399"/>
                  </a:cubicBezTo>
                  <a:lnTo>
                    <a:pt x="22194" y="542399"/>
                  </a:lnTo>
                  <a:cubicBezTo>
                    <a:pt x="9936" y="542399"/>
                    <a:pt x="0" y="532463"/>
                    <a:pt x="0" y="520206"/>
                  </a:cubicBezTo>
                  <a:lnTo>
                    <a:pt x="0" y="22194"/>
                  </a:lnTo>
                  <a:cubicBezTo>
                    <a:pt x="0" y="9936"/>
                    <a:pt x="9936" y="0"/>
                    <a:pt x="22194" y="0"/>
                  </a:cubicBezTo>
                  <a:close/>
                </a:path>
              </a:pathLst>
            </a:custGeom>
            <a:solidFill>
              <a:srgbClr val="1E3B50">
                <a:alpha val="65882"/>
              </a:srgbClr>
            </a:solidFill>
          </p:spPr>
        </p:sp>
        <p:sp>
          <p:nvSpPr>
            <p:cNvPr name="TextBox 20" id="20"/>
            <p:cNvSpPr txBox="true"/>
            <p:nvPr/>
          </p:nvSpPr>
          <p:spPr>
            <a:xfrm>
              <a:off x="0" y="-47625"/>
              <a:ext cx="3334446" cy="590024"/>
            </a:xfrm>
            <a:prstGeom prst="rect">
              <a:avLst/>
            </a:prstGeom>
          </p:spPr>
          <p:txBody>
            <a:bodyPr anchor="ctr" rtlCol="false" tIns="50800" lIns="50800" bIns="50800" rIns="50800"/>
            <a:lstStyle/>
            <a:p>
              <a:pPr algn="ctr">
                <a:lnSpc>
                  <a:spcPts val="3640"/>
                </a:lnSpc>
              </a:pPr>
            </a:p>
          </p:txBody>
        </p:sp>
      </p:grpSp>
      <p:grpSp>
        <p:nvGrpSpPr>
          <p:cNvPr name="Group 21" id="21"/>
          <p:cNvGrpSpPr/>
          <p:nvPr/>
        </p:nvGrpSpPr>
        <p:grpSpPr>
          <a:xfrm rot="0">
            <a:off x="-6994593" y="4618836"/>
            <a:ext cx="12601433" cy="2818572"/>
            <a:chOff x="0" y="0"/>
            <a:chExt cx="3542796" cy="792420"/>
          </a:xfrm>
        </p:grpSpPr>
        <p:sp>
          <p:nvSpPr>
            <p:cNvPr name="Freeform 22" id="22"/>
            <p:cNvSpPr/>
            <p:nvPr/>
          </p:nvSpPr>
          <p:spPr>
            <a:xfrm flipH="false" flipV="false" rot="0">
              <a:off x="0" y="0"/>
              <a:ext cx="3542796" cy="792420"/>
            </a:xfrm>
            <a:custGeom>
              <a:avLst/>
              <a:gdLst/>
              <a:ahLst/>
              <a:cxnLst/>
              <a:rect r="r" b="b" t="t" l="l"/>
              <a:pathLst>
                <a:path h="792420" w="3542796">
                  <a:moveTo>
                    <a:pt x="20889" y="0"/>
                  </a:moveTo>
                  <a:lnTo>
                    <a:pt x="3521908" y="0"/>
                  </a:lnTo>
                  <a:cubicBezTo>
                    <a:pt x="3533444" y="0"/>
                    <a:pt x="3542796" y="9352"/>
                    <a:pt x="3542796" y="20889"/>
                  </a:cubicBezTo>
                  <a:lnTo>
                    <a:pt x="3542796" y="771531"/>
                  </a:lnTo>
                  <a:cubicBezTo>
                    <a:pt x="3542796" y="783068"/>
                    <a:pt x="3533444" y="792420"/>
                    <a:pt x="3521908" y="792420"/>
                  </a:cubicBezTo>
                  <a:lnTo>
                    <a:pt x="20889" y="792420"/>
                  </a:lnTo>
                  <a:cubicBezTo>
                    <a:pt x="9352" y="792420"/>
                    <a:pt x="0" y="783068"/>
                    <a:pt x="0" y="771531"/>
                  </a:cubicBezTo>
                  <a:lnTo>
                    <a:pt x="0" y="20889"/>
                  </a:lnTo>
                  <a:cubicBezTo>
                    <a:pt x="0" y="9352"/>
                    <a:pt x="9352" y="0"/>
                    <a:pt x="20889" y="0"/>
                  </a:cubicBezTo>
                  <a:close/>
                </a:path>
              </a:pathLst>
            </a:custGeom>
            <a:solidFill>
              <a:srgbClr val="1E3B50">
                <a:alpha val="65882"/>
              </a:srgbClr>
            </a:solidFill>
          </p:spPr>
        </p:sp>
        <p:sp>
          <p:nvSpPr>
            <p:cNvPr name="TextBox 23" id="23"/>
            <p:cNvSpPr txBox="true"/>
            <p:nvPr/>
          </p:nvSpPr>
          <p:spPr>
            <a:xfrm>
              <a:off x="0" y="-47625"/>
              <a:ext cx="3542796" cy="840045"/>
            </a:xfrm>
            <a:prstGeom prst="rect">
              <a:avLst/>
            </a:prstGeom>
          </p:spPr>
          <p:txBody>
            <a:bodyPr anchor="ctr" rtlCol="false" tIns="50800" lIns="50800" bIns="50800" rIns="50800"/>
            <a:lstStyle/>
            <a:p>
              <a:pPr algn="ctr">
                <a:lnSpc>
                  <a:spcPts val="3640"/>
                </a:lnSpc>
              </a:pPr>
            </a:p>
          </p:txBody>
        </p:sp>
      </p:grpSp>
      <p:grpSp>
        <p:nvGrpSpPr>
          <p:cNvPr name="Group 24" id="24"/>
          <p:cNvGrpSpPr/>
          <p:nvPr/>
        </p:nvGrpSpPr>
        <p:grpSpPr>
          <a:xfrm rot="0">
            <a:off x="-4989480" y="7675533"/>
            <a:ext cx="14133480" cy="1582767"/>
            <a:chOff x="0" y="0"/>
            <a:chExt cx="3973519" cy="444983"/>
          </a:xfrm>
        </p:grpSpPr>
        <p:sp>
          <p:nvSpPr>
            <p:cNvPr name="Freeform 25" id="25"/>
            <p:cNvSpPr/>
            <p:nvPr/>
          </p:nvSpPr>
          <p:spPr>
            <a:xfrm flipH="false" flipV="false" rot="0">
              <a:off x="0" y="0"/>
              <a:ext cx="3973519" cy="444983"/>
            </a:xfrm>
            <a:custGeom>
              <a:avLst/>
              <a:gdLst/>
              <a:ahLst/>
              <a:cxnLst/>
              <a:rect r="r" b="b" t="t" l="l"/>
              <a:pathLst>
                <a:path h="444983" w="3973519">
                  <a:moveTo>
                    <a:pt x="18624" y="0"/>
                  </a:moveTo>
                  <a:lnTo>
                    <a:pt x="3954895" y="0"/>
                  </a:lnTo>
                  <a:cubicBezTo>
                    <a:pt x="3959835" y="0"/>
                    <a:pt x="3964572" y="1962"/>
                    <a:pt x="3968064" y="5455"/>
                  </a:cubicBezTo>
                  <a:cubicBezTo>
                    <a:pt x="3971557" y="8948"/>
                    <a:pt x="3973519" y="13685"/>
                    <a:pt x="3973519" y="18624"/>
                  </a:cubicBezTo>
                  <a:lnTo>
                    <a:pt x="3973519" y="426359"/>
                  </a:lnTo>
                  <a:cubicBezTo>
                    <a:pt x="3973519" y="436644"/>
                    <a:pt x="3965181" y="444983"/>
                    <a:pt x="3954895" y="444983"/>
                  </a:cubicBezTo>
                  <a:lnTo>
                    <a:pt x="18624" y="444983"/>
                  </a:lnTo>
                  <a:cubicBezTo>
                    <a:pt x="8338" y="444983"/>
                    <a:pt x="0" y="436644"/>
                    <a:pt x="0" y="426359"/>
                  </a:cubicBezTo>
                  <a:lnTo>
                    <a:pt x="0" y="18624"/>
                  </a:lnTo>
                  <a:cubicBezTo>
                    <a:pt x="0" y="8338"/>
                    <a:pt x="8338" y="0"/>
                    <a:pt x="18624" y="0"/>
                  </a:cubicBezTo>
                  <a:close/>
                </a:path>
              </a:pathLst>
            </a:custGeom>
            <a:solidFill>
              <a:srgbClr val="1E3B50">
                <a:alpha val="65882"/>
              </a:srgbClr>
            </a:solidFill>
          </p:spPr>
        </p:sp>
        <p:sp>
          <p:nvSpPr>
            <p:cNvPr name="TextBox 26" id="26"/>
            <p:cNvSpPr txBox="true"/>
            <p:nvPr/>
          </p:nvSpPr>
          <p:spPr>
            <a:xfrm>
              <a:off x="0" y="-47625"/>
              <a:ext cx="3973519" cy="492608"/>
            </a:xfrm>
            <a:prstGeom prst="rect">
              <a:avLst/>
            </a:prstGeom>
          </p:spPr>
          <p:txBody>
            <a:bodyPr anchor="ctr" rtlCol="false" tIns="50800" lIns="50800" bIns="50800" rIns="50800"/>
            <a:lstStyle/>
            <a:p>
              <a:pPr algn="ctr">
                <a:lnSpc>
                  <a:spcPts val="3640"/>
                </a:lnSpc>
              </a:pPr>
            </a:p>
          </p:txBody>
        </p:sp>
      </p:grpSp>
      <p:sp>
        <p:nvSpPr>
          <p:cNvPr name="TextBox 27" id="27"/>
          <p:cNvSpPr txBox="true"/>
          <p:nvPr/>
        </p:nvSpPr>
        <p:spPr>
          <a:xfrm rot="0">
            <a:off x="1028700" y="2575070"/>
            <a:ext cx="9780082" cy="6959912"/>
          </a:xfrm>
          <a:prstGeom prst="rect">
            <a:avLst/>
          </a:prstGeom>
        </p:spPr>
        <p:txBody>
          <a:bodyPr anchor="t" rtlCol="false" tIns="0" lIns="0" bIns="0" rIns="0">
            <a:spAutoFit/>
          </a:bodyPr>
          <a:lstStyle/>
          <a:p>
            <a:pPr algn="just">
              <a:lnSpc>
                <a:spcPts val="3499"/>
              </a:lnSpc>
            </a:pPr>
            <a:r>
              <a:rPr lang="en-US" sz="2499">
                <a:solidFill>
                  <a:srgbClr val="DCDDDD"/>
                </a:solidFill>
                <a:latin typeface="League Spartan"/>
                <a:ea typeface="League Spartan"/>
                <a:cs typeface="League Spartan"/>
                <a:sym typeface="League Spartan"/>
              </a:rPr>
              <a:t>It is a tabletop miniature wargame produced by </a:t>
            </a:r>
          </a:p>
          <a:p>
            <a:pPr algn="just">
              <a:lnSpc>
                <a:spcPts val="3499"/>
              </a:lnSpc>
            </a:pPr>
            <a:r>
              <a:rPr lang="en-US" sz="2499">
                <a:solidFill>
                  <a:srgbClr val="DCDDDD"/>
                </a:solidFill>
                <a:latin typeface="League Spartan"/>
                <a:ea typeface="League Spartan"/>
                <a:cs typeface="League Spartan"/>
                <a:sym typeface="League Spartan"/>
              </a:rPr>
              <a:t>Game Workshop where players command armies </a:t>
            </a:r>
          </a:p>
          <a:p>
            <a:pPr algn="just">
              <a:lnSpc>
                <a:spcPts val="3499"/>
              </a:lnSpc>
            </a:pPr>
            <a:r>
              <a:rPr lang="en-US" sz="2499">
                <a:solidFill>
                  <a:srgbClr val="DCDDDD"/>
                </a:solidFill>
                <a:latin typeface="League Spartan"/>
                <a:ea typeface="League Spartan"/>
                <a:cs typeface="League Spartan"/>
                <a:sym typeface="League Spartan"/>
              </a:rPr>
              <a:t>of intricately detailed plastic miniaturea in tactical </a:t>
            </a:r>
          </a:p>
          <a:p>
            <a:pPr algn="just">
              <a:lnSpc>
                <a:spcPts val="3499"/>
              </a:lnSpc>
            </a:pPr>
            <a:r>
              <a:rPr lang="en-US" sz="2499">
                <a:solidFill>
                  <a:srgbClr val="DCDDDD"/>
                </a:solidFill>
                <a:latin typeface="League Spartan"/>
                <a:ea typeface="League Spartan"/>
                <a:cs typeface="League Spartan"/>
                <a:sym typeface="League Spartan"/>
              </a:rPr>
              <a:t>sci-fi battles.</a:t>
            </a:r>
          </a:p>
          <a:p>
            <a:pPr algn="just">
              <a:lnSpc>
                <a:spcPts val="3499"/>
              </a:lnSpc>
            </a:pPr>
          </a:p>
          <a:p>
            <a:pPr algn="just">
              <a:lnSpc>
                <a:spcPts val="3499"/>
              </a:lnSpc>
            </a:pPr>
            <a:r>
              <a:rPr lang="en-US" sz="2499">
                <a:solidFill>
                  <a:srgbClr val="DCDDDD"/>
                </a:solidFill>
                <a:latin typeface="League Spartan"/>
                <a:ea typeface="League Spartan"/>
                <a:cs typeface="League Spartan"/>
                <a:sym typeface="League Spartan"/>
              </a:rPr>
              <a:t>How to build an army:</a:t>
            </a:r>
          </a:p>
          <a:p>
            <a:pPr algn="just" marL="539749" indent="-269875" lvl="1">
              <a:lnSpc>
                <a:spcPts val="3499"/>
              </a:lnSpc>
              <a:buFont typeface="Arial"/>
              <a:buChar char="•"/>
            </a:pPr>
            <a:r>
              <a:rPr lang="en-US" sz="2499">
                <a:solidFill>
                  <a:srgbClr val="DCDDDD"/>
                </a:solidFill>
                <a:latin typeface="League Spartan"/>
                <a:ea typeface="League Spartan"/>
                <a:cs typeface="League Spartan"/>
                <a:sym typeface="League Spartan"/>
              </a:rPr>
              <a:t>Faction</a:t>
            </a:r>
          </a:p>
          <a:p>
            <a:pPr algn="just" marL="539749" indent="-269875" lvl="1">
              <a:lnSpc>
                <a:spcPts val="3499"/>
              </a:lnSpc>
              <a:buFont typeface="Arial"/>
              <a:buChar char="•"/>
            </a:pPr>
            <a:r>
              <a:rPr lang="en-US" sz="2499">
                <a:solidFill>
                  <a:srgbClr val="DCDDDD"/>
                </a:solidFill>
                <a:latin typeface="League Spartan"/>
                <a:ea typeface="League Spartan"/>
                <a:cs typeface="League Spartan"/>
                <a:sym typeface="League Spartan"/>
              </a:rPr>
              <a:t>Detachment</a:t>
            </a:r>
          </a:p>
          <a:p>
            <a:pPr algn="just" marL="539749" indent="-269875" lvl="1">
              <a:lnSpc>
                <a:spcPts val="3499"/>
              </a:lnSpc>
              <a:buFont typeface="Arial"/>
              <a:buChar char="•"/>
            </a:pPr>
            <a:r>
              <a:rPr lang="en-US" sz="2499">
                <a:solidFill>
                  <a:srgbClr val="DCDDDD"/>
                </a:solidFill>
                <a:latin typeface="League Spartan"/>
                <a:ea typeface="League Spartan"/>
                <a:cs typeface="League Spartan"/>
                <a:sym typeface="League Spartan"/>
              </a:rPr>
              <a:t>Units</a:t>
            </a:r>
          </a:p>
          <a:p>
            <a:pPr algn="just" marL="539749" indent="-269875" lvl="1">
              <a:lnSpc>
                <a:spcPts val="3499"/>
              </a:lnSpc>
              <a:buFont typeface="Arial"/>
              <a:buChar char="•"/>
            </a:pPr>
            <a:r>
              <a:rPr lang="en-US" sz="2499">
                <a:solidFill>
                  <a:srgbClr val="DCDDDD"/>
                </a:solidFill>
                <a:latin typeface="League Spartan"/>
                <a:ea typeface="League Spartan"/>
                <a:cs typeface="League Spartan"/>
                <a:sym typeface="League Spartan"/>
              </a:rPr>
              <a:t>Enhancements</a:t>
            </a:r>
          </a:p>
          <a:p>
            <a:pPr algn="just" marL="539749" indent="-269875" lvl="1">
              <a:lnSpc>
                <a:spcPts val="3499"/>
              </a:lnSpc>
              <a:buFont typeface="Arial"/>
              <a:buChar char="•"/>
            </a:pPr>
            <a:r>
              <a:rPr lang="en-US" sz="2499">
                <a:solidFill>
                  <a:srgbClr val="DCDDDD"/>
                </a:solidFill>
                <a:latin typeface="League Spartan"/>
                <a:ea typeface="League Spartan"/>
                <a:cs typeface="League Spartan"/>
                <a:sym typeface="League Spartan"/>
              </a:rPr>
              <a:t>Warlord</a:t>
            </a:r>
          </a:p>
          <a:p>
            <a:pPr algn="just">
              <a:lnSpc>
                <a:spcPts val="3499"/>
              </a:lnSpc>
            </a:pPr>
          </a:p>
          <a:p>
            <a:pPr algn="just">
              <a:lnSpc>
                <a:spcPts val="3499"/>
              </a:lnSpc>
            </a:pPr>
            <a:r>
              <a:rPr lang="en-US" sz="2499">
                <a:solidFill>
                  <a:srgbClr val="DCDDDD"/>
                </a:solidFill>
                <a:latin typeface="League Spartan"/>
                <a:ea typeface="League Spartan"/>
                <a:cs typeface="League Spartan"/>
                <a:sym typeface="League Spartan"/>
              </a:rPr>
              <a:t>Tournament rule and how to to win a game:</a:t>
            </a:r>
          </a:p>
          <a:p>
            <a:pPr algn="just" marL="539749" indent="-269875" lvl="1">
              <a:lnSpc>
                <a:spcPts val="3499"/>
              </a:lnSpc>
              <a:buFont typeface="Arial"/>
              <a:buChar char="•"/>
            </a:pPr>
            <a:r>
              <a:rPr lang="en-US" sz="2499">
                <a:solidFill>
                  <a:srgbClr val="DCDDDD"/>
                </a:solidFill>
                <a:latin typeface="League Spartan"/>
                <a:ea typeface="League Spartan"/>
                <a:cs typeface="League Spartan"/>
                <a:sym typeface="League Spartan"/>
              </a:rPr>
              <a:t>Victory points</a:t>
            </a:r>
          </a:p>
          <a:p>
            <a:pPr algn="just" marL="539749" indent="-269875" lvl="1">
              <a:lnSpc>
                <a:spcPts val="3499"/>
              </a:lnSpc>
              <a:buFont typeface="Arial"/>
              <a:buChar char="•"/>
            </a:pPr>
            <a:r>
              <a:rPr lang="en-US" sz="2499">
                <a:solidFill>
                  <a:srgbClr val="DCDDDD"/>
                </a:solidFill>
                <a:latin typeface="League Spartan"/>
                <a:ea typeface="League Spartan"/>
                <a:cs typeface="League Spartan"/>
                <a:sym typeface="League Spartan"/>
              </a:rPr>
              <a:t>Path to victory</a:t>
            </a:r>
          </a:p>
          <a:p>
            <a:pPr algn="just">
              <a:lnSpc>
                <a:spcPts val="3173"/>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24A5B"/>
        </a:solidFill>
      </p:bgPr>
    </p:bg>
    <p:spTree>
      <p:nvGrpSpPr>
        <p:cNvPr id="1" name=""/>
        <p:cNvGrpSpPr/>
        <p:nvPr/>
      </p:nvGrpSpPr>
      <p:grpSpPr>
        <a:xfrm>
          <a:off x="0" y="0"/>
          <a:ext cx="0" cy="0"/>
          <a:chOff x="0" y="0"/>
          <a:chExt cx="0" cy="0"/>
        </a:xfrm>
      </p:grpSpPr>
      <p:sp>
        <p:nvSpPr>
          <p:cNvPr name="Freeform 2" id="2"/>
          <p:cNvSpPr/>
          <p:nvPr/>
        </p:nvSpPr>
        <p:spPr>
          <a:xfrm flipH="false" flipV="false" rot="0">
            <a:off x="0" y="-667728"/>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39000"/>
            </a:blip>
            <a:stretch>
              <a:fillRect l="0" t="0" r="0" b="0"/>
            </a:stretch>
          </a:blipFill>
        </p:spPr>
      </p:sp>
      <p:sp>
        <p:nvSpPr>
          <p:cNvPr name="AutoShape 3" id="3"/>
          <p:cNvSpPr/>
          <p:nvPr/>
        </p:nvSpPr>
        <p:spPr>
          <a:xfrm>
            <a:off x="1028700" y="2080900"/>
            <a:ext cx="8193037" cy="0"/>
          </a:xfrm>
          <a:prstGeom prst="line">
            <a:avLst/>
          </a:prstGeom>
          <a:ln cap="flat" w="38100">
            <a:solidFill>
              <a:srgbClr val="DCDDDD"/>
            </a:solidFill>
            <a:prstDash val="solid"/>
            <a:headEnd type="none" len="sm" w="sm"/>
            <a:tailEnd type="none" len="sm" w="sm"/>
          </a:ln>
        </p:spPr>
      </p:sp>
      <p:grpSp>
        <p:nvGrpSpPr>
          <p:cNvPr name="Group 4" id="4"/>
          <p:cNvGrpSpPr/>
          <p:nvPr/>
        </p:nvGrpSpPr>
        <p:grpSpPr>
          <a:xfrm rot="0">
            <a:off x="8065820" y="2613406"/>
            <a:ext cx="9440549" cy="6445171"/>
            <a:chOff x="0" y="0"/>
            <a:chExt cx="2654138" cy="1812010"/>
          </a:xfrm>
        </p:grpSpPr>
        <p:sp>
          <p:nvSpPr>
            <p:cNvPr name="Freeform 5" id="5"/>
            <p:cNvSpPr/>
            <p:nvPr/>
          </p:nvSpPr>
          <p:spPr>
            <a:xfrm flipH="false" flipV="false" rot="0">
              <a:off x="0" y="0"/>
              <a:ext cx="2654138" cy="1812010"/>
            </a:xfrm>
            <a:custGeom>
              <a:avLst/>
              <a:gdLst/>
              <a:ahLst/>
              <a:cxnLst/>
              <a:rect r="r" b="b" t="t" l="l"/>
              <a:pathLst>
                <a:path h="1812010" w="2654138">
                  <a:moveTo>
                    <a:pt x="27882" y="0"/>
                  </a:moveTo>
                  <a:lnTo>
                    <a:pt x="2626256" y="0"/>
                  </a:lnTo>
                  <a:cubicBezTo>
                    <a:pt x="2641655" y="0"/>
                    <a:pt x="2654138" y="12483"/>
                    <a:pt x="2654138" y="27882"/>
                  </a:cubicBezTo>
                  <a:lnTo>
                    <a:pt x="2654138" y="1784128"/>
                  </a:lnTo>
                  <a:cubicBezTo>
                    <a:pt x="2654138" y="1791523"/>
                    <a:pt x="2651200" y="1798615"/>
                    <a:pt x="2645971" y="1803844"/>
                  </a:cubicBezTo>
                  <a:cubicBezTo>
                    <a:pt x="2640742" y="1809073"/>
                    <a:pt x="2633650" y="1812010"/>
                    <a:pt x="2626256" y="1812010"/>
                  </a:cubicBezTo>
                  <a:lnTo>
                    <a:pt x="27882" y="1812010"/>
                  </a:lnTo>
                  <a:cubicBezTo>
                    <a:pt x="12483" y="1812010"/>
                    <a:pt x="0" y="1799527"/>
                    <a:pt x="0" y="1784128"/>
                  </a:cubicBezTo>
                  <a:lnTo>
                    <a:pt x="0" y="27882"/>
                  </a:lnTo>
                  <a:cubicBezTo>
                    <a:pt x="0" y="12483"/>
                    <a:pt x="12483" y="0"/>
                    <a:pt x="27882" y="0"/>
                  </a:cubicBezTo>
                  <a:close/>
                </a:path>
              </a:pathLst>
            </a:custGeom>
            <a:solidFill>
              <a:srgbClr val="1E3B50">
                <a:alpha val="65882"/>
              </a:srgbClr>
            </a:solidFill>
          </p:spPr>
        </p:sp>
        <p:sp>
          <p:nvSpPr>
            <p:cNvPr name="TextBox 6" id="6"/>
            <p:cNvSpPr txBox="true"/>
            <p:nvPr/>
          </p:nvSpPr>
          <p:spPr>
            <a:xfrm>
              <a:off x="0" y="-47625"/>
              <a:ext cx="2654138" cy="1859635"/>
            </a:xfrm>
            <a:prstGeom prst="rect">
              <a:avLst/>
            </a:prstGeom>
          </p:spPr>
          <p:txBody>
            <a:bodyPr anchor="ctr" rtlCol="false" tIns="50800" lIns="50800" bIns="50800" rIns="50800"/>
            <a:lstStyle/>
            <a:p>
              <a:pPr algn="ctr">
                <a:lnSpc>
                  <a:spcPts val="3640"/>
                </a:lnSpc>
              </a:pPr>
            </a:p>
          </p:txBody>
        </p:sp>
      </p:grpSp>
      <p:grpSp>
        <p:nvGrpSpPr>
          <p:cNvPr name="Group 7" id="7"/>
          <p:cNvGrpSpPr/>
          <p:nvPr/>
        </p:nvGrpSpPr>
        <p:grpSpPr>
          <a:xfrm rot="0">
            <a:off x="8488562" y="6555675"/>
            <a:ext cx="2345804" cy="856049"/>
            <a:chOff x="0" y="0"/>
            <a:chExt cx="522616" cy="190717"/>
          </a:xfrm>
        </p:grpSpPr>
        <p:sp>
          <p:nvSpPr>
            <p:cNvPr name="Freeform 8" id="8"/>
            <p:cNvSpPr/>
            <p:nvPr/>
          </p:nvSpPr>
          <p:spPr>
            <a:xfrm flipH="false" flipV="false" rot="0">
              <a:off x="0" y="0"/>
              <a:ext cx="522616" cy="190717"/>
            </a:xfrm>
            <a:custGeom>
              <a:avLst/>
              <a:gdLst/>
              <a:ahLst/>
              <a:cxnLst/>
              <a:rect r="r" b="b" t="t" l="l"/>
              <a:pathLst>
                <a:path h="190717" w="522616">
                  <a:moveTo>
                    <a:pt x="64460" y="0"/>
                  </a:moveTo>
                  <a:lnTo>
                    <a:pt x="458156" y="0"/>
                  </a:lnTo>
                  <a:cubicBezTo>
                    <a:pt x="475252" y="0"/>
                    <a:pt x="491648" y="6791"/>
                    <a:pt x="503736" y="18880"/>
                  </a:cubicBezTo>
                  <a:cubicBezTo>
                    <a:pt x="515825" y="30968"/>
                    <a:pt x="522616" y="47364"/>
                    <a:pt x="522616" y="64460"/>
                  </a:cubicBezTo>
                  <a:lnTo>
                    <a:pt x="522616" y="126258"/>
                  </a:lnTo>
                  <a:cubicBezTo>
                    <a:pt x="522616" y="143353"/>
                    <a:pt x="515825" y="159749"/>
                    <a:pt x="503736" y="171837"/>
                  </a:cubicBezTo>
                  <a:cubicBezTo>
                    <a:pt x="491648" y="183926"/>
                    <a:pt x="475252" y="190717"/>
                    <a:pt x="458156" y="190717"/>
                  </a:cubicBezTo>
                  <a:lnTo>
                    <a:pt x="64460" y="190717"/>
                  </a:lnTo>
                  <a:cubicBezTo>
                    <a:pt x="47364" y="190717"/>
                    <a:pt x="30968" y="183926"/>
                    <a:pt x="18880" y="171837"/>
                  </a:cubicBezTo>
                  <a:cubicBezTo>
                    <a:pt x="6791" y="159749"/>
                    <a:pt x="0" y="143353"/>
                    <a:pt x="0" y="126258"/>
                  </a:cubicBezTo>
                  <a:lnTo>
                    <a:pt x="0" y="64460"/>
                  </a:lnTo>
                  <a:cubicBezTo>
                    <a:pt x="0" y="47364"/>
                    <a:pt x="6791" y="30968"/>
                    <a:pt x="18880" y="18880"/>
                  </a:cubicBezTo>
                  <a:cubicBezTo>
                    <a:pt x="30968" y="6791"/>
                    <a:pt x="47364" y="0"/>
                    <a:pt x="64460" y="0"/>
                  </a:cubicBezTo>
                  <a:close/>
                </a:path>
              </a:pathLst>
            </a:custGeom>
            <a:ln w="38100" cap="rnd">
              <a:solidFill>
                <a:srgbClr val="DCDDDD"/>
              </a:solidFill>
              <a:prstDash val="solid"/>
              <a:round/>
            </a:ln>
          </p:spPr>
        </p:sp>
        <p:sp>
          <p:nvSpPr>
            <p:cNvPr name="TextBox 9" id="9"/>
            <p:cNvSpPr txBox="true"/>
            <p:nvPr/>
          </p:nvSpPr>
          <p:spPr>
            <a:xfrm>
              <a:off x="0" y="-47625"/>
              <a:ext cx="522616" cy="238342"/>
            </a:xfrm>
            <a:prstGeom prst="rect">
              <a:avLst/>
            </a:prstGeom>
          </p:spPr>
          <p:txBody>
            <a:bodyPr anchor="ctr" rtlCol="false" tIns="38980" lIns="38980" bIns="38980" rIns="38980"/>
            <a:lstStyle/>
            <a:p>
              <a:pPr algn="ctr">
                <a:lnSpc>
                  <a:spcPts val="3640"/>
                </a:lnSpc>
              </a:pPr>
              <a:r>
                <a:rPr lang="en-US" sz="2600">
                  <a:solidFill>
                    <a:srgbClr val="FFFFFF"/>
                  </a:solidFill>
                  <a:latin typeface="Opun"/>
                  <a:ea typeface="Opun"/>
                  <a:cs typeface="Opun"/>
                  <a:sym typeface="Opun"/>
                </a:rPr>
                <a:t>validator</a:t>
              </a:r>
            </a:p>
          </p:txBody>
        </p:sp>
      </p:grpSp>
      <p:grpSp>
        <p:nvGrpSpPr>
          <p:cNvPr name="Group 10" id="10"/>
          <p:cNvGrpSpPr/>
          <p:nvPr/>
        </p:nvGrpSpPr>
        <p:grpSpPr>
          <a:xfrm rot="0">
            <a:off x="11056700" y="2973057"/>
            <a:ext cx="2850249" cy="856049"/>
            <a:chOff x="0" y="0"/>
            <a:chExt cx="635000" cy="190717"/>
          </a:xfrm>
        </p:grpSpPr>
        <p:sp>
          <p:nvSpPr>
            <p:cNvPr name="Freeform 11" id="11"/>
            <p:cNvSpPr/>
            <p:nvPr/>
          </p:nvSpPr>
          <p:spPr>
            <a:xfrm flipH="false" flipV="false" rot="0">
              <a:off x="0" y="0"/>
              <a:ext cx="635000" cy="190717"/>
            </a:xfrm>
            <a:custGeom>
              <a:avLst/>
              <a:gdLst/>
              <a:ahLst/>
              <a:cxnLst/>
              <a:rect r="r" b="b" t="t" l="l"/>
              <a:pathLst>
                <a:path h="190717" w="635000">
                  <a:moveTo>
                    <a:pt x="53051" y="0"/>
                  </a:moveTo>
                  <a:lnTo>
                    <a:pt x="581949" y="0"/>
                  </a:lnTo>
                  <a:cubicBezTo>
                    <a:pt x="611248" y="0"/>
                    <a:pt x="635000" y="23752"/>
                    <a:pt x="635000" y="53051"/>
                  </a:cubicBezTo>
                  <a:lnTo>
                    <a:pt x="635000" y="137666"/>
                  </a:lnTo>
                  <a:cubicBezTo>
                    <a:pt x="635000" y="151736"/>
                    <a:pt x="629411" y="165230"/>
                    <a:pt x="619462" y="175179"/>
                  </a:cubicBezTo>
                  <a:cubicBezTo>
                    <a:pt x="609513" y="185128"/>
                    <a:pt x="596019" y="190717"/>
                    <a:pt x="581949" y="190717"/>
                  </a:cubicBezTo>
                  <a:lnTo>
                    <a:pt x="53051" y="190717"/>
                  </a:lnTo>
                  <a:cubicBezTo>
                    <a:pt x="23752" y="190717"/>
                    <a:pt x="0" y="166965"/>
                    <a:pt x="0" y="137666"/>
                  </a:cubicBezTo>
                  <a:lnTo>
                    <a:pt x="0" y="53051"/>
                  </a:lnTo>
                  <a:cubicBezTo>
                    <a:pt x="0" y="23752"/>
                    <a:pt x="23752" y="0"/>
                    <a:pt x="53051" y="0"/>
                  </a:cubicBezTo>
                  <a:close/>
                </a:path>
              </a:pathLst>
            </a:custGeom>
            <a:ln w="38100" cap="rnd">
              <a:solidFill>
                <a:srgbClr val="DCDDDD"/>
              </a:solidFill>
              <a:prstDash val="solid"/>
              <a:round/>
            </a:ln>
          </p:spPr>
        </p:sp>
        <p:sp>
          <p:nvSpPr>
            <p:cNvPr name="TextBox 12" id="12"/>
            <p:cNvSpPr txBox="true"/>
            <p:nvPr/>
          </p:nvSpPr>
          <p:spPr>
            <a:xfrm>
              <a:off x="0" y="-47625"/>
              <a:ext cx="635000" cy="238342"/>
            </a:xfrm>
            <a:prstGeom prst="rect">
              <a:avLst/>
            </a:prstGeom>
          </p:spPr>
          <p:txBody>
            <a:bodyPr anchor="ctr" rtlCol="false" tIns="38980" lIns="38980" bIns="38980" rIns="38980"/>
            <a:lstStyle/>
            <a:p>
              <a:pPr algn="ctr">
                <a:lnSpc>
                  <a:spcPts val="3640"/>
                </a:lnSpc>
              </a:pPr>
              <a:r>
                <a:rPr lang="en-US" sz="2600">
                  <a:solidFill>
                    <a:srgbClr val="FFFFFF"/>
                  </a:solidFill>
                  <a:latin typeface="Opun"/>
                  <a:ea typeface="Opun"/>
                  <a:cs typeface="Opun"/>
                  <a:sym typeface="Opun"/>
                </a:rPr>
                <a:t>API_acquisition</a:t>
              </a:r>
            </a:p>
          </p:txBody>
        </p:sp>
      </p:grpSp>
      <p:grpSp>
        <p:nvGrpSpPr>
          <p:cNvPr name="Group 13" id="13"/>
          <p:cNvGrpSpPr/>
          <p:nvPr/>
        </p:nvGrpSpPr>
        <p:grpSpPr>
          <a:xfrm rot="0">
            <a:off x="11308923" y="7769498"/>
            <a:ext cx="2345804" cy="856049"/>
            <a:chOff x="0" y="0"/>
            <a:chExt cx="522616" cy="190717"/>
          </a:xfrm>
        </p:grpSpPr>
        <p:sp>
          <p:nvSpPr>
            <p:cNvPr name="Freeform 14" id="14"/>
            <p:cNvSpPr/>
            <p:nvPr/>
          </p:nvSpPr>
          <p:spPr>
            <a:xfrm flipH="false" flipV="false" rot="0">
              <a:off x="0" y="0"/>
              <a:ext cx="522616" cy="190717"/>
            </a:xfrm>
            <a:custGeom>
              <a:avLst/>
              <a:gdLst/>
              <a:ahLst/>
              <a:cxnLst/>
              <a:rect r="r" b="b" t="t" l="l"/>
              <a:pathLst>
                <a:path h="190717" w="522616">
                  <a:moveTo>
                    <a:pt x="64460" y="0"/>
                  </a:moveTo>
                  <a:lnTo>
                    <a:pt x="458156" y="0"/>
                  </a:lnTo>
                  <a:cubicBezTo>
                    <a:pt x="475252" y="0"/>
                    <a:pt x="491648" y="6791"/>
                    <a:pt x="503736" y="18880"/>
                  </a:cubicBezTo>
                  <a:cubicBezTo>
                    <a:pt x="515825" y="30968"/>
                    <a:pt x="522616" y="47364"/>
                    <a:pt x="522616" y="64460"/>
                  </a:cubicBezTo>
                  <a:lnTo>
                    <a:pt x="522616" y="126258"/>
                  </a:lnTo>
                  <a:cubicBezTo>
                    <a:pt x="522616" y="143353"/>
                    <a:pt x="515825" y="159749"/>
                    <a:pt x="503736" y="171837"/>
                  </a:cubicBezTo>
                  <a:cubicBezTo>
                    <a:pt x="491648" y="183926"/>
                    <a:pt x="475252" y="190717"/>
                    <a:pt x="458156" y="190717"/>
                  </a:cubicBezTo>
                  <a:lnTo>
                    <a:pt x="64460" y="190717"/>
                  </a:lnTo>
                  <a:cubicBezTo>
                    <a:pt x="47364" y="190717"/>
                    <a:pt x="30968" y="183926"/>
                    <a:pt x="18880" y="171837"/>
                  </a:cubicBezTo>
                  <a:cubicBezTo>
                    <a:pt x="6791" y="159749"/>
                    <a:pt x="0" y="143353"/>
                    <a:pt x="0" y="126258"/>
                  </a:cubicBezTo>
                  <a:lnTo>
                    <a:pt x="0" y="64460"/>
                  </a:lnTo>
                  <a:cubicBezTo>
                    <a:pt x="0" y="47364"/>
                    <a:pt x="6791" y="30968"/>
                    <a:pt x="18880" y="18880"/>
                  </a:cubicBezTo>
                  <a:cubicBezTo>
                    <a:pt x="30968" y="6791"/>
                    <a:pt x="47364" y="0"/>
                    <a:pt x="64460" y="0"/>
                  </a:cubicBezTo>
                  <a:close/>
                </a:path>
              </a:pathLst>
            </a:custGeom>
            <a:ln w="38100" cap="rnd">
              <a:solidFill>
                <a:srgbClr val="DCDDDD"/>
              </a:solidFill>
              <a:prstDash val="solid"/>
              <a:round/>
            </a:ln>
          </p:spPr>
        </p:sp>
        <p:sp>
          <p:nvSpPr>
            <p:cNvPr name="TextBox 15" id="15"/>
            <p:cNvSpPr txBox="true"/>
            <p:nvPr/>
          </p:nvSpPr>
          <p:spPr>
            <a:xfrm>
              <a:off x="0" y="-47625"/>
              <a:ext cx="522616" cy="238342"/>
            </a:xfrm>
            <a:prstGeom prst="rect">
              <a:avLst/>
            </a:prstGeom>
          </p:spPr>
          <p:txBody>
            <a:bodyPr anchor="ctr" rtlCol="false" tIns="38980" lIns="38980" bIns="38980" rIns="38980"/>
            <a:lstStyle/>
            <a:p>
              <a:pPr algn="ctr">
                <a:lnSpc>
                  <a:spcPts val="3640"/>
                </a:lnSpc>
              </a:pPr>
              <a:r>
                <a:rPr lang="en-US" sz="2600">
                  <a:solidFill>
                    <a:srgbClr val="FFFFFF"/>
                  </a:solidFill>
                  <a:latin typeface="Opun"/>
                  <a:ea typeface="Opun"/>
                  <a:cs typeface="Opun"/>
                  <a:sym typeface="Opun"/>
                </a:rPr>
                <a:t>merger</a:t>
              </a:r>
            </a:p>
          </p:txBody>
        </p:sp>
      </p:grpSp>
      <p:grpSp>
        <p:nvGrpSpPr>
          <p:cNvPr name="Group 16" id="16"/>
          <p:cNvGrpSpPr/>
          <p:nvPr/>
        </p:nvGrpSpPr>
        <p:grpSpPr>
          <a:xfrm rot="0">
            <a:off x="11308923" y="5373627"/>
            <a:ext cx="2345804" cy="856049"/>
            <a:chOff x="0" y="0"/>
            <a:chExt cx="522616" cy="190717"/>
          </a:xfrm>
        </p:grpSpPr>
        <p:sp>
          <p:nvSpPr>
            <p:cNvPr name="Freeform 17" id="17"/>
            <p:cNvSpPr/>
            <p:nvPr/>
          </p:nvSpPr>
          <p:spPr>
            <a:xfrm flipH="false" flipV="false" rot="0">
              <a:off x="0" y="0"/>
              <a:ext cx="522616" cy="190717"/>
            </a:xfrm>
            <a:custGeom>
              <a:avLst/>
              <a:gdLst/>
              <a:ahLst/>
              <a:cxnLst/>
              <a:rect r="r" b="b" t="t" l="l"/>
              <a:pathLst>
                <a:path h="190717" w="522616">
                  <a:moveTo>
                    <a:pt x="64460" y="0"/>
                  </a:moveTo>
                  <a:lnTo>
                    <a:pt x="458156" y="0"/>
                  </a:lnTo>
                  <a:cubicBezTo>
                    <a:pt x="475252" y="0"/>
                    <a:pt x="491648" y="6791"/>
                    <a:pt x="503736" y="18880"/>
                  </a:cubicBezTo>
                  <a:cubicBezTo>
                    <a:pt x="515825" y="30968"/>
                    <a:pt x="522616" y="47364"/>
                    <a:pt x="522616" y="64460"/>
                  </a:cubicBezTo>
                  <a:lnTo>
                    <a:pt x="522616" y="126258"/>
                  </a:lnTo>
                  <a:cubicBezTo>
                    <a:pt x="522616" y="143353"/>
                    <a:pt x="515825" y="159749"/>
                    <a:pt x="503736" y="171837"/>
                  </a:cubicBezTo>
                  <a:cubicBezTo>
                    <a:pt x="491648" y="183926"/>
                    <a:pt x="475252" y="190717"/>
                    <a:pt x="458156" y="190717"/>
                  </a:cubicBezTo>
                  <a:lnTo>
                    <a:pt x="64460" y="190717"/>
                  </a:lnTo>
                  <a:cubicBezTo>
                    <a:pt x="47364" y="190717"/>
                    <a:pt x="30968" y="183926"/>
                    <a:pt x="18880" y="171837"/>
                  </a:cubicBezTo>
                  <a:cubicBezTo>
                    <a:pt x="6791" y="159749"/>
                    <a:pt x="0" y="143353"/>
                    <a:pt x="0" y="126258"/>
                  </a:cubicBezTo>
                  <a:lnTo>
                    <a:pt x="0" y="64460"/>
                  </a:lnTo>
                  <a:cubicBezTo>
                    <a:pt x="0" y="47364"/>
                    <a:pt x="6791" y="30968"/>
                    <a:pt x="18880" y="18880"/>
                  </a:cubicBezTo>
                  <a:cubicBezTo>
                    <a:pt x="30968" y="6791"/>
                    <a:pt x="47364" y="0"/>
                    <a:pt x="64460" y="0"/>
                  </a:cubicBezTo>
                  <a:close/>
                </a:path>
              </a:pathLst>
            </a:custGeom>
            <a:ln w="38100" cap="rnd">
              <a:solidFill>
                <a:srgbClr val="DCDDDD"/>
              </a:solidFill>
              <a:prstDash val="solid"/>
              <a:round/>
            </a:ln>
          </p:spPr>
        </p:sp>
        <p:sp>
          <p:nvSpPr>
            <p:cNvPr name="TextBox 18" id="18"/>
            <p:cNvSpPr txBox="true"/>
            <p:nvPr/>
          </p:nvSpPr>
          <p:spPr>
            <a:xfrm>
              <a:off x="0" y="-47625"/>
              <a:ext cx="522616" cy="238342"/>
            </a:xfrm>
            <a:prstGeom prst="rect">
              <a:avLst/>
            </a:prstGeom>
          </p:spPr>
          <p:txBody>
            <a:bodyPr anchor="ctr" rtlCol="false" tIns="38980" lIns="38980" bIns="38980" rIns="38980"/>
            <a:lstStyle/>
            <a:p>
              <a:pPr algn="ctr">
                <a:lnSpc>
                  <a:spcPts val="3640"/>
                </a:lnSpc>
              </a:pPr>
              <a:r>
                <a:rPr lang="en-US" sz="2600">
                  <a:solidFill>
                    <a:srgbClr val="FFFFFF"/>
                  </a:solidFill>
                  <a:latin typeface="Opun"/>
                  <a:ea typeface="Opun"/>
                  <a:cs typeface="Opun"/>
                  <a:sym typeface="Opun"/>
                </a:rPr>
                <a:t>parsing</a:t>
              </a:r>
            </a:p>
          </p:txBody>
        </p:sp>
      </p:grpSp>
      <p:grpSp>
        <p:nvGrpSpPr>
          <p:cNvPr name="Group 19" id="19"/>
          <p:cNvGrpSpPr/>
          <p:nvPr/>
        </p:nvGrpSpPr>
        <p:grpSpPr>
          <a:xfrm rot="0">
            <a:off x="14222040" y="7659113"/>
            <a:ext cx="2850249" cy="856049"/>
            <a:chOff x="0" y="0"/>
            <a:chExt cx="812800" cy="244118"/>
          </a:xfrm>
        </p:grpSpPr>
        <p:sp>
          <p:nvSpPr>
            <p:cNvPr name="Freeform 20" id="20"/>
            <p:cNvSpPr/>
            <p:nvPr/>
          </p:nvSpPr>
          <p:spPr>
            <a:xfrm flipH="false" flipV="false" rot="0">
              <a:off x="0" y="0"/>
              <a:ext cx="812800" cy="244118"/>
            </a:xfrm>
            <a:custGeom>
              <a:avLst/>
              <a:gdLst/>
              <a:ahLst/>
              <a:cxnLst/>
              <a:rect r="r" b="b" t="t" l="l"/>
              <a:pathLst>
                <a:path h="244118" w="812800">
                  <a:moveTo>
                    <a:pt x="609600" y="0"/>
                  </a:moveTo>
                  <a:cubicBezTo>
                    <a:pt x="721824" y="0"/>
                    <a:pt x="812800" y="54648"/>
                    <a:pt x="812800" y="122059"/>
                  </a:cubicBezTo>
                  <a:cubicBezTo>
                    <a:pt x="812800" y="189470"/>
                    <a:pt x="721824" y="244118"/>
                    <a:pt x="609600" y="244118"/>
                  </a:cubicBezTo>
                  <a:lnTo>
                    <a:pt x="203200" y="244118"/>
                  </a:lnTo>
                  <a:cubicBezTo>
                    <a:pt x="90976" y="244118"/>
                    <a:pt x="0" y="189470"/>
                    <a:pt x="0" y="122059"/>
                  </a:cubicBezTo>
                  <a:cubicBezTo>
                    <a:pt x="0" y="54648"/>
                    <a:pt x="90976" y="0"/>
                    <a:pt x="203200" y="0"/>
                  </a:cubicBezTo>
                  <a:close/>
                </a:path>
              </a:pathLst>
            </a:custGeom>
            <a:ln w="38100" cap="sq">
              <a:solidFill>
                <a:srgbClr val="DCDDDD"/>
              </a:solidFill>
              <a:prstDash val="solid"/>
              <a:miter/>
            </a:ln>
          </p:spPr>
        </p:sp>
        <p:sp>
          <p:nvSpPr>
            <p:cNvPr name="TextBox 21" id="21"/>
            <p:cNvSpPr txBox="true"/>
            <p:nvPr/>
          </p:nvSpPr>
          <p:spPr>
            <a:xfrm>
              <a:off x="0" y="-47625"/>
              <a:ext cx="812800" cy="291743"/>
            </a:xfrm>
            <a:prstGeom prst="rect">
              <a:avLst/>
            </a:prstGeom>
          </p:spPr>
          <p:txBody>
            <a:bodyPr anchor="ctr" rtlCol="false" tIns="38980" lIns="38980" bIns="38980" rIns="38980"/>
            <a:lstStyle/>
            <a:p>
              <a:pPr algn="ctr">
                <a:lnSpc>
                  <a:spcPts val="3640"/>
                </a:lnSpc>
              </a:pPr>
              <a:r>
                <a:rPr lang="en-US" sz="2600">
                  <a:solidFill>
                    <a:srgbClr val="FFFFFF"/>
                  </a:solidFill>
                  <a:latin typeface="Opun"/>
                  <a:ea typeface="Opun"/>
                  <a:cs typeface="Opun"/>
                  <a:sym typeface="Opun"/>
                </a:rPr>
                <a:t>manual_lists.json</a:t>
              </a:r>
            </a:p>
          </p:txBody>
        </p:sp>
      </p:grpSp>
      <p:grpSp>
        <p:nvGrpSpPr>
          <p:cNvPr name="Group 22" id="22"/>
          <p:cNvGrpSpPr/>
          <p:nvPr/>
        </p:nvGrpSpPr>
        <p:grpSpPr>
          <a:xfrm rot="0">
            <a:off x="14408737" y="4494439"/>
            <a:ext cx="2445083" cy="2620268"/>
            <a:chOff x="0" y="0"/>
            <a:chExt cx="328845" cy="352406"/>
          </a:xfrm>
        </p:grpSpPr>
        <p:sp>
          <p:nvSpPr>
            <p:cNvPr name="Freeform 23" id="23"/>
            <p:cNvSpPr/>
            <p:nvPr/>
          </p:nvSpPr>
          <p:spPr>
            <a:xfrm flipH="false" flipV="false" rot="0">
              <a:off x="0" y="0"/>
              <a:ext cx="328845" cy="352406"/>
            </a:xfrm>
            <a:custGeom>
              <a:avLst/>
              <a:gdLst/>
              <a:ahLst/>
              <a:cxnLst/>
              <a:rect r="r" b="b" t="t" l="l"/>
              <a:pathLst>
                <a:path h="352406" w="328845">
                  <a:moveTo>
                    <a:pt x="61842" y="0"/>
                  </a:moveTo>
                  <a:lnTo>
                    <a:pt x="267003" y="0"/>
                  </a:lnTo>
                  <a:cubicBezTo>
                    <a:pt x="301157" y="0"/>
                    <a:pt x="328845" y="27688"/>
                    <a:pt x="328845" y="61842"/>
                  </a:cubicBezTo>
                  <a:lnTo>
                    <a:pt x="328845" y="290564"/>
                  </a:lnTo>
                  <a:cubicBezTo>
                    <a:pt x="328845" y="324719"/>
                    <a:pt x="301157" y="352406"/>
                    <a:pt x="267003" y="352406"/>
                  </a:cubicBezTo>
                  <a:lnTo>
                    <a:pt x="61842" y="352406"/>
                  </a:lnTo>
                  <a:cubicBezTo>
                    <a:pt x="27688" y="352406"/>
                    <a:pt x="0" y="324719"/>
                    <a:pt x="0" y="290564"/>
                  </a:cubicBezTo>
                  <a:lnTo>
                    <a:pt x="0" y="61842"/>
                  </a:lnTo>
                  <a:cubicBezTo>
                    <a:pt x="0" y="27688"/>
                    <a:pt x="27688" y="0"/>
                    <a:pt x="61842" y="0"/>
                  </a:cubicBezTo>
                  <a:close/>
                </a:path>
              </a:pathLst>
            </a:custGeom>
            <a:ln w="38100" cap="rnd">
              <a:solidFill>
                <a:srgbClr val="DCDDDD"/>
              </a:solidFill>
              <a:prstDash val="dash"/>
              <a:round/>
            </a:ln>
          </p:spPr>
        </p:sp>
        <p:sp>
          <p:nvSpPr>
            <p:cNvPr name="TextBox 24" id="24"/>
            <p:cNvSpPr txBox="true"/>
            <p:nvPr/>
          </p:nvSpPr>
          <p:spPr>
            <a:xfrm>
              <a:off x="0" y="-47625"/>
              <a:ext cx="328845" cy="400031"/>
            </a:xfrm>
            <a:prstGeom prst="rect">
              <a:avLst/>
            </a:prstGeom>
          </p:spPr>
          <p:txBody>
            <a:bodyPr anchor="ctr" rtlCol="false" tIns="38980" lIns="38980" bIns="38980" rIns="38980"/>
            <a:lstStyle/>
            <a:p>
              <a:pPr algn="ctr">
                <a:lnSpc>
                  <a:spcPts val="3640"/>
                </a:lnSpc>
              </a:pPr>
            </a:p>
          </p:txBody>
        </p:sp>
      </p:grpSp>
      <p:grpSp>
        <p:nvGrpSpPr>
          <p:cNvPr name="Group 25" id="25"/>
          <p:cNvGrpSpPr/>
          <p:nvPr/>
        </p:nvGrpSpPr>
        <p:grpSpPr>
          <a:xfrm rot="0">
            <a:off x="14687682" y="4667962"/>
            <a:ext cx="1918965" cy="856049"/>
            <a:chOff x="0" y="0"/>
            <a:chExt cx="427521" cy="190717"/>
          </a:xfrm>
        </p:grpSpPr>
        <p:sp>
          <p:nvSpPr>
            <p:cNvPr name="Freeform 26" id="26"/>
            <p:cNvSpPr/>
            <p:nvPr/>
          </p:nvSpPr>
          <p:spPr>
            <a:xfrm flipH="false" flipV="false" rot="0">
              <a:off x="0" y="0"/>
              <a:ext cx="427521" cy="190717"/>
            </a:xfrm>
            <a:custGeom>
              <a:avLst/>
              <a:gdLst/>
              <a:ahLst/>
              <a:cxnLst/>
              <a:rect r="r" b="b" t="t" l="l"/>
              <a:pathLst>
                <a:path h="190717" w="427521">
                  <a:moveTo>
                    <a:pt x="78797" y="0"/>
                  </a:moveTo>
                  <a:lnTo>
                    <a:pt x="348724" y="0"/>
                  </a:lnTo>
                  <a:cubicBezTo>
                    <a:pt x="369622" y="0"/>
                    <a:pt x="389665" y="8302"/>
                    <a:pt x="404442" y="23079"/>
                  </a:cubicBezTo>
                  <a:cubicBezTo>
                    <a:pt x="419220" y="37857"/>
                    <a:pt x="427521" y="57899"/>
                    <a:pt x="427521" y="78797"/>
                  </a:cubicBezTo>
                  <a:lnTo>
                    <a:pt x="427521" y="111920"/>
                  </a:lnTo>
                  <a:cubicBezTo>
                    <a:pt x="427521" y="155438"/>
                    <a:pt x="392243" y="190717"/>
                    <a:pt x="348724" y="190717"/>
                  </a:cubicBezTo>
                  <a:lnTo>
                    <a:pt x="78797" y="190717"/>
                  </a:lnTo>
                  <a:cubicBezTo>
                    <a:pt x="35279" y="190717"/>
                    <a:pt x="0" y="155438"/>
                    <a:pt x="0" y="111920"/>
                  </a:cubicBezTo>
                  <a:lnTo>
                    <a:pt x="0" y="78797"/>
                  </a:lnTo>
                  <a:cubicBezTo>
                    <a:pt x="0" y="35279"/>
                    <a:pt x="35279" y="0"/>
                    <a:pt x="78797" y="0"/>
                  </a:cubicBezTo>
                  <a:close/>
                </a:path>
              </a:pathLst>
            </a:custGeom>
            <a:ln w="38100" cap="rnd">
              <a:solidFill>
                <a:srgbClr val="DCDDDD"/>
              </a:solidFill>
              <a:prstDash val="solid"/>
              <a:round/>
            </a:ln>
          </p:spPr>
        </p:sp>
        <p:sp>
          <p:nvSpPr>
            <p:cNvPr name="TextBox 27" id="27"/>
            <p:cNvSpPr txBox="true"/>
            <p:nvPr/>
          </p:nvSpPr>
          <p:spPr>
            <a:xfrm>
              <a:off x="0" y="-47625"/>
              <a:ext cx="427521" cy="238342"/>
            </a:xfrm>
            <a:prstGeom prst="rect">
              <a:avLst/>
            </a:prstGeom>
          </p:spPr>
          <p:txBody>
            <a:bodyPr anchor="ctr" rtlCol="false" tIns="38980" lIns="38980" bIns="38980" rIns="38980"/>
            <a:lstStyle/>
            <a:p>
              <a:pPr algn="ctr">
                <a:lnSpc>
                  <a:spcPts val="3640"/>
                </a:lnSpc>
              </a:pPr>
              <a:r>
                <a:rPr lang="en-US" sz="2600">
                  <a:solidFill>
                    <a:srgbClr val="FFFFFF"/>
                  </a:solidFill>
                  <a:latin typeface="Opun"/>
                  <a:ea typeface="Opun"/>
                  <a:cs typeface="Opun"/>
                  <a:sym typeface="Opun"/>
                </a:rPr>
                <a:t>parser</a:t>
              </a:r>
            </a:p>
          </p:txBody>
        </p:sp>
      </p:grpSp>
      <p:grpSp>
        <p:nvGrpSpPr>
          <p:cNvPr name="Group 28" id="28"/>
          <p:cNvGrpSpPr/>
          <p:nvPr/>
        </p:nvGrpSpPr>
        <p:grpSpPr>
          <a:xfrm rot="0">
            <a:off x="14687682" y="6099076"/>
            <a:ext cx="1918965" cy="856049"/>
            <a:chOff x="0" y="0"/>
            <a:chExt cx="427521" cy="190717"/>
          </a:xfrm>
        </p:grpSpPr>
        <p:sp>
          <p:nvSpPr>
            <p:cNvPr name="Freeform 29" id="29"/>
            <p:cNvSpPr/>
            <p:nvPr/>
          </p:nvSpPr>
          <p:spPr>
            <a:xfrm flipH="false" flipV="false" rot="0">
              <a:off x="0" y="0"/>
              <a:ext cx="427521" cy="190717"/>
            </a:xfrm>
            <a:custGeom>
              <a:avLst/>
              <a:gdLst/>
              <a:ahLst/>
              <a:cxnLst/>
              <a:rect r="r" b="b" t="t" l="l"/>
              <a:pathLst>
                <a:path h="190717" w="427521">
                  <a:moveTo>
                    <a:pt x="78797" y="0"/>
                  </a:moveTo>
                  <a:lnTo>
                    <a:pt x="348724" y="0"/>
                  </a:lnTo>
                  <a:cubicBezTo>
                    <a:pt x="369622" y="0"/>
                    <a:pt x="389665" y="8302"/>
                    <a:pt x="404442" y="23079"/>
                  </a:cubicBezTo>
                  <a:cubicBezTo>
                    <a:pt x="419220" y="37857"/>
                    <a:pt x="427521" y="57899"/>
                    <a:pt x="427521" y="78797"/>
                  </a:cubicBezTo>
                  <a:lnTo>
                    <a:pt x="427521" y="111920"/>
                  </a:lnTo>
                  <a:cubicBezTo>
                    <a:pt x="427521" y="155438"/>
                    <a:pt x="392243" y="190717"/>
                    <a:pt x="348724" y="190717"/>
                  </a:cubicBezTo>
                  <a:lnTo>
                    <a:pt x="78797" y="190717"/>
                  </a:lnTo>
                  <a:cubicBezTo>
                    <a:pt x="35279" y="190717"/>
                    <a:pt x="0" y="155438"/>
                    <a:pt x="0" y="111920"/>
                  </a:cubicBezTo>
                  <a:lnTo>
                    <a:pt x="0" y="78797"/>
                  </a:lnTo>
                  <a:cubicBezTo>
                    <a:pt x="0" y="35279"/>
                    <a:pt x="35279" y="0"/>
                    <a:pt x="78797" y="0"/>
                  </a:cubicBezTo>
                  <a:close/>
                </a:path>
              </a:pathLst>
            </a:custGeom>
            <a:ln w="38100" cap="rnd">
              <a:solidFill>
                <a:srgbClr val="DCDDDD"/>
              </a:solidFill>
              <a:prstDash val="solid"/>
              <a:round/>
            </a:ln>
          </p:spPr>
        </p:sp>
        <p:sp>
          <p:nvSpPr>
            <p:cNvPr name="TextBox 30" id="30"/>
            <p:cNvSpPr txBox="true"/>
            <p:nvPr/>
          </p:nvSpPr>
          <p:spPr>
            <a:xfrm>
              <a:off x="0" y="-47625"/>
              <a:ext cx="427521" cy="238342"/>
            </a:xfrm>
            <a:prstGeom prst="rect">
              <a:avLst/>
            </a:prstGeom>
          </p:spPr>
          <p:txBody>
            <a:bodyPr anchor="ctr" rtlCol="false" tIns="38980" lIns="38980" bIns="38980" rIns="38980"/>
            <a:lstStyle/>
            <a:p>
              <a:pPr algn="ctr">
                <a:lnSpc>
                  <a:spcPts val="3640"/>
                </a:lnSpc>
              </a:pPr>
              <a:r>
                <a:rPr lang="en-US" sz="2600">
                  <a:solidFill>
                    <a:srgbClr val="FFFFFF"/>
                  </a:solidFill>
                  <a:latin typeface="Opun"/>
                  <a:ea typeface="Opun"/>
                  <a:cs typeface="Opun"/>
                  <a:sym typeface="Opun"/>
                </a:rPr>
                <a:t>reparser</a:t>
              </a:r>
            </a:p>
          </p:txBody>
        </p:sp>
      </p:grpSp>
      <p:grpSp>
        <p:nvGrpSpPr>
          <p:cNvPr name="Group 31" id="31"/>
          <p:cNvGrpSpPr/>
          <p:nvPr/>
        </p:nvGrpSpPr>
        <p:grpSpPr>
          <a:xfrm rot="0">
            <a:off x="15478334" y="7242894"/>
            <a:ext cx="337661" cy="337661"/>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DCDDDD"/>
            </a:solidFill>
            <a:ln cap="sq">
              <a:noFill/>
              <a:prstDash val="solid"/>
              <a:miter/>
            </a:ln>
          </p:spPr>
        </p:sp>
        <p:sp>
          <p:nvSpPr>
            <p:cNvPr name="TextBox 33" id="33"/>
            <p:cNvSpPr txBox="true"/>
            <p:nvPr/>
          </p:nvSpPr>
          <p:spPr>
            <a:xfrm>
              <a:off x="190500" y="142875"/>
              <a:ext cx="431800" cy="479425"/>
            </a:xfrm>
            <a:prstGeom prst="rect">
              <a:avLst/>
            </a:prstGeom>
          </p:spPr>
          <p:txBody>
            <a:bodyPr anchor="ctr" rtlCol="false" tIns="38980" lIns="38980" bIns="38980" rIns="38980"/>
            <a:lstStyle/>
            <a:p>
              <a:pPr algn="ctr">
                <a:lnSpc>
                  <a:spcPts val="3640"/>
                </a:lnSpc>
              </a:pPr>
            </a:p>
          </p:txBody>
        </p:sp>
      </p:grpSp>
      <p:sp>
        <p:nvSpPr>
          <p:cNvPr name="AutoShape 34" id="34"/>
          <p:cNvSpPr/>
          <p:nvPr/>
        </p:nvSpPr>
        <p:spPr>
          <a:xfrm flipV="true">
            <a:off x="13531768" y="4564648"/>
            <a:ext cx="949698" cy="825273"/>
          </a:xfrm>
          <a:prstGeom prst="line">
            <a:avLst/>
          </a:prstGeom>
          <a:ln cap="flat" w="38100">
            <a:solidFill>
              <a:srgbClr val="DCDDDD"/>
            </a:solidFill>
            <a:prstDash val="sysDash"/>
            <a:headEnd type="none" len="sm" w="sm"/>
            <a:tailEnd type="none" len="sm" w="sm"/>
          </a:ln>
        </p:spPr>
      </p:sp>
      <p:sp>
        <p:nvSpPr>
          <p:cNvPr name="AutoShape 35" id="35"/>
          <p:cNvSpPr/>
          <p:nvPr/>
        </p:nvSpPr>
        <p:spPr>
          <a:xfrm>
            <a:off x="13502523" y="6181351"/>
            <a:ext cx="975269" cy="859446"/>
          </a:xfrm>
          <a:prstGeom prst="line">
            <a:avLst/>
          </a:prstGeom>
          <a:ln cap="flat" w="38100">
            <a:solidFill>
              <a:srgbClr val="DCDDDD"/>
            </a:solidFill>
            <a:prstDash val="sysDash"/>
            <a:headEnd type="none" len="sm" w="sm"/>
            <a:tailEnd type="none" len="sm" w="sm"/>
          </a:ln>
        </p:spPr>
      </p:sp>
      <p:sp>
        <p:nvSpPr>
          <p:cNvPr name="TextBox 36" id="36"/>
          <p:cNvSpPr txBox="true"/>
          <p:nvPr/>
        </p:nvSpPr>
        <p:spPr>
          <a:xfrm rot="0">
            <a:off x="1028700" y="914400"/>
            <a:ext cx="8193037" cy="995700"/>
          </a:xfrm>
          <a:prstGeom prst="rect">
            <a:avLst/>
          </a:prstGeom>
        </p:spPr>
        <p:txBody>
          <a:bodyPr anchor="t" rtlCol="false" tIns="0" lIns="0" bIns="0" rIns="0">
            <a:spAutoFit/>
          </a:bodyPr>
          <a:lstStyle/>
          <a:p>
            <a:pPr algn="l">
              <a:lnSpc>
                <a:spcPts val="8119"/>
              </a:lnSpc>
              <a:spcBef>
                <a:spcPct val="0"/>
              </a:spcBef>
            </a:pPr>
            <a:r>
              <a:rPr lang="en-US" sz="5799">
                <a:solidFill>
                  <a:srgbClr val="DCDDDD"/>
                </a:solidFill>
                <a:latin typeface="Black Ops One"/>
                <a:ea typeface="Black Ops One"/>
                <a:cs typeface="Black Ops One"/>
                <a:sym typeface="Black Ops One"/>
              </a:rPr>
              <a:t>Datasets acquisition</a:t>
            </a:r>
          </a:p>
        </p:txBody>
      </p:sp>
      <p:sp>
        <p:nvSpPr>
          <p:cNvPr name="Freeform 37" id="37"/>
          <p:cNvSpPr/>
          <p:nvPr/>
        </p:nvSpPr>
        <p:spPr>
          <a:xfrm>
            <a:off x="12481825" y="3932852"/>
            <a:ext cx="0" cy="1367726"/>
          </a:xfrm>
          <a:custGeom>
            <a:avLst/>
            <a:gdLst/>
            <a:ahLst/>
            <a:cxnLst/>
            <a:rect r="r" b="b" t="t" l="l"/>
            <a:pathLst>
              <a:path h="1367726" w="0">
                <a:moveTo>
                  <a:pt x="0" y="0"/>
                </a:moveTo>
                <a:quadBezTo>
                  <a:pt x="0" y="559741"/>
                  <a:pt x="0" y="1367726"/>
                </a:quadBezTo>
              </a:path>
            </a:pathLst>
          </a:custGeom>
          <a:ln cap="rnd" w="66675">
            <a:solidFill>
              <a:srgbClr val="DCDDDD">
                <a:alpha val="88627"/>
              </a:srgbClr>
            </a:solidFill>
            <a:prstDash val="solid"/>
            <a:headEnd type="none" len="sm" w="sm"/>
            <a:tailEnd type="arrow" len="sm" w="med"/>
          </a:ln>
        </p:spPr>
      </p:sp>
      <p:sp>
        <p:nvSpPr>
          <p:cNvPr name="Freeform 38" id="38"/>
          <p:cNvSpPr/>
          <p:nvPr/>
        </p:nvSpPr>
        <p:spPr>
          <a:xfrm>
            <a:off x="10201292" y="5828023"/>
            <a:ext cx="949254" cy="615371"/>
          </a:xfrm>
          <a:custGeom>
            <a:avLst/>
            <a:gdLst/>
            <a:ahLst/>
            <a:cxnLst/>
            <a:rect r="r" b="b" t="t" l="l"/>
            <a:pathLst>
              <a:path h="615371" w="949254">
                <a:moveTo>
                  <a:pt x="949254" y="0"/>
                </a:moveTo>
                <a:quadBezTo>
                  <a:pt x="495854" y="63106"/>
                  <a:pt x="0" y="615371"/>
                </a:quadBezTo>
              </a:path>
            </a:pathLst>
          </a:custGeom>
          <a:ln cap="rnd" w="66675">
            <a:solidFill>
              <a:srgbClr val="DCDDDD">
                <a:alpha val="88627"/>
              </a:srgbClr>
            </a:solidFill>
            <a:prstDash val="solid"/>
            <a:headEnd type="none" len="sm" w="sm"/>
            <a:tailEnd type="arrow" len="sm" w="med"/>
          </a:ln>
        </p:spPr>
      </p:sp>
      <p:sp>
        <p:nvSpPr>
          <p:cNvPr name="Freeform 39" id="39"/>
          <p:cNvSpPr/>
          <p:nvPr/>
        </p:nvSpPr>
        <p:spPr>
          <a:xfrm>
            <a:off x="10201292" y="7542717"/>
            <a:ext cx="949254" cy="654806"/>
          </a:xfrm>
          <a:custGeom>
            <a:avLst/>
            <a:gdLst/>
            <a:ahLst/>
            <a:cxnLst/>
            <a:rect r="r" b="b" t="t" l="l"/>
            <a:pathLst>
              <a:path h="654806" w="949254">
                <a:moveTo>
                  <a:pt x="949254" y="654806"/>
                </a:moveTo>
                <a:quadBezTo>
                  <a:pt x="286829" y="599649"/>
                  <a:pt x="0" y="0"/>
                </a:quadBezTo>
              </a:path>
            </a:pathLst>
          </a:custGeom>
          <a:ln cap="rnd" w="66675">
            <a:solidFill>
              <a:srgbClr val="DCDDDD">
                <a:alpha val="88627"/>
              </a:srgbClr>
            </a:solidFill>
            <a:prstDash val="solid"/>
            <a:headEnd type="none" len="sm" w="sm"/>
            <a:tailEnd type="arrow" len="sm" w="med"/>
          </a:ln>
        </p:spPr>
      </p:sp>
      <p:sp>
        <p:nvSpPr>
          <p:cNvPr name="Freeform 40" id="40"/>
          <p:cNvSpPr/>
          <p:nvPr/>
        </p:nvSpPr>
        <p:spPr>
          <a:xfrm>
            <a:off x="10201292" y="5815310"/>
            <a:ext cx="949254" cy="628084"/>
          </a:xfrm>
          <a:custGeom>
            <a:avLst/>
            <a:gdLst/>
            <a:ahLst/>
            <a:cxnLst/>
            <a:rect r="r" b="b" t="t" l="l"/>
            <a:pathLst>
              <a:path h="628084" w="949254">
                <a:moveTo>
                  <a:pt x="0" y="628084"/>
                </a:moveTo>
                <a:quadBezTo>
                  <a:pt x="373602" y="161358"/>
                  <a:pt x="949254" y="0"/>
                </a:quadBezTo>
              </a:path>
            </a:pathLst>
          </a:custGeom>
          <a:ln cap="rnd" w="66675">
            <a:solidFill>
              <a:srgbClr val="DCDDDD">
                <a:alpha val="88627"/>
              </a:srgbClr>
            </a:solidFill>
            <a:prstDash val="solid"/>
            <a:headEnd type="none" len="sm" w="sm"/>
            <a:tailEnd type="arrow" len="sm" w="med"/>
          </a:ln>
        </p:spPr>
      </p:sp>
      <p:sp>
        <p:nvSpPr>
          <p:cNvPr name="Freeform 41" id="41"/>
          <p:cNvSpPr/>
          <p:nvPr/>
        </p:nvSpPr>
        <p:spPr>
          <a:xfrm>
            <a:off x="10201292" y="7571274"/>
            <a:ext cx="949254" cy="626556"/>
          </a:xfrm>
          <a:custGeom>
            <a:avLst/>
            <a:gdLst/>
            <a:ahLst/>
            <a:cxnLst/>
            <a:rect r="r" b="b" t="t" l="l"/>
            <a:pathLst>
              <a:path h="626556" w="949254">
                <a:moveTo>
                  <a:pt x="0" y="0"/>
                </a:moveTo>
                <a:quadBezTo>
                  <a:pt x="396152" y="640446"/>
                  <a:pt x="949254" y="626249"/>
                </a:quadBezTo>
              </a:path>
            </a:pathLst>
          </a:custGeom>
          <a:ln cap="rnd" w="66675">
            <a:solidFill>
              <a:srgbClr val="DCDDDD">
                <a:alpha val="88627"/>
              </a:srgbClr>
            </a:solidFill>
            <a:prstDash val="solid"/>
            <a:headEnd type="none" len="sm" w="sm"/>
            <a:tailEnd type="arrow" len="sm" w="med"/>
          </a:ln>
        </p:spPr>
      </p:sp>
      <p:sp>
        <p:nvSpPr>
          <p:cNvPr name="Freeform 42" id="42"/>
          <p:cNvSpPr/>
          <p:nvPr/>
        </p:nvSpPr>
        <p:spPr>
          <a:xfrm>
            <a:off x="15647164" y="5599506"/>
            <a:ext cx="0" cy="405201"/>
          </a:xfrm>
          <a:custGeom>
            <a:avLst/>
            <a:gdLst/>
            <a:ahLst/>
            <a:cxnLst/>
            <a:rect r="r" b="b" t="t" l="l"/>
            <a:pathLst>
              <a:path h="405201" w="0">
                <a:moveTo>
                  <a:pt x="0" y="0"/>
                </a:moveTo>
                <a:quadBezTo>
                  <a:pt x="0" y="57012"/>
                  <a:pt x="0" y="405201"/>
                </a:quadBezTo>
              </a:path>
            </a:pathLst>
          </a:custGeom>
          <a:ln cap="rnd" w="66675">
            <a:solidFill>
              <a:srgbClr val="DCDDDD">
                <a:alpha val="88627"/>
              </a:srgbClr>
            </a:solidFill>
            <a:prstDash val="solid"/>
            <a:headEnd type="none" len="sm" w="sm"/>
            <a:tailEnd type="arrow" len="sm" w="med"/>
          </a:ln>
        </p:spPr>
      </p:sp>
      <p:grpSp>
        <p:nvGrpSpPr>
          <p:cNvPr name="Group 43" id="43"/>
          <p:cNvGrpSpPr/>
          <p:nvPr/>
        </p:nvGrpSpPr>
        <p:grpSpPr>
          <a:xfrm rot="0">
            <a:off x="-9301841" y="6091954"/>
            <a:ext cx="16567706" cy="2966623"/>
            <a:chOff x="0" y="0"/>
            <a:chExt cx="4657884" cy="834043"/>
          </a:xfrm>
        </p:grpSpPr>
        <p:sp>
          <p:nvSpPr>
            <p:cNvPr name="Freeform 44" id="44"/>
            <p:cNvSpPr/>
            <p:nvPr/>
          </p:nvSpPr>
          <p:spPr>
            <a:xfrm flipH="false" flipV="false" rot="0">
              <a:off x="0" y="0"/>
              <a:ext cx="4657884" cy="834043"/>
            </a:xfrm>
            <a:custGeom>
              <a:avLst/>
              <a:gdLst/>
              <a:ahLst/>
              <a:cxnLst/>
              <a:rect r="r" b="b" t="t" l="l"/>
              <a:pathLst>
                <a:path h="834043" w="4657884">
                  <a:moveTo>
                    <a:pt x="15888" y="0"/>
                  </a:moveTo>
                  <a:lnTo>
                    <a:pt x="4641996" y="0"/>
                  </a:lnTo>
                  <a:cubicBezTo>
                    <a:pt x="4646209" y="0"/>
                    <a:pt x="4650251" y="1674"/>
                    <a:pt x="4653230" y="4653"/>
                  </a:cubicBezTo>
                  <a:cubicBezTo>
                    <a:pt x="4656210" y="7633"/>
                    <a:pt x="4657884" y="11674"/>
                    <a:pt x="4657884" y="15888"/>
                  </a:cubicBezTo>
                  <a:lnTo>
                    <a:pt x="4657884" y="818155"/>
                  </a:lnTo>
                  <a:cubicBezTo>
                    <a:pt x="4657884" y="826930"/>
                    <a:pt x="4650770" y="834043"/>
                    <a:pt x="4641996" y="834043"/>
                  </a:cubicBezTo>
                  <a:lnTo>
                    <a:pt x="15888" y="834043"/>
                  </a:lnTo>
                  <a:cubicBezTo>
                    <a:pt x="11674" y="834043"/>
                    <a:pt x="7633" y="832369"/>
                    <a:pt x="4653" y="829390"/>
                  </a:cubicBezTo>
                  <a:cubicBezTo>
                    <a:pt x="1674" y="826410"/>
                    <a:pt x="0" y="822369"/>
                    <a:pt x="0" y="818155"/>
                  </a:cubicBezTo>
                  <a:lnTo>
                    <a:pt x="0" y="15888"/>
                  </a:lnTo>
                  <a:cubicBezTo>
                    <a:pt x="0" y="11674"/>
                    <a:pt x="1674" y="7633"/>
                    <a:pt x="4653" y="4653"/>
                  </a:cubicBezTo>
                  <a:cubicBezTo>
                    <a:pt x="7633" y="1674"/>
                    <a:pt x="11674" y="0"/>
                    <a:pt x="15888" y="0"/>
                  </a:cubicBezTo>
                  <a:close/>
                </a:path>
              </a:pathLst>
            </a:custGeom>
            <a:solidFill>
              <a:srgbClr val="1E3B50">
                <a:alpha val="65882"/>
              </a:srgbClr>
            </a:solidFill>
          </p:spPr>
        </p:sp>
        <p:sp>
          <p:nvSpPr>
            <p:cNvPr name="TextBox 45" id="45"/>
            <p:cNvSpPr txBox="true"/>
            <p:nvPr/>
          </p:nvSpPr>
          <p:spPr>
            <a:xfrm>
              <a:off x="0" y="-47625"/>
              <a:ext cx="4657884" cy="881668"/>
            </a:xfrm>
            <a:prstGeom prst="rect">
              <a:avLst/>
            </a:prstGeom>
          </p:spPr>
          <p:txBody>
            <a:bodyPr anchor="ctr" rtlCol="false" tIns="50800" lIns="50800" bIns="50800" rIns="50800"/>
            <a:lstStyle/>
            <a:p>
              <a:pPr algn="ctr">
                <a:lnSpc>
                  <a:spcPts val="3640"/>
                </a:lnSpc>
              </a:pPr>
            </a:p>
          </p:txBody>
        </p:sp>
      </p:grpSp>
      <p:grpSp>
        <p:nvGrpSpPr>
          <p:cNvPr name="Group 46" id="46"/>
          <p:cNvGrpSpPr/>
          <p:nvPr/>
        </p:nvGrpSpPr>
        <p:grpSpPr>
          <a:xfrm rot="0">
            <a:off x="-9280167" y="2613406"/>
            <a:ext cx="16546033" cy="3188246"/>
            <a:chOff x="0" y="0"/>
            <a:chExt cx="4651790" cy="896351"/>
          </a:xfrm>
        </p:grpSpPr>
        <p:sp>
          <p:nvSpPr>
            <p:cNvPr name="Freeform 47" id="47"/>
            <p:cNvSpPr/>
            <p:nvPr/>
          </p:nvSpPr>
          <p:spPr>
            <a:xfrm flipH="false" flipV="false" rot="0">
              <a:off x="0" y="0"/>
              <a:ext cx="4651790" cy="896351"/>
            </a:xfrm>
            <a:custGeom>
              <a:avLst/>
              <a:gdLst/>
              <a:ahLst/>
              <a:cxnLst/>
              <a:rect r="r" b="b" t="t" l="l"/>
              <a:pathLst>
                <a:path h="896351" w="4651790">
                  <a:moveTo>
                    <a:pt x="15909" y="0"/>
                  </a:moveTo>
                  <a:lnTo>
                    <a:pt x="4635881" y="0"/>
                  </a:lnTo>
                  <a:cubicBezTo>
                    <a:pt x="4640100" y="0"/>
                    <a:pt x="4644147" y="1676"/>
                    <a:pt x="4647131" y="4660"/>
                  </a:cubicBezTo>
                  <a:cubicBezTo>
                    <a:pt x="4650114" y="7643"/>
                    <a:pt x="4651790" y="11689"/>
                    <a:pt x="4651790" y="15909"/>
                  </a:cubicBezTo>
                  <a:lnTo>
                    <a:pt x="4651790" y="880442"/>
                  </a:lnTo>
                  <a:cubicBezTo>
                    <a:pt x="4651790" y="884662"/>
                    <a:pt x="4650114" y="888708"/>
                    <a:pt x="4647131" y="891691"/>
                  </a:cubicBezTo>
                  <a:cubicBezTo>
                    <a:pt x="4644147" y="894675"/>
                    <a:pt x="4640100" y="896351"/>
                    <a:pt x="4635881" y="896351"/>
                  </a:cubicBezTo>
                  <a:lnTo>
                    <a:pt x="15909" y="896351"/>
                  </a:lnTo>
                  <a:cubicBezTo>
                    <a:pt x="11689" y="896351"/>
                    <a:pt x="7643" y="894675"/>
                    <a:pt x="4660" y="891691"/>
                  </a:cubicBezTo>
                  <a:cubicBezTo>
                    <a:pt x="1676" y="888708"/>
                    <a:pt x="0" y="884662"/>
                    <a:pt x="0" y="880442"/>
                  </a:cubicBezTo>
                  <a:lnTo>
                    <a:pt x="0" y="15909"/>
                  </a:lnTo>
                  <a:cubicBezTo>
                    <a:pt x="0" y="11689"/>
                    <a:pt x="1676" y="7643"/>
                    <a:pt x="4660" y="4660"/>
                  </a:cubicBezTo>
                  <a:cubicBezTo>
                    <a:pt x="7643" y="1676"/>
                    <a:pt x="11689" y="0"/>
                    <a:pt x="15909" y="0"/>
                  </a:cubicBezTo>
                  <a:close/>
                </a:path>
              </a:pathLst>
            </a:custGeom>
            <a:solidFill>
              <a:srgbClr val="1E3B50">
                <a:alpha val="65882"/>
              </a:srgbClr>
            </a:solidFill>
          </p:spPr>
        </p:sp>
        <p:sp>
          <p:nvSpPr>
            <p:cNvPr name="TextBox 48" id="48"/>
            <p:cNvSpPr txBox="true"/>
            <p:nvPr/>
          </p:nvSpPr>
          <p:spPr>
            <a:xfrm>
              <a:off x="0" y="-47625"/>
              <a:ext cx="4651790" cy="943976"/>
            </a:xfrm>
            <a:prstGeom prst="rect">
              <a:avLst/>
            </a:prstGeom>
          </p:spPr>
          <p:txBody>
            <a:bodyPr anchor="ctr" rtlCol="false" tIns="50800" lIns="50800" bIns="50800" rIns="50800"/>
            <a:lstStyle/>
            <a:p>
              <a:pPr algn="ctr">
                <a:lnSpc>
                  <a:spcPts val="3640"/>
                </a:lnSpc>
              </a:pPr>
            </a:p>
          </p:txBody>
        </p:sp>
      </p:grpSp>
      <p:sp>
        <p:nvSpPr>
          <p:cNvPr name="TextBox 49" id="49"/>
          <p:cNvSpPr txBox="true"/>
          <p:nvPr/>
        </p:nvSpPr>
        <p:spPr>
          <a:xfrm rot="0">
            <a:off x="1028700" y="2963939"/>
            <a:ext cx="6237165" cy="6118730"/>
          </a:xfrm>
          <a:prstGeom prst="rect">
            <a:avLst/>
          </a:prstGeom>
        </p:spPr>
        <p:txBody>
          <a:bodyPr anchor="t" rtlCol="false" tIns="0" lIns="0" bIns="0" rIns="0">
            <a:spAutoFit/>
          </a:bodyPr>
          <a:lstStyle/>
          <a:p>
            <a:pPr algn="l">
              <a:lnSpc>
                <a:spcPts val="3499"/>
              </a:lnSpc>
            </a:pPr>
            <a:r>
              <a:rPr lang="en-US" sz="2499">
                <a:solidFill>
                  <a:srgbClr val="DCDDDD"/>
                </a:solidFill>
                <a:latin typeface="League Spartan"/>
                <a:ea typeface="League Spartan"/>
                <a:cs typeface="League Spartan"/>
                <a:sym typeface="League Spartan"/>
              </a:rPr>
              <a:t>Tournament data: </a:t>
            </a:r>
          </a:p>
          <a:p>
            <a:pPr algn="l">
              <a:lnSpc>
                <a:spcPts val="3499"/>
              </a:lnSpc>
            </a:pPr>
          </a:p>
          <a:p>
            <a:pPr algn="l">
              <a:lnSpc>
                <a:spcPts val="3499"/>
              </a:lnSpc>
            </a:pPr>
            <a:r>
              <a:rPr lang="en-US" sz="2499">
                <a:solidFill>
                  <a:srgbClr val="DCDDDD"/>
                </a:solidFill>
                <a:latin typeface="League Spartan"/>
                <a:ea typeface="League Spartan"/>
                <a:cs typeface="League Spartan"/>
                <a:sym typeface="League Spartan"/>
              </a:rPr>
              <a:t>Extracted </a:t>
            </a:r>
            <a:r>
              <a:rPr lang="en-US" sz="2499">
                <a:solidFill>
                  <a:srgbClr val="DCDDDD"/>
                </a:solidFill>
                <a:latin typeface="League Spartan"/>
                <a:ea typeface="League Spartan"/>
                <a:cs typeface="League Spartan"/>
                <a:sym typeface="League Spartan"/>
              </a:rPr>
              <a:t>from an online repository using a REST API. We developed a custom Python pipeline that worked in four stages:</a:t>
            </a:r>
          </a:p>
          <a:p>
            <a:pPr algn="l">
              <a:lnSpc>
                <a:spcPts val="3499"/>
              </a:lnSpc>
            </a:pPr>
          </a:p>
          <a:p>
            <a:pPr algn="l">
              <a:lnSpc>
                <a:spcPts val="3499"/>
              </a:lnSpc>
            </a:pPr>
          </a:p>
          <a:p>
            <a:pPr algn="l">
              <a:lnSpc>
                <a:spcPts val="3499"/>
              </a:lnSpc>
            </a:pPr>
            <a:r>
              <a:rPr lang="en-US" sz="2499">
                <a:solidFill>
                  <a:srgbClr val="DCDDDD"/>
                </a:solidFill>
                <a:latin typeface="League Spartan"/>
                <a:ea typeface="League Spartan"/>
                <a:cs typeface="League Spartan"/>
                <a:sym typeface="League Spartan"/>
              </a:rPr>
              <a:t>Price dataset:</a:t>
            </a:r>
          </a:p>
          <a:p>
            <a:pPr algn="l">
              <a:lnSpc>
                <a:spcPts val="3499"/>
              </a:lnSpc>
            </a:pPr>
          </a:p>
          <a:p>
            <a:pPr algn="l">
              <a:lnSpc>
                <a:spcPts val="3499"/>
              </a:lnSpc>
            </a:pPr>
            <a:r>
              <a:rPr lang="en-US" sz="2499">
                <a:solidFill>
                  <a:srgbClr val="DCDDDD"/>
                </a:solidFill>
                <a:latin typeface="League Spartan"/>
                <a:ea typeface="League Spartan"/>
                <a:cs typeface="League Spartan"/>
                <a:sym typeface="League Spartan"/>
              </a:rPr>
              <a:t>Obtained through direct contact with Arsmanufactorea, an official retailer that provided their product catalog.</a:t>
            </a:r>
          </a:p>
          <a:p>
            <a:pPr algn="l">
              <a:lnSpc>
                <a:spcPts val="3499"/>
              </a:lnSpc>
            </a:pPr>
          </a:p>
        </p:txBody>
      </p:sp>
      <p:sp>
        <p:nvSpPr>
          <p:cNvPr name="Freeform 50" id="50"/>
          <p:cNvSpPr/>
          <p:nvPr/>
        </p:nvSpPr>
        <p:spPr>
          <a:xfrm>
            <a:off x="12481825" y="6315724"/>
            <a:ext cx="0" cy="1367726"/>
          </a:xfrm>
          <a:custGeom>
            <a:avLst/>
            <a:gdLst/>
            <a:ahLst/>
            <a:cxnLst/>
            <a:rect r="r" b="b" t="t" l="l"/>
            <a:pathLst>
              <a:path h="1367726" w="0">
                <a:moveTo>
                  <a:pt x="0" y="0"/>
                </a:moveTo>
                <a:quadBezTo>
                  <a:pt x="0" y="559742"/>
                  <a:pt x="0" y="1367727"/>
                </a:quadBezTo>
              </a:path>
            </a:pathLst>
          </a:custGeom>
          <a:ln cap="rnd" w="66675">
            <a:solidFill>
              <a:srgbClr val="DCDDDD">
                <a:alpha val="88627"/>
              </a:srgbClr>
            </a:solidFill>
            <a:prstDash val="solid"/>
            <a:headEnd type="none" len="sm" w="sm"/>
            <a:tailEnd type="arrow" len="sm" w="med"/>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24A5B"/>
        </a:solidFill>
      </p:bgPr>
    </p:bg>
    <p:spTree>
      <p:nvGrpSpPr>
        <p:cNvPr id="1" name=""/>
        <p:cNvGrpSpPr/>
        <p:nvPr/>
      </p:nvGrpSpPr>
      <p:grpSpPr>
        <a:xfrm>
          <a:off x="0" y="0"/>
          <a:ext cx="0" cy="0"/>
          <a:chOff x="0" y="0"/>
          <a:chExt cx="0" cy="0"/>
        </a:xfrm>
      </p:grpSpPr>
      <p:sp>
        <p:nvSpPr>
          <p:cNvPr name="Freeform 2" id="2"/>
          <p:cNvSpPr/>
          <p:nvPr/>
        </p:nvSpPr>
        <p:spPr>
          <a:xfrm flipH="false" flipV="false" rot="0">
            <a:off x="0" y="-667728"/>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39000"/>
            </a:blip>
            <a:stretch>
              <a:fillRect l="0" t="0" r="0" b="0"/>
            </a:stretch>
          </a:blipFill>
        </p:spPr>
      </p:sp>
      <p:grpSp>
        <p:nvGrpSpPr>
          <p:cNvPr name="Group 3" id="3"/>
          <p:cNvGrpSpPr/>
          <p:nvPr/>
        </p:nvGrpSpPr>
        <p:grpSpPr>
          <a:xfrm rot="0">
            <a:off x="9667036" y="2138570"/>
            <a:ext cx="6827078" cy="2505693"/>
            <a:chOff x="0" y="0"/>
            <a:chExt cx="1798078" cy="659936"/>
          </a:xfrm>
        </p:grpSpPr>
        <p:sp>
          <p:nvSpPr>
            <p:cNvPr name="Freeform 4" id="4"/>
            <p:cNvSpPr/>
            <p:nvPr/>
          </p:nvSpPr>
          <p:spPr>
            <a:xfrm flipH="false" flipV="false" rot="0">
              <a:off x="0" y="0"/>
              <a:ext cx="1798078" cy="659936"/>
            </a:xfrm>
            <a:custGeom>
              <a:avLst/>
              <a:gdLst/>
              <a:ahLst/>
              <a:cxnLst/>
              <a:rect r="r" b="b" t="t" l="l"/>
              <a:pathLst>
                <a:path h="659936" w="1798078">
                  <a:moveTo>
                    <a:pt x="0" y="0"/>
                  </a:moveTo>
                  <a:lnTo>
                    <a:pt x="1798078" y="0"/>
                  </a:lnTo>
                  <a:lnTo>
                    <a:pt x="1798078" y="659936"/>
                  </a:lnTo>
                  <a:lnTo>
                    <a:pt x="0" y="659936"/>
                  </a:lnTo>
                  <a:close/>
                </a:path>
              </a:pathLst>
            </a:custGeom>
            <a:solidFill>
              <a:srgbClr val="1E3B50">
                <a:alpha val="73725"/>
              </a:srgbClr>
            </a:solidFill>
          </p:spPr>
        </p:sp>
        <p:sp>
          <p:nvSpPr>
            <p:cNvPr name="TextBox 5" id="5"/>
            <p:cNvSpPr txBox="true"/>
            <p:nvPr/>
          </p:nvSpPr>
          <p:spPr>
            <a:xfrm>
              <a:off x="0" y="-47625"/>
              <a:ext cx="1798078" cy="707561"/>
            </a:xfrm>
            <a:prstGeom prst="rect">
              <a:avLst/>
            </a:prstGeom>
          </p:spPr>
          <p:txBody>
            <a:bodyPr anchor="ctr" rtlCol="false" tIns="50800" lIns="50800" bIns="50800" rIns="50800"/>
            <a:lstStyle/>
            <a:p>
              <a:pPr algn="ctr">
                <a:lnSpc>
                  <a:spcPts val="3640"/>
                </a:lnSpc>
              </a:pPr>
            </a:p>
          </p:txBody>
        </p:sp>
      </p:grpSp>
      <p:grpSp>
        <p:nvGrpSpPr>
          <p:cNvPr name="Group 6" id="6"/>
          <p:cNvGrpSpPr/>
          <p:nvPr/>
        </p:nvGrpSpPr>
        <p:grpSpPr>
          <a:xfrm rot="0">
            <a:off x="3670604" y="8792111"/>
            <a:ext cx="11398268" cy="1027696"/>
            <a:chOff x="0" y="0"/>
            <a:chExt cx="3002013" cy="270669"/>
          </a:xfrm>
        </p:grpSpPr>
        <p:sp>
          <p:nvSpPr>
            <p:cNvPr name="Freeform 7" id="7"/>
            <p:cNvSpPr/>
            <p:nvPr/>
          </p:nvSpPr>
          <p:spPr>
            <a:xfrm flipH="false" flipV="false" rot="0">
              <a:off x="0" y="0"/>
              <a:ext cx="3002013" cy="270669"/>
            </a:xfrm>
            <a:custGeom>
              <a:avLst/>
              <a:gdLst/>
              <a:ahLst/>
              <a:cxnLst/>
              <a:rect r="r" b="b" t="t" l="l"/>
              <a:pathLst>
                <a:path h="270669" w="3002013">
                  <a:moveTo>
                    <a:pt x="23093" y="0"/>
                  </a:moveTo>
                  <a:lnTo>
                    <a:pt x="2978920" y="0"/>
                  </a:lnTo>
                  <a:cubicBezTo>
                    <a:pt x="2985044" y="0"/>
                    <a:pt x="2990918" y="2433"/>
                    <a:pt x="2995249" y="6764"/>
                  </a:cubicBezTo>
                  <a:cubicBezTo>
                    <a:pt x="2999580" y="11095"/>
                    <a:pt x="3002013" y="16969"/>
                    <a:pt x="3002013" y="23093"/>
                  </a:cubicBezTo>
                  <a:lnTo>
                    <a:pt x="3002013" y="247575"/>
                  </a:lnTo>
                  <a:cubicBezTo>
                    <a:pt x="3002013" y="260330"/>
                    <a:pt x="2991674" y="270669"/>
                    <a:pt x="2978920" y="270669"/>
                  </a:cubicBezTo>
                  <a:lnTo>
                    <a:pt x="23093" y="270669"/>
                  </a:lnTo>
                  <a:cubicBezTo>
                    <a:pt x="10339" y="270669"/>
                    <a:pt x="0" y="260330"/>
                    <a:pt x="0" y="247575"/>
                  </a:cubicBezTo>
                  <a:lnTo>
                    <a:pt x="0" y="23093"/>
                  </a:lnTo>
                  <a:cubicBezTo>
                    <a:pt x="0" y="10339"/>
                    <a:pt x="10339" y="0"/>
                    <a:pt x="23093" y="0"/>
                  </a:cubicBezTo>
                  <a:close/>
                </a:path>
              </a:pathLst>
            </a:custGeom>
            <a:solidFill>
              <a:srgbClr val="1E3B50">
                <a:alpha val="73725"/>
              </a:srgbClr>
            </a:solidFill>
          </p:spPr>
        </p:sp>
        <p:sp>
          <p:nvSpPr>
            <p:cNvPr name="TextBox 8" id="8"/>
            <p:cNvSpPr txBox="true"/>
            <p:nvPr/>
          </p:nvSpPr>
          <p:spPr>
            <a:xfrm>
              <a:off x="0" y="-47625"/>
              <a:ext cx="3002013" cy="318294"/>
            </a:xfrm>
            <a:prstGeom prst="rect">
              <a:avLst/>
            </a:prstGeom>
          </p:spPr>
          <p:txBody>
            <a:bodyPr anchor="ctr" rtlCol="false" tIns="50800" lIns="50800" bIns="50800" rIns="50800"/>
            <a:lstStyle/>
            <a:p>
              <a:pPr algn="ctr">
                <a:lnSpc>
                  <a:spcPts val="3640"/>
                </a:lnSpc>
              </a:pPr>
            </a:p>
          </p:txBody>
        </p:sp>
      </p:grpSp>
      <p:sp>
        <p:nvSpPr>
          <p:cNvPr name="AutoShape 9" id="9"/>
          <p:cNvSpPr/>
          <p:nvPr/>
        </p:nvSpPr>
        <p:spPr>
          <a:xfrm flipV="true">
            <a:off x="5086350" y="1256594"/>
            <a:ext cx="8115300" cy="0"/>
          </a:xfrm>
          <a:prstGeom prst="line">
            <a:avLst/>
          </a:prstGeom>
          <a:ln cap="flat" w="38100">
            <a:solidFill>
              <a:srgbClr val="DCDDDD"/>
            </a:solidFill>
            <a:prstDash val="solid"/>
            <a:headEnd type="none" len="sm" w="sm"/>
            <a:tailEnd type="none" len="sm" w="sm"/>
          </a:ln>
        </p:spPr>
      </p:sp>
      <p:grpSp>
        <p:nvGrpSpPr>
          <p:cNvPr name="Group 10" id="10"/>
          <p:cNvGrpSpPr/>
          <p:nvPr/>
        </p:nvGrpSpPr>
        <p:grpSpPr>
          <a:xfrm rot="0">
            <a:off x="1269817" y="2138570"/>
            <a:ext cx="6643139" cy="5754141"/>
            <a:chOff x="0" y="0"/>
            <a:chExt cx="1749633" cy="1515494"/>
          </a:xfrm>
        </p:grpSpPr>
        <p:sp>
          <p:nvSpPr>
            <p:cNvPr name="Freeform 11" id="11"/>
            <p:cNvSpPr/>
            <p:nvPr/>
          </p:nvSpPr>
          <p:spPr>
            <a:xfrm flipH="false" flipV="false" rot="0">
              <a:off x="0" y="0"/>
              <a:ext cx="1749633" cy="1515494"/>
            </a:xfrm>
            <a:custGeom>
              <a:avLst/>
              <a:gdLst/>
              <a:ahLst/>
              <a:cxnLst/>
              <a:rect r="r" b="b" t="t" l="l"/>
              <a:pathLst>
                <a:path h="1515494" w="1749633">
                  <a:moveTo>
                    <a:pt x="0" y="0"/>
                  </a:moveTo>
                  <a:lnTo>
                    <a:pt x="1749633" y="0"/>
                  </a:lnTo>
                  <a:lnTo>
                    <a:pt x="1749633" y="1515494"/>
                  </a:lnTo>
                  <a:lnTo>
                    <a:pt x="0" y="1515494"/>
                  </a:lnTo>
                  <a:close/>
                </a:path>
              </a:pathLst>
            </a:custGeom>
            <a:solidFill>
              <a:srgbClr val="1E3B50">
                <a:alpha val="73725"/>
              </a:srgbClr>
            </a:solidFill>
          </p:spPr>
        </p:sp>
        <p:sp>
          <p:nvSpPr>
            <p:cNvPr name="TextBox 12" id="12"/>
            <p:cNvSpPr txBox="true"/>
            <p:nvPr/>
          </p:nvSpPr>
          <p:spPr>
            <a:xfrm>
              <a:off x="0" y="-47625"/>
              <a:ext cx="1749633" cy="1563119"/>
            </a:xfrm>
            <a:prstGeom prst="rect">
              <a:avLst/>
            </a:prstGeom>
          </p:spPr>
          <p:txBody>
            <a:bodyPr anchor="ctr" rtlCol="false" tIns="50800" lIns="50800" bIns="50800" rIns="50800"/>
            <a:lstStyle/>
            <a:p>
              <a:pPr algn="ctr">
                <a:lnSpc>
                  <a:spcPts val="3640"/>
                </a:lnSpc>
              </a:pPr>
            </a:p>
          </p:txBody>
        </p:sp>
      </p:grpSp>
      <p:sp>
        <p:nvSpPr>
          <p:cNvPr name="Freeform 13" id="13"/>
          <p:cNvSpPr/>
          <p:nvPr/>
        </p:nvSpPr>
        <p:spPr>
          <a:xfrm flipH="false" flipV="false" rot="0">
            <a:off x="1579313" y="2324534"/>
            <a:ext cx="6058233" cy="5340810"/>
          </a:xfrm>
          <a:custGeom>
            <a:avLst/>
            <a:gdLst/>
            <a:ahLst/>
            <a:cxnLst/>
            <a:rect r="r" b="b" t="t" l="l"/>
            <a:pathLst>
              <a:path h="5340810" w="6058233">
                <a:moveTo>
                  <a:pt x="0" y="0"/>
                </a:moveTo>
                <a:lnTo>
                  <a:pt x="6058233" y="0"/>
                </a:lnTo>
                <a:lnTo>
                  <a:pt x="6058233" y="5340810"/>
                </a:lnTo>
                <a:lnTo>
                  <a:pt x="0" y="5340810"/>
                </a:lnTo>
                <a:lnTo>
                  <a:pt x="0" y="0"/>
                </a:lnTo>
                <a:close/>
              </a:path>
            </a:pathLst>
          </a:custGeom>
          <a:blipFill>
            <a:blip r:embed="rId3"/>
            <a:stretch>
              <a:fillRect l="0" t="0" r="0" b="0"/>
            </a:stretch>
          </a:blipFill>
        </p:spPr>
      </p:sp>
      <p:sp>
        <p:nvSpPr>
          <p:cNvPr name="Freeform 14" id="14"/>
          <p:cNvSpPr/>
          <p:nvPr/>
        </p:nvSpPr>
        <p:spPr>
          <a:xfrm flipH="false" flipV="false" rot="0">
            <a:off x="1579313" y="5666772"/>
            <a:ext cx="821301" cy="1852013"/>
          </a:xfrm>
          <a:custGeom>
            <a:avLst/>
            <a:gdLst/>
            <a:ahLst/>
            <a:cxnLst/>
            <a:rect r="r" b="b" t="t" l="l"/>
            <a:pathLst>
              <a:path h="1852013" w="821301">
                <a:moveTo>
                  <a:pt x="0" y="0"/>
                </a:moveTo>
                <a:lnTo>
                  <a:pt x="821301" y="0"/>
                </a:lnTo>
                <a:lnTo>
                  <a:pt x="821301" y="1852013"/>
                </a:lnTo>
                <a:lnTo>
                  <a:pt x="0" y="1852013"/>
                </a:lnTo>
                <a:lnTo>
                  <a:pt x="0" y="0"/>
                </a:lnTo>
                <a:close/>
              </a:path>
            </a:pathLst>
          </a:custGeom>
          <a:blipFill>
            <a:blip r:embed="rId4"/>
            <a:stretch>
              <a:fillRect l="0" t="-4237" r="-410523" b="-48030"/>
            </a:stretch>
          </a:blipFill>
        </p:spPr>
      </p:sp>
      <p:sp>
        <p:nvSpPr>
          <p:cNvPr name="Freeform 15" id="15"/>
          <p:cNvSpPr/>
          <p:nvPr/>
        </p:nvSpPr>
        <p:spPr>
          <a:xfrm flipH="false" flipV="false" rot="0">
            <a:off x="2111834" y="5666772"/>
            <a:ext cx="454950" cy="1558257"/>
          </a:xfrm>
          <a:custGeom>
            <a:avLst/>
            <a:gdLst/>
            <a:ahLst/>
            <a:cxnLst/>
            <a:rect r="r" b="b" t="t" l="l"/>
            <a:pathLst>
              <a:path h="1558257" w="454950">
                <a:moveTo>
                  <a:pt x="0" y="0"/>
                </a:moveTo>
                <a:lnTo>
                  <a:pt x="454950" y="0"/>
                </a:lnTo>
                <a:lnTo>
                  <a:pt x="454950" y="1558257"/>
                </a:lnTo>
                <a:lnTo>
                  <a:pt x="0" y="1558257"/>
                </a:lnTo>
                <a:lnTo>
                  <a:pt x="0" y="0"/>
                </a:lnTo>
                <a:close/>
              </a:path>
            </a:pathLst>
          </a:custGeom>
          <a:blipFill>
            <a:blip r:embed="rId4"/>
            <a:stretch>
              <a:fillRect l="0" t="-8081" r="-821624" b="-72891"/>
            </a:stretch>
          </a:blipFill>
        </p:spPr>
      </p:sp>
      <p:grpSp>
        <p:nvGrpSpPr>
          <p:cNvPr name="Group 16" id="16"/>
          <p:cNvGrpSpPr/>
          <p:nvPr/>
        </p:nvGrpSpPr>
        <p:grpSpPr>
          <a:xfrm rot="0">
            <a:off x="1641852" y="1706717"/>
            <a:ext cx="5806528" cy="441858"/>
            <a:chOff x="0" y="0"/>
            <a:chExt cx="1529291" cy="116374"/>
          </a:xfrm>
        </p:grpSpPr>
        <p:sp>
          <p:nvSpPr>
            <p:cNvPr name="Freeform 17" id="17"/>
            <p:cNvSpPr/>
            <p:nvPr/>
          </p:nvSpPr>
          <p:spPr>
            <a:xfrm flipH="false" flipV="false" rot="0">
              <a:off x="0" y="0"/>
              <a:ext cx="1529291" cy="116374"/>
            </a:xfrm>
            <a:custGeom>
              <a:avLst/>
              <a:gdLst/>
              <a:ahLst/>
              <a:cxnLst/>
              <a:rect r="r" b="b" t="t" l="l"/>
              <a:pathLst>
                <a:path h="116374" w="1529291">
                  <a:moveTo>
                    <a:pt x="45333" y="0"/>
                  </a:moveTo>
                  <a:lnTo>
                    <a:pt x="1483959" y="0"/>
                  </a:lnTo>
                  <a:cubicBezTo>
                    <a:pt x="1508995" y="0"/>
                    <a:pt x="1529291" y="20296"/>
                    <a:pt x="1529291" y="45333"/>
                  </a:cubicBezTo>
                  <a:lnTo>
                    <a:pt x="1529291" y="71041"/>
                  </a:lnTo>
                  <a:cubicBezTo>
                    <a:pt x="1529291" y="83064"/>
                    <a:pt x="1524515" y="94595"/>
                    <a:pt x="1516014" y="103097"/>
                  </a:cubicBezTo>
                  <a:cubicBezTo>
                    <a:pt x="1507512" y="111598"/>
                    <a:pt x="1495982" y="116374"/>
                    <a:pt x="1483959" y="116374"/>
                  </a:cubicBezTo>
                  <a:lnTo>
                    <a:pt x="45333" y="116374"/>
                  </a:lnTo>
                  <a:cubicBezTo>
                    <a:pt x="33310" y="116374"/>
                    <a:pt x="21779" y="111598"/>
                    <a:pt x="13278" y="103097"/>
                  </a:cubicBezTo>
                  <a:cubicBezTo>
                    <a:pt x="4776" y="94595"/>
                    <a:pt x="0" y="83064"/>
                    <a:pt x="0" y="71041"/>
                  </a:cubicBezTo>
                  <a:lnTo>
                    <a:pt x="0" y="45333"/>
                  </a:lnTo>
                  <a:cubicBezTo>
                    <a:pt x="0" y="33310"/>
                    <a:pt x="4776" y="21779"/>
                    <a:pt x="13278" y="13278"/>
                  </a:cubicBezTo>
                  <a:cubicBezTo>
                    <a:pt x="21779" y="4776"/>
                    <a:pt x="33310" y="0"/>
                    <a:pt x="45333" y="0"/>
                  </a:cubicBezTo>
                  <a:close/>
                </a:path>
              </a:pathLst>
            </a:custGeom>
            <a:solidFill>
              <a:srgbClr val="1E3B50">
                <a:alpha val="73725"/>
              </a:srgbClr>
            </a:solidFill>
          </p:spPr>
        </p:sp>
        <p:sp>
          <p:nvSpPr>
            <p:cNvPr name="TextBox 18" id="18"/>
            <p:cNvSpPr txBox="true"/>
            <p:nvPr/>
          </p:nvSpPr>
          <p:spPr>
            <a:xfrm>
              <a:off x="0" y="-47625"/>
              <a:ext cx="1529291" cy="163999"/>
            </a:xfrm>
            <a:prstGeom prst="rect">
              <a:avLst/>
            </a:prstGeom>
          </p:spPr>
          <p:txBody>
            <a:bodyPr anchor="ctr" rtlCol="false" tIns="50800" lIns="50800" bIns="50800" rIns="50800"/>
            <a:lstStyle/>
            <a:p>
              <a:pPr algn="ctr">
                <a:lnSpc>
                  <a:spcPts val="3640"/>
                </a:lnSpc>
              </a:pPr>
            </a:p>
          </p:txBody>
        </p:sp>
      </p:grpSp>
      <p:sp>
        <p:nvSpPr>
          <p:cNvPr name="TextBox 19" id="19"/>
          <p:cNvSpPr txBox="true"/>
          <p:nvPr/>
        </p:nvSpPr>
        <p:spPr>
          <a:xfrm rot="0">
            <a:off x="2175454" y="1824853"/>
            <a:ext cx="4865951" cy="313716"/>
          </a:xfrm>
          <a:prstGeom prst="rect">
            <a:avLst/>
          </a:prstGeom>
        </p:spPr>
        <p:txBody>
          <a:bodyPr anchor="t" rtlCol="false" tIns="0" lIns="0" bIns="0" rIns="0">
            <a:spAutoFit/>
          </a:bodyPr>
          <a:lstStyle/>
          <a:p>
            <a:pPr algn="l">
              <a:lnSpc>
                <a:spcPts val="2663"/>
              </a:lnSpc>
            </a:pPr>
            <a:r>
              <a:rPr lang="en-US" sz="1902">
                <a:solidFill>
                  <a:srgbClr val="DCDDDD"/>
                </a:solidFill>
                <a:latin typeface="League Spartan"/>
                <a:ea typeface="League Spartan"/>
                <a:cs typeface="League Spartan"/>
                <a:sym typeface="League Spartan"/>
              </a:rPr>
              <a:t>T</a:t>
            </a:r>
            <a:r>
              <a:rPr lang="en-US" sz="1902">
                <a:solidFill>
                  <a:srgbClr val="DCDDDD"/>
                </a:solidFill>
                <a:latin typeface="League Spartan"/>
                <a:ea typeface="League Spartan"/>
                <a:cs typeface="League Spartan"/>
                <a:sym typeface="League Spartan"/>
              </a:rPr>
              <a:t>ournament Data Source (API - JSON)</a:t>
            </a:r>
          </a:p>
        </p:txBody>
      </p:sp>
      <p:grpSp>
        <p:nvGrpSpPr>
          <p:cNvPr name="Group 20" id="20"/>
          <p:cNvGrpSpPr/>
          <p:nvPr/>
        </p:nvGrpSpPr>
        <p:grpSpPr>
          <a:xfrm rot="0">
            <a:off x="8922180" y="5493922"/>
            <a:ext cx="8337120" cy="2398789"/>
            <a:chOff x="0" y="0"/>
            <a:chExt cx="2195785" cy="631780"/>
          </a:xfrm>
        </p:grpSpPr>
        <p:sp>
          <p:nvSpPr>
            <p:cNvPr name="Freeform 21" id="21"/>
            <p:cNvSpPr/>
            <p:nvPr/>
          </p:nvSpPr>
          <p:spPr>
            <a:xfrm flipH="false" flipV="false" rot="0">
              <a:off x="0" y="0"/>
              <a:ext cx="2195785" cy="631780"/>
            </a:xfrm>
            <a:custGeom>
              <a:avLst/>
              <a:gdLst/>
              <a:ahLst/>
              <a:cxnLst/>
              <a:rect r="r" b="b" t="t" l="l"/>
              <a:pathLst>
                <a:path h="631780" w="2195785">
                  <a:moveTo>
                    <a:pt x="0" y="0"/>
                  </a:moveTo>
                  <a:lnTo>
                    <a:pt x="2195785" y="0"/>
                  </a:lnTo>
                  <a:lnTo>
                    <a:pt x="2195785" y="631780"/>
                  </a:lnTo>
                  <a:lnTo>
                    <a:pt x="0" y="631780"/>
                  </a:lnTo>
                  <a:close/>
                </a:path>
              </a:pathLst>
            </a:custGeom>
            <a:solidFill>
              <a:srgbClr val="1E3B50">
                <a:alpha val="73725"/>
              </a:srgbClr>
            </a:solidFill>
          </p:spPr>
        </p:sp>
        <p:sp>
          <p:nvSpPr>
            <p:cNvPr name="TextBox 22" id="22"/>
            <p:cNvSpPr txBox="true"/>
            <p:nvPr/>
          </p:nvSpPr>
          <p:spPr>
            <a:xfrm>
              <a:off x="0" y="-47625"/>
              <a:ext cx="2195785" cy="679405"/>
            </a:xfrm>
            <a:prstGeom prst="rect">
              <a:avLst/>
            </a:prstGeom>
          </p:spPr>
          <p:txBody>
            <a:bodyPr anchor="ctr" rtlCol="false" tIns="50800" lIns="50800" bIns="50800" rIns="50800"/>
            <a:lstStyle/>
            <a:p>
              <a:pPr algn="ctr">
                <a:lnSpc>
                  <a:spcPts val="3640"/>
                </a:lnSpc>
              </a:pPr>
            </a:p>
          </p:txBody>
        </p:sp>
      </p:grpSp>
      <p:sp>
        <p:nvSpPr>
          <p:cNvPr name="Freeform 23" id="23"/>
          <p:cNvSpPr/>
          <p:nvPr/>
        </p:nvSpPr>
        <p:spPr>
          <a:xfrm flipH="false" flipV="false" rot="0">
            <a:off x="9145046" y="5658229"/>
            <a:ext cx="7891388" cy="2025224"/>
          </a:xfrm>
          <a:custGeom>
            <a:avLst/>
            <a:gdLst/>
            <a:ahLst/>
            <a:cxnLst/>
            <a:rect r="r" b="b" t="t" l="l"/>
            <a:pathLst>
              <a:path h="2025224" w="7891388">
                <a:moveTo>
                  <a:pt x="0" y="0"/>
                </a:moveTo>
                <a:lnTo>
                  <a:pt x="7891388" y="0"/>
                </a:lnTo>
                <a:lnTo>
                  <a:pt x="7891388" y="2025223"/>
                </a:lnTo>
                <a:lnTo>
                  <a:pt x="0" y="2025223"/>
                </a:lnTo>
                <a:lnTo>
                  <a:pt x="0" y="0"/>
                </a:lnTo>
                <a:close/>
              </a:path>
            </a:pathLst>
          </a:custGeom>
          <a:blipFill>
            <a:blip r:embed="rId5"/>
            <a:stretch>
              <a:fillRect l="0" t="0" r="0" b="0"/>
            </a:stretch>
          </a:blipFill>
        </p:spPr>
      </p:sp>
      <p:grpSp>
        <p:nvGrpSpPr>
          <p:cNvPr name="Group 24" id="24"/>
          <p:cNvGrpSpPr/>
          <p:nvPr/>
        </p:nvGrpSpPr>
        <p:grpSpPr>
          <a:xfrm rot="0">
            <a:off x="9669318" y="5040773"/>
            <a:ext cx="6824795" cy="462674"/>
            <a:chOff x="0" y="0"/>
            <a:chExt cx="1797477" cy="121856"/>
          </a:xfrm>
        </p:grpSpPr>
        <p:sp>
          <p:nvSpPr>
            <p:cNvPr name="Freeform 25" id="25"/>
            <p:cNvSpPr/>
            <p:nvPr/>
          </p:nvSpPr>
          <p:spPr>
            <a:xfrm flipH="false" flipV="false" rot="0">
              <a:off x="0" y="0"/>
              <a:ext cx="1797477" cy="121856"/>
            </a:xfrm>
            <a:custGeom>
              <a:avLst/>
              <a:gdLst/>
              <a:ahLst/>
              <a:cxnLst/>
              <a:rect r="r" b="b" t="t" l="l"/>
              <a:pathLst>
                <a:path h="121856" w="1797477">
                  <a:moveTo>
                    <a:pt x="38569" y="0"/>
                  </a:moveTo>
                  <a:lnTo>
                    <a:pt x="1758908" y="0"/>
                  </a:lnTo>
                  <a:cubicBezTo>
                    <a:pt x="1769137" y="0"/>
                    <a:pt x="1778947" y="4064"/>
                    <a:pt x="1786180" y="11297"/>
                  </a:cubicBezTo>
                  <a:cubicBezTo>
                    <a:pt x="1793413" y="18530"/>
                    <a:pt x="1797477" y="28340"/>
                    <a:pt x="1797477" y="38569"/>
                  </a:cubicBezTo>
                  <a:lnTo>
                    <a:pt x="1797477" y="83288"/>
                  </a:lnTo>
                  <a:cubicBezTo>
                    <a:pt x="1797477" y="93517"/>
                    <a:pt x="1793413" y="103327"/>
                    <a:pt x="1786180" y="110560"/>
                  </a:cubicBezTo>
                  <a:cubicBezTo>
                    <a:pt x="1778947" y="117793"/>
                    <a:pt x="1769137" y="121856"/>
                    <a:pt x="1758908" y="121856"/>
                  </a:cubicBezTo>
                  <a:lnTo>
                    <a:pt x="38569" y="121856"/>
                  </a:lnTo>
                  <a:cubicBezTo>
                    <a:pt x="28340" y="121856"/>
                    <a:pt x="18530" y="117793"/>
                    <a:pt x="11297" y="110560"/>
                  </a:cubicBezTo>
                  <a:cubicBezTo>
                    <a:pt x="4064" y="103327"/>
                    <a:pt x="0" y="93517"/>
                    <a:pt x="0" y="83288"/>
                  </a:cubicBezTo>
                  <a:lnTo>
                    <a:pt x="0" y="38569"/>
                  </a:lnTo>
                  <a:cubicBezTo>
                    <a:pt x="0" y="28340"/>
                    <a:pt x="4064" y="18530"/>
                    <a:pt x="11297" y="11297"/>
                  </a:cubicBezTo>
                  <a:cubicBezTo>
                    <a:pt x="18530" y="4064"/>
                    <a:pt x="28340" y="0"/>
                    <a:pt x="38569" y="0"/>
                  </a:cubicBezTo>
                  <a:close/>
                </a:path>
              </a:pathLst>
            </a:custGeom>
            <a:solidFill>
              <a:srgbClr val="1E3B50">
                <a:alpha val="73725"/>
              </a:srgbClr>
            </a:solidFill>
          </p:spPr>
        </p:sp>
        <p:sp>
          <p:nvSpPr>
            <p:cNvPr name="TextBox 26" id="26"/>
            <p:cNvSpPr txBox="true"/>
            <p:nvPr/>
          </p:nvSpPr>
          <p:spPr>
            <a:xfrm>
              <a:off x="0" y="-47625"/>
              <a:ext cx="1797477" cy="169481"/>
            </a:xfrm>
            <a:prstGeom prst="rect">
              <a:avLst/>
            </a:prstGeom>
          </p:spPr>
          <p:txBody>
            <a:bodyPr anchor="ctr" rtlCol="false" tIns="50800" lIns="50800" bIns="50800" rIns="50800"/>
            <a:lstStyle/>
            <a:p>
              <a:pPr algn="ctr">
                <a:lnSpc>
                  <a:spcPts val="3640"/>
                </a:lnSpc>
              </a:pPr>
            </a:p>
          </p:txBody>
        </p:sp>
      </p:grpSp>
      <p:sp>
        <p:nvSpPr>
          <p:cNvPr name="TextBox 27" id="27"/>
          <p:cNvSpPr txBox="true"/>
          <p:nvPr/>
        </p:nvSpPr>
        <p:spPr>
          <a:xfrm rot="0">
            <a:off x="10025059" y="5165842"/>
            <a:ext cx="6131362" cy="328080"/>
          </a:xfrm>
          <a:prstGeom prst="rect">
            <a:avLst/>
          </a:prstGeom>
        </p:spPr>
        <p:txBody>
          <a:bodyPr anchor="t" rtlCol="false" tIns="0" lIns="0" bIns="0" rIns="0">
            <a:spAutoFit/>
          </a:bodyPr>
          <a:lstStyle/>
          <a:p>
            <a:pPr algn="l">
              <a:lnSpc>
                <a:spcPts val="2709"/>
              </a:lnSpc>
            </a:pPr>
            <a:r>
              <a:rPr lang="en-US" sz="1935">
                <a:solidFill>
                  <a:srgbClr val="DCDDDD"/>
                </a:solidFill>
                <a:latin typeface="League Spartan"/>
                <a:ea typeface="League Spartan"/>
                <a:cs typeface="League Spartan"/>
                <a:sym typeface="League Spartan"/>
              </a:rPr>
              <a:t> Integration Goal: Unit-Level Analytical Dataset</a:t>
            </a:r>
          </a:p>
        </p:txBody>
      </p:sp>
      <p:sp>
        <p:nvSpPr>
          <p:cNvPr name="Freeform 28" id="28"/>
          <p:cNvSpPr/>
          <p:nvPr/>
        </p:nvSpPr>
        <p:spPr>
          <a:xfrm flipH="false" flipV="false" rot="0">
            <a:off x="9961639" y="2301088"/>
            <a:ext cx="6258202" cy="2184467"/>
          </a:xfrm>
          <a:custGeom>
            <a:avLst/>
            <a:gdLst/>
            <a:ahLst/>
            <a:cxnLst/>
            <a:rect r="r" b="b" t="t" l="l"/>
            <a:pathLst>
              <a:path h="2184467" w="6258202">
                <a:moveTo>
                  <a:pt x="0" y="0"/>
                </a:moveTo>
                <a:lnTo>
                  <a:pt x="6258202" y="0"/>
                </a:lnTo>
                <a:lnTo>
                  <a:pt x="6258202" y="2184466"/>
                </a:lnTo>
                <a:lnTo>
                  <a:pt x="0" y="2184466"/>
                </a:lnTo>
                <a:lnTo>
                  <a:pt x="0" y="0"/>
                </a:lnTo>
                <a:close/>
              </a:path>
            </a:pathLst>
          </a:custGeom>
          <a:blipFill>
            <a:blip r:embed="rId6"/>
            <a:stretch>
              <a:fillRect l="0" t="0" r="0" b="0"/>
            </a:stretch>
          </a:blipFill>
        </p:spPr>
      </p:sp>
      <p:grpSp>
        <p:nvGrpSpPr>
          <p:cNvPr name="Group 29" id="29"/>
          <p:cNvGrpSpPr/>
          <p:nvPr/>
        </p:nvGrpSpPr>
        <p:grpSpPr>
          <a:xfrm rot="0">
            <a:off x="10418110" y="1706717"/>
            <a:ext cx="5399553" cy="441858"/>
            <a:chOff x="0" y="0"/>
            <a:chExt cx="1422105" cy="116374"/>
          </a:xfrm>
        </p:grpSpPr>
        <p:sp>
          <p:nvSpPr>
            <p:cNvPr name="Freeform 30" id="30"/>
            <p:cNvSpPr/>
            <p:nvPr/>
          </p:nvSpPr>
          <p:spPr>
            <a:xfrm flipH="false" flipV="false" rot="0">
              <a:off x="0" y="0"/>
              <a:ext cx="1422105" cy="116374"/>
            </a:xfrm>
            <a:custGeom>
              <a:avLst/>
              <a:gdLst/>
              <a:ahLst/>
              <a:cxnLst/>
              <a:rect r="r" b="b" t="t" l="l"/>
              <a:pathLst>
                <a:path h="116374" w="1422105">
                  <a:moveTo>
                    <a:pt x="48749" y="0"/>
                  </a:moveTo>
                  <a:lnTo>
                    <a:pt x="1373355" y="0"/>
                  </a:lnTo>
                  <a:cubicBezTo>
                    <a:pt x="1386284" y="0"/>
                    <a:pt x="1398684" y="5136"/>
                    <a:pt x="1407826" y="14278"/>
                  </a:cubicBezTo>
                  <a:cubicBezTo>
                    <a:pt x="1416968" y="23421"/>
                    <a:pt x="1422105" y="35820"/>
                    <a:pt x="1422105" y="48749"/>
                  </a:cubicBezTo>
                  <a:lnTo>
                    <a:pt x="1422105" y="67625"/>
                  </a:lnTo>
                  <a:cubicBezTo>
                    <a:pt x="1422105" y="94548"/>
                    <a:pt x="1400279" y="116374"/>
                    <a:pt x="1373355" y="116374"/>
                  </a:cubicBezTo>
                  <a:lnTo>
                    <a:pt x="48749" y="116374"/>
                  </a:lnTo>
                  <a:cubicBezTo>
                    <a:pt x="21826" y="116374"/>
                    <a:pt x="0" y="94548"/>
                    <a:pt x="0" y="67625"/>
                  </a:cubicBezTo>
                  <a:lnTo>
                    <a:pt x="0" y="48749"/>
                  </a:lnTo>
                  <a:cubicBezTo>
                    <a:pt x="0" y="21826"/>
                    <a:pt x="21826" y="0"/>
                    <a:pt x="48749" y="0"/>
                  </a:cubicBezTo>
                  <a:close/>
                </a:path>
              </a:pathLst>
            </a:custGeom>
            <a:solidFill>
              <a:srgbClr val="1E3B50">
                <a:alpha val="73725"/>
              </a:srgbClr>
            </a:solidFill>
          </p:spPr>
        </p:sp>
        <p:sp>
          <p:nvSpPr>
            <p:cNvPr name="TextBox 31" id="31"/>
            <p:cNvSpPr txBox="true"/>
            <p:nvPr/>
          </p:nvSpPr>
          <p:spPr>
            <a:xfrm>
              <a:off x="0" y="-47625"/>
              <a:ext cx="1422105" cy="163999"/>
            </a:xfrm>
            <a:prstGeom prst="rect">
              <a:avLst/>
            </a:prstGeom>
          </p:spPr>
          <p:txBody>
            <a:bodyPr anchor="ctr" rtlCol="false" tIns="50800" lIns="50800" bIns="50800" rIns="50800"/>
            <a:lstStyle/>
            <a:p>
              <a:pPr algn="ctr">
                <a:lnSpc>
                  <a:spcPts val="3640"/>
                </a:lnSpc>
              </a:pPr>
            </a:p>
          </p:txBody>
        </p:sp>
      </p:grpSp>
      <p:sp>
        <p:nvSpPr>
          <p:cNvPr name="TextBox 32" id="32"/>
          <p:cNvSpPr txBox="true"/>
          <p:nvPr/>
        </p:nvSpPr>
        <p:spPr>
          <a:xfrm rot="0">
            <a:off x="10860866" y="1843933"/>
            <a:ext cx="4702492" cy="314167"/>
          </a:xfrm>
          <a:prstGeom prst="rect">
            <a:avLst/>
          </a:prstGeom>
        </p:spPr>
        <p:txBody>
          <a:bodyPr anchor="t" rtlCol="false" tIns="0" lIns="0" bIns="0" rIns="0">
            <a:spAutoFit/>
          </a:bodyPr>
          <a:lstStyle/>
          <a:p>
            <a:pPr algn="l">
              <a:lnSpc>
                <a:spcPts val="2668"/>
              </a:lnSpc>
            </a:pPr>
            <a:r>
              <a:rPr lang="en-US" sz="1905">
                <a:solidFill>
                  <a:srgbClr val="DCDDDD"/>
                </a:solidFill>
                <a:latin typeface="League Spartan"/>
                <a:ea typeface="League Spartan"/>
                <a:cs typeface="League Spartan"/>
                <a:sym typeface="League Spartan"/>
              </a:rPr>
              <a:t>Pricing</a:t>
            </a:r>
            <a:r>
              <a:rPr lang="en-US" sz="1905">
                <a:solidFill>
                  <a:srgbClr val="DCDDDD"/>
                </a:solidFill>
                <a:latin typeface="League Spartan"/>
                <a:ea typeface="League Spartan"/>
                <a:cs typeface="League Spartan"/>
                <a:sym typeface="League Spartan"/>
              </a:rPr>
              <a:t> Reference Data (Retail - CSV)</a:t>
            </a:r>
          </a:p>
        </p:txBody>
      </p:sp>
      <p:sp>
        <p:nvSpPr>
          <p:cNvPr name="Freeform 33" id="33"/>
          <p:cNvSpPr/>
          <p:nvPr/>
        </p:nvSpPr>
        <p:spPr>
          <a:xfrm>
            <a:off x="4914900" y="4307952"/>
            <a:ext cx="4185939" cy="1801838"/>
          </a:xfrm>
          <a:custGeom>
            <a:avLst/>
            <a:gdLst/>
            <a:ahLst/>
            <a:cxnLst/>
            <a:rect r="r" b="b" t="t" l="l"/>
            <a:pathLst>
              <a:path h="1801838" w="4185939">
                <a:moveTo>
                  <a:pt x="0" y="0"/>
                </a:moveTo>
                <a:quadBezTo>
                  <a:pt x="3243810" y="1833"/>
                  <a:pt x="4185939" y="1801838"/>
                </a:quadBezTo>
              </a:path>
            </a:pathLst>
          </a:custGeom>
          <a:ln cap="rnd" w="66675">
            <a:solidFill>
              <a:srgbClr val="DCDDDD">
                <a:alpha val="88627"/>
              </a:srgbClr>
            </a:solidFill>
            <a:prstDash val="solid"/>
            <a:headEnd type="none" len="sm" w="sm"/>
            <a:tailEnd type="arrow" len="sm" w="med"/>
          </a:ln>
        </p:spPr>
      </p:sp>
      <p:sp>
        <p:nvSpPr>
          <p:cNvPr name="Freeform 34" id="34"/>
          <p:cNvSpPr/>
          <p:nvPr/>
        </p:nvSpPr>
        <p:spPr>
          <a:xfrm>
            <a:off x="8151680" y="2888150"/>
            <a:ext cx="1791697" cy="3094644"/>
          </a:xfrm>
          <a:custGeom>
            <a:avLst/>
            <a:gdLst/>
            <a:ahLst/>
            <a:cxnLst/>
            <a:rect r="r" b="b" t="t" l="l"/>
            <a:pathLst>
              <a:path h="3094644" w="1791697">
                <a:moveTo>
                  <a:pt x="1791697" y="4482"/>
                </a:moveTo>
                <a:quadBezTo>
                  <a:pt x="-1251726" y="-117768"/>
                  <a:pt x="874487" y="3094644"/>
                </a:quadBezTo>
              </a:path>
            </a:pathLst>
          </a:custGeom>
          <a:ln cap="rnd" w="66675">
            <a:solidFill>
              <a:srgbClr val="DCDDDD">
                <a:alpha val="88627"/>
              </a:srgbClr>
            </a:solidFill>
            <a:prstDash val="solid"/>
            <a:headEnd type="none" len="sm" w="sm"/>
            <a:tailEnd type="none" len="sm" w="sm"/>
          </a:ln>
        </p:spPr>
      </p:sp>
      <p:sp>
        <p:nvSpPr>
          <p:cNvPr name="TextBox 35" id="35"/>
          <p:cNvSpPr txBox="true"/>
          <p:nvPr/>
        </p:nvSpPr>
        <p:spPr>
          <a:xfrm rot="0">
            <a:off x="5706799" y="241863"/>
            <a:ext cx="6874401" cy="995682"/>
          </a:xfrm>
          <a:prstGeom prst="rect">
            <a:avLst/>
          </a:prstGeom>
        </p:spPr>
        <p:txBody>
          <a:bodyPr anchor="t" rtlCol="false" tIns="0" lIns="0" bIns="0" rIns="0">
            <a:spAutoFit/>
          </a:bodyPr>
          <a:lstStyle/>
          <a:p>
            <a:pPr algn="l">
              <a:lnSpc>
                <a:spcPts val="8119"/>
              </a:lnSpc>
              <a:spcBef>
                <a:spcPct val="0"/>
              </a:spcBef>
            </a:pPr>
            <a:r>
              <a:rPr lang="en-US" sz="5799">
                <a:solidFill>
                  <a:srgbClr val="DCDDDD"/>
                </a:solidFill>
                <a:latin typeface="Black Ops One"/>
                <a:ea typeface="Black Ops One"/>
                <a:cs typeface="Black Ops One"/>
                <a:sym typeface="Black Ops One"/>
              </a:rPr>
              <a:t>Data Integration</a:t>
            </a:r>
          </a:p>
        </p:txBody>
      </p:sp>
      <p:grpSp>
        <p:nvGrpSpPr>
          <p:cNvPr name="Group 36" id="36"/>
          <p:cNvGrpSpPr/>
          <p:nvPr/>
        </p:nvGrpSpPr>
        <p:grpSpPr>
          <a:xfrm rot="0">
            <a:off x="7724677" y="8333309"/>
            <a:ext cx="3156801" cy="477852"/>
            <a:chOff x="0" y="0"/>
            <a:chExt cx="831421" cy="125854"/>
          </a:xfrm>
        </p:grpSpPr>
        <p:sp>
          <p:nvSpPr>
            <p:cNvPr name="Freeform 37" id="37"/>
            <p:cNvSpPr/>
            <p:nvPr/>
          </p:nvSpPr>
          <p:spPr>
            <a:xfrm flipH="false" flipV="false" rot="0">
              <a:off x="0" y="0"/>
              <a:ext cx="831421" cy="125854"/>
            </a:xfrm>
            <a:custGeom>
              <a:avLst/>
              <a:gdLst/>
              <a:ahLst/>
              <a:cxnLst/>
              <a:rect r="r" b="b" t="t" l="l"/>
              <a:pathLst>
                <a:path h="125854" w="831421">
                  <a:moveTo>
                    <a:pt x="36787" y="0"/>
                  </a:moveTo>
                  <a:lnTo>
                    <a:pt x="794634" y="0"/>
                  </a:lnTo>
                  <a:cubicBezTo>
                    <a:pt x="804390" y="0"/>
                    <a:pt x="813747" y="3876"/>
                    <a:pt x="820646" y="10775"/>
                  </a:cubicBezTo>
                  <a:cubicBezTo>
                    <a:pt x="827545" y="17673"/>
                    <a:pt x="831421" y="27030"/>
                    <a:pt x="831421" y="36787"/>
                  </a:cubicBezTo>
                  <a:lnTo>
                    <a:pt x="831421" y="89067"/>
                  </a:lnTo>
                  <a:cubicBezTo>
                    <a:pt x="831421" y="98824"/>
                    <a:pt x="827545" y="108180"/>
                    <a:pt x="820646" y="115079"/>
                  </a:cubicBezTo>
                  <a:cubicBezTo>
                    <a:pt x="813747" y="121978"/>
                    <a:pt x="804390" y="125854"/>
                    <a:pt x="794634" y="125854"/>
                  </a:cubicBezTo>
                  <a:lnTo>
                    <a:pt x="36787" y="125854"/>
                  </a:lnTo>
                  <a:cubicBezTo>
                    <a:pt x="27030" y="125854"/>
                    <a:pt x="17673" y="121978"/>
                    <a:pt x="10775" y="115079"/>
                  </a:cubicBezTo>
                  <a:cubicBezTo>
                    <a:pt x="3876" y="108180"/>
                    <a:pt x="0" y="98824"/>
                    <a:pt x="0" y="89067"/>
                  </a:cubicBezTo>
                  <a:lnTo>
                    <a:pt x="0" y="36787"/>
                  </a:lnTo>
                  <a:cubicBezTo>
                    <a:pt x="0" y="27030"/>
                    <a:pt x="3876" y="17673"/>
                    <a:pt x="10775" y="10775"/>
                  </a:cubicBezTo>
                  <a:cubicBezTo>
                    <a:pt x="17673" y="3876"/>
                    <a:pt x="27030" y="0"/>
                    <a:pt x="36787" y="0"/>
                  </a:cubicBezTo>
                  <a:close/>
                </a:path>
              </a:pathLst>
            </a:custGeom>
            <a:solidFill>
              <a:srgbClr val="1E3B50">
                <a:alpha val="60784"/>
              </a:srgbClr>
            </a:solidFill>
            <a:ln cap="sq">
              <a:noFill/>
              <a:prstDash val="solid"/>
              <a:miter/>
            </a:ln>
          </p:spPr>
        </p:sp>
        <p:sp>
          <p:nvSpPr>
            <p:cNvPr name="TextBox 38" id="38"/>
            <p:cNvSpPr txBox="true"/>
            <p:nvPr/>
          </p:nvSpPr>
          <p:spPr>
            <a:xfrm>
              <a:off x="0" y="-47625"/>
              <a:ext cx="831421" cy="173479"/>
            </a:xfrm>
            <a:prstGeom prst="rect">
              <a:avLst/>
            </a:prstGeom>
          </p:spPr>
          <p:txBody>
            <a:bodyPr anchor="ctr" rtlCol="false" tIns="50800" lIns="50800" bIns="50800" rIns="50800"/>
            <a:lstStyle/>
            <a:p>
              <a:pPr algn="ctr">
                <a:lnSpc>
                  <a:spcPts val="3640"/>
                </a:lnSpc>
              </a:pPr>
            </a:p>
          </p:txBody>
        </p:sp>
      </p:grpSp>
      <p:sp>
        <p:nvSpPr>
          <p:cNvPr name="TextBox 39" id="39"/>
          <p:cNvSpPr txBox="true"/>
          <p:nvPr/>
        </p:nvSpPr>
        <p:spPr>
          <a:xfrm rot="0">
            <a:off x="8052514" y="8421390"/>
            <a:ext cx="2634448" cy="370720"/>
          </a:xfrm>
          <a:prstGeom prst="rect">
            <a:avLst/>
          </a:prstGeom>
        </p:spPr>
        <p:txBody>
          <a:bodyPr anchor="t" rtlCol="false" tIns="0" lIns="0" bIns="0" rIns="0">
            <a:spAutoFit/>
          </a:bodyPr>
          <a:lstStyle/>
          <a:p>
            <a:pPr algn="l">
              <a:lnSpc>
                <a:spcPts val="3018"/>
              </a:lnSpc>
            </a:pPr>
            <a:r>
              <a:rPr lang="en-US" sz="2155">
                <a:solidFill>
                  <a:srgbClr val="DCDDDD"/>
                </a:solidFill>
                <a:latin typeface="League Spartan"/>
                <a:ea typeface="League Spartan"/>
                <a:cs typeface="League Spartan"/>
                <a:sym typeface="League Spartan"/>
              </a:rPr>
              <a:t> Main</a:t>
            </a:r>
            <a:r>
              <a:rPr lang="en-US" sz="2155">
                <a:solidFill>
                  <a:srgbClr val="DCDDDD"/>
                </a:solidFill>
                <a:latin typeface="League Spartan"/>
                <a:ea typeface="League Spartan"/>
                <a:cs typeface="League Spartan"/>
                <a:sym typeface="League Spartan"/>
              </a:rPr>
              <a:t> challenges:</a:t>
            </a:r>
          </a:p>
        </p:txBody>
      </p:sp>
      <p:sp>
        <p:nvSpPr>
          <p:cNvPr name="TextBox 40" id="40"/>
          <p:cNvSpPr txBox="true"/>
          <p:nvPr/>
        </p:nvSpPr>
        <p:spPr>
          <a:xfrm rot="0">
            <a:off x="5543733" y="8983411"/>
            <a:ext cx="3268561" cy="679599"/>
          </a:xfrm>
          <a:prstGeom prst="rect">
            <a:avLst/>
          </a:prstGeom>
        </p:spPr>
        <p:txBody>
          <a:bodyPr anchor="t" rtlCol="false" tIns="0" lIns="0" bIns="0" rIns="0">
            <a:spAutoFit/>
          </a:bodyPr>
          <a:lstStyle/>
          <a:p>
            <a:pPr algn="ctr">
              <a:lnSpc>
                <a:spcPts val="2803"/>
              </a:lnSpc>
            </a:pPr>
            <a:r>
              <a:rPr lang="en-US" sz="2002">
                <a:solidFill>
                  <a:srgbClr val="DCDDDD"/>
                </a:solidFill>
                <a:latin typeface="League Spartan"/>
                <a:ea typeface="League Spartan"/>
                <a:cs typeface="League Spartan"/>
                <a:sym typeface="League Spartan"/>
              </a:rPr>
              <a:t>Unit name inconsistency and duplication issues</a:t>
            </a:r>
          </a:p>
        </p:txBody>
      </p:sp>
      <p:sp>
        <p:nvSpPr>
          <p:cNvPr name="TextBox 41" id="41"/>
          <p:cNvSpPr txBox="true"/>
          <p:nvPr/>
        </p:nvSpPr>
        <p:spPr>
          <a:xfrm rot="0">
            <a:off x="4928908" y="8731306"/>
            <a:ext cx="614825" cy="1088501"/>
          </a:xfrm>
          <a:prstGeom prst="rect">
            <a:avLst/>
          </a:prstGeom>
        </p:spPr>
        <p:txBody>
          <a:bodyPr anchor="t" rtlCol="false" tIns="0" lIns="0" bIns="0" rIns="0">
            <a:spAutoFit/>
          </a:bodyPr>
          <a:lstStyle/>
          <a:p>
            <a:pPr algn="l">
              <a:lnSpc>
                <a:spcPts val="8887"/>
              </a:lnSpc>
              <a:spcBef>
                <a:spcPct val="0"/>
              </a:spcBef>
            </a:pPr>
            <a:r>
              <a:rPr lang="en-US" sz="6348">
                <a:solidFill>
                  <a:srgbClr val="DCDDDD"/>
                </a:solidFill>
                <a:latin typeface="Black Ops One"/>
                <a:ea typeface="Black Ops One"/>
                <a:cs typeface="Black Ops One"/>
                <a:sym typeface="Black Ops One"/>
              </a:rPr>
              <a:t>1</a:t>
            </a:r>
          </a:p>
        </p:txBody>
      </p:sp>
      <p:sp>
        <p:nvSpPr>
          <p:cNvPr name="TextBox 42" id="42"/>
          <p:cNvSpPr txBox="true"/>
          <p:nvPr/>
        </p:nvSpPr>
        <p:spPr>
          <a:xfrm rot="0">
            <a:off x="10639336" y="9002219"/>
            <a:ext cx="3276748" cy="679541"/>
          </a:xfrm>
          <a:prstGeom prst="rect">
            <a:avLst/>
          </a:prstGeom>
        </p:spPr>
        <p:txBody>
          <a:bodyPr anchor="t" rtlCol="false" tIns="0" lIns="0" bIns="0" rIns="0">
            <a:spAutoFit/>
          </a:bodyPr>
          <a:lstStyle/>
          <a:p>
            <a:pPr algn="ctr">
              <a:lnSpc>
                <a:spcPts val="2803"/>
              </a:lnSpc>
            </a:pPr>
            <a:r>
              <a:rPr lang="en-US" sz="2002">
                <a:solidFill>
                  <a:srgbClr val="DCDDDD"/>
                </a:solidFill>
                <a:latin typeface="League Spartan"/>
                <a:ea typeface="League Spartan"/>
                <a:cs typeface="League Spartan"/>
                <a:sym typeface="League Spartan"/>
              </a:rPr>
              <a:t>Points - price mismatch </a:t>
            </a:r>
          </a:p>
          <a:p>
            <a:pPr algn="ctr">
              <a:lnSpc>
                <a:spcPts val="2803"/>
              </a:lnSpc>
            </a:pPr>
            <a:r>
              <a:rPr lang="en-US" sz="2002">
                <a:solidFill>
                  <a:srgbClr val="DCDDDD"/>
                </a:solidFill>
                <a:latin typeface="League Spartan"/>
                <a:ea typeface="League Spartan"/>
                <a:cs typeface="League Spartan"/>
                <a:sym typeface="League Spartan"/>
              </a:rPr>
              <a:t>across datasets</a:t>
            </a:r>
          </a:p>
        </p:txBody>
      </p:sp>
      <p:sp>
        <p:nvSpPr>
          <p:cNvPr name="TextBox 43" id="43"/>
          <p:cNvSpPr txBox="true"/>
          <p:nvPr/>
        </p:nvSpPr>
        <p:spPr>
          <a:xfrm rot="0">
            <a:off x="9880781" y="8811152"/>
            <a:ext cx="537328" cy="947857"/>
          </a:xfrm>
          <a:prstGeom prst="rect">
            <a:avLst/>
          </a:prstGeom>
        </p:spPr>
        <p:txBody>
          <a:bodyPr anchor="t" rtlCol="false" tIns="0" lIns="0" bIns="0" rIns="0">
            <a:spAutoFit/>
          </a:bodyPr>
          <a:lstStyle/>
          <a:p>
            <a:pPr algn="l">
              <a:lnSpc>
                <a:spcPts val="7767"/>
              </a:lnSpc>
              <a:spcBef>
                <a:spcPct val="0"/>
              </a:spcBef>
            </a:pPr>
            <a:r>
              <a:rPr lang="en-US" sz="5547">
                <a:solidFill>
                  <a:srgbClr val="DCDDDD"/>
                </a:solidFill>
                <a:latin typeface="Black Ops One"/>
                <a:ea typeface="Black Ops One"/>
                <a:cs typeface="Black Ops One"/>
                <a:sym typeface="Black Ops One"/>
              </a:rPr>
              <a:t>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24A5B"/>
        </a:solidFill>
      </p:bgPr>
    </p:bg>
    <p:spTree>
      <p:nvGrpSpPr>
        <p:cNvPr id="1" name=""/>
        <p:cNvGrpSpPr/>
        <p:nvPr/>
      </p:nvGrpSpPr>
      <p:grpSpPr>
        <a:xfrm>
          <a:off x="0" y="0"/>
          <a:ext cx="0" cy="0"/>
          <a:chOff x="0" y="0"/>
          <a:chExt cx="0" cy="0"/>
        </a:xfrm>
      </p:grpSpPr>
      <p:sp>
        <p:nvSpPr>
          <p:cNvPr name="Freeform 2" id="2"/>
          <p:cNvSpPr/>
          <p:nvPr/>
        </p:nvSpPr>
        <p:spPr>
          <a:xfrm flipH="false" flipV="false" rot="0">
            <a:off x="0" y="-623955"/>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39000"/>
            </a:blip>
            <a:stretch>
              <a:fillRect l="0" t="0" r="0" b="0"/>
            </a:stretch>
          </a:blipFill>
        </p:spPr>
      </p:sp>
      <p:grpSp>
        <p:nvGrpSpPr>
          <p:cNvPr name="Group 3" id="3"/>
          <p:cNvGrpSpPr/>
          <p:nvPr/>
        </p:nvGrpSpPr>
        <p:grpSpPr>
          <a:xfrm rot="0">
            <a:off x="-1142495" y="2077270"/>
            <a:ext cx="14405386" cy="1104886"/>
            <a:chOff x="0" y="0"/>
            <a:chExt cx="4049964" cy="310630"/>
          </a:xfrm>
        </p:grpSpPr>
        <p:sp>
          <p:nvSpPr>
            <p:cNvPr name="Freeform 4" id="4"/>
            <p:cNvSpPr/>
            <p:nvPr/>
          </p:nvSpPr>
          <p:spPr>
            <a:xfrm flipH="false" flipV="false" rot="0">
              <a:off x="0" y="0"/>
              <a:ext cx="4049964" cy="310630"/>
            </a:xfrm>
            <a:custGeom>
              <a:avLst/>
              <a:gdLst/>
              <a:ahLst/>
              <a:cxnLst/>
              <a:rect r="r" b="b" t="t" l="l"/>
              <a:pathLst>
                <a:path h="310630" w="4049964">
                  <a:moveTo>
                    <a:pt x="18273" y="0"/>
                  </a:moveTo>
                  <a:lnTo>
                    <a:pt x="4031691" y="0"/>
                  </a:lnTo>
                  <a:cubicBezTo>
                    <a:pt x="4036537" y="0"/>
                    <a:pt x="4041185" y="1925"/>
                    <a:pt x="4044612" y="5352"/>
                  </a:cubicBezTo>
                  <a:cubicBezTo>
                    <a:pt x="4048039" y="8779"/>
                    <a:pt x="4049964" y="13426"/>
                    <a:pt x="4049964" y="18273"/>
                  </a:cubicBezTo>
                  <a:lnTo>
                    <a:pt x="4049964" y="292357"/>
                  </a:lnTo>
                  <a:cubicBezTo>
                    <a:pt x="4049964" y="297204"/>
                    <a:pt x="4048039" y="301851"/>
                    <a:pt x="4044612" y="305278"/>
                  </a:cubicBezTo>
                  <a:cubicBezTo>
                    <a:pt x="4041185" y="308705"/>
                    <a:pt x="4036537" y="310630"/>
                    <a:pt x="4031691" y="310630"/>
                  </a:cubicBezTo>
                  <a:lnTo>
                    <a:pt x="18273" y="310630"/>
                  </a:lnTo>
                  <a:cubicBezTo>
                    <a:pt x="13426" y="310630"/>
                    <a:pt x="8779" y="308705"/>
                    <a:pt x="5352" y="305278"/>
                  </a:cubicBezTo>
                  <a:cubicBezTo>
                    <a:pt x="1925" y="301851"/>
                    <a:pt x="0" y="297204"/>
                    <a:pt x="0" y="292357"/>
                  </a:cubicBezTo>
                  <a:lnTo>
                    <a:pt x="0" y="18273"/>
                  </a:lnTo>
                  <a:cubicBezTo>
                    <a:pt x="0" y="13426"/>
                    <a:pt x="1925" y="8779"/>
                    <a:pt x="5352" y="5352"/>
                  </a:cubicBezTo>
                  <a:cubicBezTo>
                    <a:pt x="8779" y="1925"/>
                    <a:pt x="13426" y="0"/>
                    <a:pt x="18273" y="0"/>
                  </a:cubicBezTo>
                  <a:close/>
                </a:path>
              </a:pathLst>
            </a:custGeom>
            <a:solidFill>
              <a:srgbClr val="1E3B50">
                <a:alpha val="65882"/>
              </a:srgbClr>
            </a:solidFill>
          </p:spPr>
        </p:sp>
        <p:sp>
          <p:nvSpPr>
            <p:cNvPr name="TextBox 5" id="5"/>
            <p:cNvSpPr txBox="true"/>
            <p:nvPr/>
          </p:nvSpPr>
          <p:spPr>
            <a:xfrm>
              <a:off x="0" y="-47625"/>
              <a:ext cx="4049964" cy="358255"/>
            </a:xfrm>
            <a:prstGeom prst="rect">
              <a:avLst/>
            </a:prstGeom>
          </p:spPr>
          <p:txBody>
            <a:bodyPr anchor="ctr" rtlCol="false" tIns="50800" lIns="50800" bIns="50800" rIns="50800"/>
            <a:lstStyle/>
            <a:p>
              <a:pPr algn="ctr">
                <a:lnSpc>
                  <a:spcPts val="3640"/>
                </a:lnSpc>
              </a:pPr>
            </a:p>
          </p:txBody>
        </p:sp>
      </p:grpSp>
      <p:sp>
        <p:nvSpPr>
          <p:cNvPr name="AutoShape 6" id="6"/>
          <p:cNvSpPr/>
          <p:nvPr/>
        </p:nvSpPr>
        <p:spPr>
          <a:xfrm flipV="true">
            <a:off x="1028740" y="1450341"/>
            <a:ext cx="8985273" cy="19050"/>
          </a:xfrm>
          <a:prstGeom prst="line">
            <a:avLst/>
          </a:prstGeom>
          <a:ln cap="flat" w="38100">
            <a:solidFill>
              <a:srgbClr val="DCDDDD"/>
            </a:solidFill>
            <a:prstDash val="solid"/>
            <a:headEnd type="none" len="sm" w="sm"/>
            <a:tailEnd type="none" len="sm" w="sm"/>
          </a:ln>
        </p:spPr>
      </p:sp>
      <p:sp>
        <p:nvSpPr>
          <p:cNvPr name="TextBox 7" id="7"/>
          <p:cNvSpPr txBox="true"/>
          <p:nvPr/>
        </p:nvSpPr>
        <p:spPr>
          <a:xfrm rot="0">
            <a:off x="1028740" y="454659"/>
            <a:ext cx="10172004" cy="995682"/>
          </a:xfrm>
          <a:prstGeom prst="rect">
            <a:avLst/>
          </a:prstGeom>
        </p:spPr>
        <p:txBody>
          <a:bodyPr anchor="t" rtlCol="false" tIns="0" lIns="0" bIns="0" rIns="0">
            <a:spAutoFit/>
          </a:bodyPr>
          <a:lstStyle/>
          <a:p>
            <a:pPr algn="l">
              <a:lnSpc>
                <a:spcPts val="8119"/>
              </a:lnSpc>
              <a:spcBef>
                <a:spcPct val="0"/>
              </a:spcBef>
            </a:pPr>
            <a:r>
              <a:rPr lang="en-US" sz="5799">
                <a:solidFill>
                  <a:srgbClr val="DCDDDD"/>
                </a:solidFill>
                <a:latin typeface="Black Ops One"/>
                <a:ea typeface="Black Ops One"/>
                <a:cs typeface="Black Ops One"/>
                <a:sym typeface="Black Ops One"/>
              </a:rPr>
              <a:t>1  PROBLEM SOLU</a:t>
            </a:r>
            <a:r>
              <a:rPr lang="en-US" sz="5799">
                <a:solidFill>
                  <a:srgbClr val="DCDDDD"/>
                </a:solidFill>
                <a:latin typeface="Black Ops One"/>
                <a:ea typeface="Black Ops One"/>
                <a:cs typeface="Black Ops One"/>
                <a:sym typeface="Black Ops One"/>
              </a:rPr>
              <a:t>TIONS</a:t>
            </a:r>
          </a:p>
        </p:txBody>
      </p:sp>
      <p:grpSp>
        <p:nvGrpSpPr>
          <p:cNvPr name="Group 8" id="8"/>
          <p:cNvGrpSpPr/>
          <p:nvPr/>
        </p:nvGrpSpPr>
        <p:grpSpPr>
          <a:xfrm rot="0">
            <a:off x="-1142495" y="3313760"/>
            <a:ext cx="16005557" cy="2362057"/>
            <a:chOff x="0" y="0"/>
            <a:chExt cx="4499839" cy="664074"/>
          </a:xfrm>
        </p:grpSpPr>
        <p:sp>
          <p:nvSpPr>
            <p:cNvPr name="Freeform 9" id="9"/>
            <p:cNvSpPr/>
            <p:nvPr/>
          </p:nvSpPr>
          <p:spPr>
            <a:xfrm flipH="false" flipV="false" rot="0">
              <a:off x="0" y="0"/>
              <a:ext cx="4499840" cy="664074"/>
            </a:xfrm>
            <a:custGeom>
              <a:avLst/>
              <a:gdLst/>
              <a:ahLst/>
              <a:cxnLst/>
              <a:rect r="r" b="b" t="t" l="l"/>
              <a:pathLst>
                <a:path h="664074" w="4499840">
                  <a:moveTo>
                    <a:pt x="16446" y="0"/>
                  </a:moveTo>
                  <a:lnTo>
                    <a:pt x="4483394" y="0"/>
                  </a:lnTo>
                  <a:cubicBezTo>
                    <a:pt x="4487756" y="0"/>
                    <a:pt x="4491939" y="1733"/>
                    <a:pt x="4495023" y="4817"/>
                  </a:cubicBezTo>
                  <a:cubicBezTo>
                    <a:pt x="4498107" y="7901"/>
                    <a:pt x="4499840" y="12084"/>
                    <a:pt x="4499840" y="16446"/>
                  </a:cubicBezTo>
                  <a:lnTo>
                    <a:pt x="4499840" y="647628"/>
                  </a:lnTo>
                  <a:cubicBezTo>
                    <a:pt x="4499840" y="651990"/>
                    <a:pt x="4498107" y="656173"/>
                    <a:pt x="4495023" y="659257"/>
                  </a:cubicBezTo>
                  <a:cubicBezTo>
                    <a:pt x="4491939" y="662341"/>
                    <a:pt x="4487756" y="664074"/>
                    <a:pt x="4483394" y="664074"/>
                  </a:cubicBezTo>
                  <a:lnTo>
                    <a:pt x="16446" y="664074"/>
                  </a:lnTo>
                  <a:cubicBezTo>
                    <a:pt x="7363" y="664074"/>
                    <a:pt x="0" y="656711"/>
                    <a:pt x="0" y="647628"/>
                  </a:cubicBezTo>
                  <a:lnTo>
                    <a:pt x="0" y="16446"/>
                  </a:lnTo>
                  <a:cubicBezTo>
                    <a:pt x="0" y="7363"/>
                    <a:pt x="7363" y="0"/>
                    <a:pt x="16446" y="0"/>
                  </a:cubicBezTo>
                  <a:close/>
                </a:path>
              </a:pathLst>
            </a:custGeom>
            <a:solidFill>
              <a:srgbClr val="1E3B50">
                <a:alpha val="65882"/>
              </a:srgbClr>
            </a:solidFill>
          </p:spPr>
        </p:sp>
        <p:sp>
          <p:nvSpPr>
            <p:cNvPr name="TextBox 10" id="10"/>
            <p:cNvSpPr txBox="true"/>
            <p:nvPr/>
          </p:nvSpPr>
          <p:spPr>
            <a:xfrm>
              <a:off x="0" y="-47625"/>
              <a:ext cx="4499839" cy="711699"/>
            </a:xfrm>
            <a:prstGeom prst="rect">
              <a:avLst/>
            </a:prstGeom>
          </p:spPr>
          <p:txBody>
            <a:bodyPr anchor="ctr" rtlCol="false" tIns="50800" lIns="50800" bIns="50800" rIns="50800"/>
            <a:lstStyle/>
            <a:p>
              <a:pPr algn="ctr">
                <a:lnSpc>
                  <a:spcPts val="3640"/>
                </a:lnSpc>
              </a:pPr>
            </a:p>
          </p:txBody>
        </p:sp>
      </p:grpSp>
      <p:sp>
        <p:nvSpPr>
          <p:cNvPr name="TextBox 11" id="11"/>
          <p:cNvSpPr txBox="true"/>
          <p:nvPr/>
        </p:nvSpPr>
        <p:spPr>
          <a:xfrm rot="0">
            <a:off x="3527277" y="3396651"/>
            <a:ext cx="9735614" cy="1996207"/>
          </a:xfrm>
          <a:prstGeom prst="rect">
            <a:avLst/>
          </a:prstGeom>
        </p:spPr>
        <p:txBody>
          <a:bodyPr anchor="t" rtlCol="false" tIns="0" lIns="0" bIns="0" rIns="0">
            <a:spAutoFit/>
          </a:bodyPr>
          <a:lstStyle/>
          <a:p>
            <a:pPr algn="l" marL="601748" indent="-300874" lvl="1">
              <a:lnSpc>
                <a:spcPts val="5462"/>
              </a:lnSpc>
              <a:buFont typeface="Arial"/>
              <a:buChar char="•"/>
            </a:pPr>
            <a:r>
              <a:rPr lang="en-US" sz="2787">
                <a:solidFill>
                  <a:srgbClr val="DCDDDD"/>
                </a:solidFill>
                <a:latin typeface="League Spartan"/>
                <a:ea typeface="League Spartan"/>
                <a:cs typeface="League Spartan"/>
                <a:sym typeface="League Spartan"/>
              </a:rPr>
              <a:t>Player-defined naming vs retail product naming</a:t>
            </a:r>
          </a:p>
          <a:p>
            <a:pPr algn="l" marL="601748" indent="-300874" lvl="1">
              <a:lnSpc>
                <a:spcPts val="5462"/>
              </a:lnSpc>
              <a:buFont typeface="Arial"/>
              <a:buChar char="•"/>
            </a:pPr>
            <a:r>
              <a:rPr lang="en-US" sz="2787">
                <a:solidFill>
                  <a:srgbClr val="DCDDDD"/>
                </a:solidFill>
                <a:latin typeface="League Spartan"/>
                <a:ea typeface="League Spartan"/>
                <a:cs typeface="League Spartan"/>
                <a:sym typeface="League Spartan"/>
              </a:rPr>
              <a:t>Systematic text normalization</a:t>
            </a:r>
          </a:p>
          <a:p>
            <a:pPr algn="l" marL="601748" indent="-300874" lvl="1">
              <a:lnSpc>
                <a:spcPts val="5462"/>
              </a:lnSpc>
              <a:buFont typeface="Arial"/>
              <a:buChar char="•"/>
            </a:pPr>
            <a:r>
              <a:rPr lang="en-US" sz="2787">
                <a:solidFill>
                  <a:srgbClr val="DCDDDD"/>
                </a:solidFill>
                <a:latin typeface="League Spartan"/>
                <a:ea typeface="League Spartan"/>
                <a:cs typeface="League Spartan"/>
                <a:sym typeface="League Spartan"/>
              </a:rPr>
              <a:t>Curated mapping dictionary</a:t>
            </a:r>
          </a:p>
        </p:txBody>
      </p:sp>
      <p:sp>
        <p:nvSpPr>
          <p:cNvPr name="TextBox 12" id="12"/>
          <p:cNvSpPr txBox="true"/>
          <p:nvPr/>
        </p:nvSpPr>
        <p:spPr>
          <a:xfrm rot="0">
            <a:off x="1486083" y="2236455"/>
            <a:ext cx="11308208" cy="700791"/>
          </a:xfrm>
          <a:prstGeom prst="rect">
            <a:avLst/>
          </a:prstGeom>
        </p:spPr>
        <p:txBody>
          <a:bodyPr anchor="t" rtlCol="false" tIns="0" lIns="0" bIns="0" rIns="0">
            <a:spAutoFit/>
          </a:bodyPr>
          <a:lstStyle/>
          <a:p>
            <a:pPr algn="l">
              <a:lnSpc>
                <a:spcPts val="5666"/>
              </a:lnSpc>
              <a:spcBef>
                <a:spcPct val="0"/>
              </a:spcBef>
            </a:pPr>
            <a:r>
              <a:rPr lang="en-US" sz="4047">
                <a:solidFill>
                  <a:srgbClr val="DCDDDD"/>
                </a:solidFill>
                <a:latin typeface="Black Ops One"/>
                <a:ea typeface="Black Ops One"/>
                <a:cs typeface="Black Ops One"/>
                <a:sym typeface="Black Ops One"/>
              </a:rPr>
              <a:t> Unit Name Alignment Across Datasets</a:t>
            </a:r>
          </a:p>
        </p:txBody>
      </p:sp>
      <p:sp>
        <p:nvSpPr>
          <p:cNvPr name="TextBox 13" id="13"/>
          <p:cNvSpPr txBox="true"/>
          <p:nvPr/>
        </p:nvSpPr>
        <p:spPr>
          <a:xfrm rot="0">
            <a:off x="1392715" y="636340"/>
            <a:ext cx="381175" cy="373310"/>
          </a:xfrm>
          <a:prstGeom prst="rect">
            <a:avLst/>
          </a:prstGeom>
        </p:spPr>
        <p:txBody>
          <a:bodyPr anchor="t" rtlCol="false" tIns="0" lIns="0" bIns="0" rIns="0">
            <a:spAutoFit/>
          </a:bodyPr>
          <a:lstStyle/>
          <a:p>
            <a:pPr algn="l">
              <a:lnSpc>
                <a:spcPts val="2912"/>
              </a:lnSpc>
              <a:spcBef>
                <a:spcPct val="0"/>
              </a:spcBef>
            </a:pPr>
            <a:r>
              <a:rPr lang="en-US" sz="2080">
                <a:solidFill>
                  <a:srgbClr val="DCDDDD"/>
                </a:solidFill>
                <a:latin typeface="Black Ops One"/>
                <a:ea typeface="Black Ops One"/>
                <a:cs typeface="Black Ops One"/>
                <a:sym typeface="Black Ops One"/>
              </a:rPr>
              <a:t>ST</a:t>
            </a:r>
          </a:p>
        </p:txBody>
      </p:sp>
      <p:grpSp>
        <p:nvGrpSpPr>
          <p:cNvPr name="Group 14" id="14"/>
          <p:cNvGrpSpPr/>
          <p:nvPr/>
        </p:nvGrpSpPr>
        <p:grpSpPr>
          <a:xfrm rot="0">
            <a:off x="8562977" y="6456867"/>
            <a:ext cx="10498019" cy="1100857"/>
            <a:chOff x="0" y="0"/>
            <a:chExt cx="2951437" cy="309497"/>
          </a:xfrm>
        </p:grpSpPr>
        <p:sp>
          <p:nvSpPr>
            <p:cNvPr name="Freeform 15" id="15"/>
            <p:cNvSpPr/>
            <p:nvPr/>
          </p:nvSpPr>
          <p:spPr>
            <a:xfrm flipH="false" flipV="false" rot="0">
              <a:off x="0" y="0"/>
              <a:ext cx="2951437" cy="309497"/>
            </a:xfrm>
            <a:custGeom>
              <a:avLst/>
              <a:gdLst/>
              <a:ahLst/>
              <a:cxnLst/>
              <a:rect r="r" b="b" t="t" l="l"/>
              <a:pathLst>
                <a:path h="309497" w="2951437">
                  <a:moveTo>
                    <a:pt x="25074" y="0"/>
                  </a:moveTo>
                  <a:lnTo>
                    <a:pt x="2926364" y="0"/>
                  </a:lnTo>
                  <a:cubicBezTo>
                    <a:pt x="2940212" y="0"/>
                    <a:pt x="2951437" y="11226"/>
                    <a:pt x="2951437" y="25074"/>
                  </a:cubicBezTo>
                  <a:lnTo>
                    <a:pt x="2951437" y="284424"/>
                  </a:lnTo>
                  <a:cubicBezTo>
                    <a:pt x="2951437" y="298271"/>
                    <a:pt x="2940212" y="309497"/>
                    <a:pt x="2926364" y="309497"/>
                  </a:cubicBezTo>
                  <a:lnTo>
                    <a:pt x="25074" y="309497"/>
                  </a:lnTo>
                  <a:cubicBezTo>
                    <a:pt x="18424" y="309497"/>
                    <a:pt x="12046" y="306856"/>
                    <a:pt x="7344" y="302153"/>
                  </a:cubicBezTo>
                  <a:cubicBezTo>
                    <a:pt x="2642" y="297451"/>
                    <a:pt x="0" y="291074"/>
                    <a:pt x="0" y="284424"/>
                  </a:cubicBezTo>
                  <a:lnTo>
                    <a:pt x="0" y="25074"/>
                  </a:lnTo>
                  <a:cubicBezTo>
                    <a:pt x="0" y="18424"/>
                    <a:pt x="2642" y="12046"/>
                    <a:pt x="7344" y="7344"/>
                  </a:cubicBezTo>
                  <a:cubicBezTo>
                    <a:pt x="12046" y="2642"/>
                    <a:pt x="18424" y="0"/>
                    <a:pt x="25074" y="0"/>
                  </a:cubicBezTo>
                  <a:close/>
                </a:path>
              </a:pathLst>
            </a:custGeom>
            <a:solidFill>
              <a:srgbClr val="1E3B50">
                <a:alpha val="65882"/>
              </a:srgbClr>
            </a:solidFill>
          </p:spPr>
        </p:sp>
        <p:sp>
          <p:nvSpPr>
            <p:cNvPr name="TextBox 16" id="16"/>
            <p:cNvSpPr txBox="true"/>
            <p:nvPr/>
          </p:nvSpPr>
          <p:spPr>
            <a:xfrm>
              <a:off x="0" y="-47625"/>
              <a:ext cx="2951437" cy="357122"/>
            </a:xfrm>
            <a:prstGeom prst="rect">
              <a:avLst/>
            </a:prstGeom>
          </p:spPr>
          <p:txBody>
            <a:bodyPr anchor="ctr" rtlCol="false" tIns="50800" lIns="50800" bIns="50800" rIns="50800"/>
            <a:lstStyle/>
            <a:p>
              <a:pPr algn="ctr">
                <a:lnSpc>
                  <a:spcPts val="3640"/>
                </a:lnSpc>
              </a:pPr>
            </a:p>
          </p:txBody>
        </p:sp>
      </p:grpSp>
      <p:sp>
        <p:nvSpPr>
          <p:cNvPr name="TextBox 17" id="17"/>
          <p:cNvSpPr txBox="true"/>
          <p:nvPr/>
        </p:nvSpPr>
        <p:spPr>
          <a:xfrm rot="0">
            <a:off x="9383717" y="6620987"/>
            <a:ext cx="7802121" cy="696762"/>
          </a:xfrm>
          <a:prstGeom prst="rect">
            <a:avLst/>
          </a:prstGeom>
        </p:spPr>
        <p:txBody>
          <a:bodyPr anchor="t" rtlCol="false" tIns="0" lIns="0" bIns="0" rIns="0">
            <a:spAutoFit/>
          </a:bodyPr>
          <a:lstStyle/>
          <a:p>
            <a:pPr algn="l">
              <a:lnSpc>
                <a:spcPts val="5666"/>
              </a:lnSpc>
            </a:pPr>
            <a:r>
              <a:rPr lang="en-US" sz="4047">
                <a:solidFill>
                  <a:srgbClr val="DCDDDD"/>
                </a:solidFill>
                <a:latin typeface="Black Ops One"/>
                <a:ea typeface="Black Ops One"/>
                <a:cs typeface="Black Ops One"/>
                <a:sym typeface="Black Ops One"/>
              </a:rPr>
              <a:t>Pricing Data Deduplication</a:t>
            </a:r>
          </a:p>
        </p:txBody>
      </p:sp>
      <p:grpSp>
        <p:nvGrpSpPr>
          <p:cNvPr name="Group 18" id="18"/>
          <p:cNvGrpSpPr/>
          <p:nvPr/>
        </p:nvGrpSpPr>
        <p:grpSpPr>
          <a:xfrm rot="0">
            <a:off x="5091176" y="7700598"/>
            <a:ext cx="13791186" cy="1951988"/>
            <a:chOff x="0" y="0"/>
            <a:chExt cx="3877286" cy="548786"/>
          </a:xfrm>
        </p:grpSpPr>
        <p:sp>
          <p:nvSpPr>
            <p:cNvPr name="Freeform 19" id="19"/>
            <p:cNvSpPr/>
            <p:nvPr/>
          </p:nvSpPr>
          <p:spPr>
            <a:xfrm flipH="false" flipV="false" rot="0">
              <a:off x="0" y="0"/>
              <a:ext cx="3877286" cy="548786"/>
            </a:xfrm>
            <a:custGeom>
              <a:avLst/>
              <a:gdLst/>
              <a:ahLst/>
              <a:cxnLst/>
              <a:rect r="r" b="b" t="t" l="l"/>
              <a:pathLst>
                <a:path h="548786" w="3877286">
                  <a:moveTo>
                    <a:pt x="19086" y="0"/>
                  </a:moveTo>
                  <a:lnTo>
                    <a:pt x="3858200" y="0"/>
                  </a:lnTo>
                  <a:cubicBezTo>
                    <a:pt x="3863262" y="0"/>
                    <a:pt x="3868117" y="2011"/>
                    <a:pt x="3871696" y="5590"/>
                  </a:cubicBezTo>
                  <a:cubicBezTo>
                    <a:pt x="3875275" y="9170"/>
                    <a:pt x="3877286" y="14024"/>
                    <a:pt x="3877286" y="19086"/>
                  </a:cubicBezTo>
                  <a:lnTo>
                    <a:pt x="3877286" y="529700"/>
                  </a:lnTo>
                  <a:cubicBezTo>
                    <a:pt x="3877286" y="534762"/>
                    <a:pt x="3875275" y="539617"/>
                    <a:pt x="3871696" y="543196"/>
                  </a:cubicBezTo>
                  <a:cubicBezTo>
                    <a:pt x="3868117" y="546776"/>
                    <a:pt x="3863262" y="548786"/>
                    <a:pt x="3858200" y="548786"/>
                  </a:cubicBezTo>
                  <a:lnTo>
                    <a:pt x="19086" y="548786"/>
                  </a:lnTo>
                  <a:cubicBezTo>
                    <a:pt x="14024" y="548786"/>
                    <a:pt x="9170" y="546776"/>
                    <a:pt x="5590" y="543196"/>
                  </a:cubicBezTo>
                  <a:cubicBezTo>
                    <a:pt x="2011" y="539617"/>
                    <a:pt x="0" y="534762"/>
                    <a:pt x="0" y="529700"/>
                  </a:cubicBezTo>
                  <a:lnTo>
                    <a:pt x="0" y="19086"/>
                  </a:lnTo>
                  <a:cubicBezTo>
                    <a:pt x="0" y="14024"/>
                    <a:pt x="2011" y="9170"/>
                    <a:pt x="5590" y="5590"/>
                  </a:cubicBezTo>
                  <a:cubicBezTo>
                    <a:pt x="9170" y="2011"/>
                    <a:pt x="14024" y="0"/>
                    <a:pt x="19086" y="0"/>
                  </a:cubicBezTo>
                  <a:close/>
                </a:path>
              </a:pathLst>
            </a:custGeom>
            <a:solidFill>
              <a:srgbClr val="1E3B50">
                <a:alpha val="65882"/>
              </a:srgbClr>
            </a:solidFill>
          </p:spPr>
        </p:sp>
        <p:sp>
          <p:nvSpPr>
            <p:cNvPr name="TextBox 20" id="20"/>
            <p:cNvSpPr txBox="true"/>
            <p:nvPr/>
          </p:nvSpPr>
          <p:spPr>
            <a:xfrm>
              <a:off x="0" y="-47625"/>
              <a:ext cx="3877286" cy="596411"/>
            </a:xfrm>
            <a:prstGeom prst="rect">
              <a:avLst/>
            </a:prstGeom>
          </p:spPr>
          <p:txBody>
            <a:bodyPr anchor="ctr" rtlCol="false" tIns="50800" lIns="50800" bIns="50800" rIns="50800"/>
            <a:lstStyle/>
            <a:p>
              <a:pPr algn="ctr">
                <a:lnSpc>
                  <a:spcPts val="3640"/>
                </a:lnSpc>
              </a:pPr>
            </a:p>
          </p:txBody>
        </p:sp>
      </p:grpSp>
      <p:sp>
        <p:nvSpPr>
          <p:cNvPr name="TextBox 21" id="21"/>
          <p:cNvSpPr txBox="true"/>
          <p:nvPr/>
        </p:nvSpPr>
        <p:spPr>
          <a:xfrm rot="0">
            <a:off x="6636379" y="7930704"/>
            <a:ext cx="10412227" cy="1307836"/>
          </a:xfrm>
          <a:prstGeom prst="rect">
            <a:avLst/>
          </a:prstGeom>
        </p:spPr>
        <p:txBody>
          <a:bodyPr anchor="t" rtlCol="false" tIns="0" lIns="0" bIns="0" rIns="0">
            <a:spAutoFit/>
          </a:bodyPr>
          <a:lstStyle/>
          <a:p>
            <a:pPr algn="l" marL="601748" indent="-300874" lvl="1">
              <a:lnSpc>
                <a:spcPts val="5462"/>
              </a:lnSpc>
              <a:buFont typeface="Arial"/>
              <a:buChar char="•"/>
            </a:pPr>
            <a:r>
              <a:rPr lang="en-US" sz="2787">
                <a:solidFill>
                  <a:srgbClr val="DCDDDD"/>
                </a:solidFill>
                <a:latin typeface="League Spartan"/>
                <a:ea typeface="League Spartan"/>
                <a:cs typeface="League Spartan"/>
                <a:sym typeface="League Spartan"/>
              </a:rPr>
              <a:t> D</a:t>
            </a:r>
            <a:r>
              <a:rPr lang="en-US" sz="2787">
                <a:solidFill>
                  <a:srgbClr val="DCDDDD"/>
                </a:solidFill>
                <a:latin typeface="League Spartan"/>
                <a:ea typeface="League Spartan"/>
                <a:cs typeface="League Spartan"/>
                <a:sym typeface="League Spartan"/>
              </a:rPr>
              <a:t>eduplicated pricing reference</a:t>
            </a:r>
          </a:p>
          <a:p>
            <a:pPr algn="l" marL="601748" indent="-300874" lvl="1">
              <a:lnSpc>
                <a:spcPts val="5462"/>
              </a:lnSpc>
              <a:buFont typeface="Arial"/>
              <a:buChar char="•"/>
            </a:pPr>
            <a:r>
              <a:rPr lang="en-US" sz="2787">
                <a:solidFill>
                  <a:srgbClr val="DCDDDD"/>
                </a:solidFill>
                <a:latin typeface="League Spartan"/>
                <a:ea typeface="League Spartan"/>
                <a:cs typeface="League Spartan"/>
                <a:sym typeface="League Spartan"/>
              </a:rPr>
              <a:t>One-to-one join between units and prices ensured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24A5B"/>
        </a:solidFill>
      </p:bgPr>
    </p:bg>
    <p:spTree>
      <p:nvGrpSpPr>
        <p:cNvPr id="1" name=""/>
        <p:cNvGrpSpPr/>
        <p:nvPr/>
      </p:nvGrpSpPr>
      <p:grpSpPr>
        <a:xfrm>
          <a:off x="0" y="0"/>
          <a:ext cx="0" cy="0"/>
          <a:chOff x="0" y="0"/>
          <a:chExt cx="0" cy="0"/>
        </a:xfrm>
      </p:grpSpPr>
      <p:sp>
        <p:nvSpPr>
          <p:cNvPr name="Freeform 2" id="2"/>
          <p:cNvSpPr/>
          <p:nvPr/>
        </p:nvSpPr>
        <p:spPr>
          <a:xfrm flipH="false" flipV="false" rot="0">
            <a:off x="0" y="-623955"/>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39000"/>
            </a:blip>
            <a:stretch>
              <a:fillRect l="0" t="0" r="0" b="0"/>
            </a:stretch>
          </a:blipFill>
        </p:spPr>
      </p:sp>
      <p:grpSp>
        <p:nvGrpSpPr>
          <p:cNvPr name="Group 3" id="3"/>
          <p:cNvGrpSpPr/>
          <p:nvPr/>
        </p:nvGrpSpPr>
        <p:grpSpPr>
          <a:xfrm rot="0">
            <a:off x="-1142495" y="1888491"/>
            <a:ext cx="14405386" cy="1104886"/>
            <a:chOff x="0" y="0"/>
            <a:chExt cx="4049964" cy="310630"/>
          </a:xfrm>
        </p:grpSpPr>
        <p:sp>
          <p:nvSpPr>
            <p:cNvPr name="Freeform 4" id="4"/>
            <p:cNvSpPr/>
            <p:nvPr/>
          </p:nvSpPr>
          <p:spPr>
            <a:xfrm flipH="false" flipV="false" rot="0">
              <a:off x="0" y="0"/>
              <a:ext cx="4049964" cy="310630"/>
            </a:xfrm>
            <a:custGeom>
              <a:avLst/>
              <a:gdLst/>
              <a:ahLst/>
              <a:cxnLst/>
              <a:rect r="r" b="b" t="t" l="l"/>
              <a:pathLst>
                <a:path h="310630" w="4049964">
                  <a:moveTo>
                    <a:pt x="18273" y="0"/>
                  </a:moveTo>
                  <a:lnTo>
                    <a:pt x="4031691" y="0"/>
                  </a:lnTo>
                  <a:cubicBezTo>
                    <a:pt x="4036537" y="0"/>
                    <a:pt x="4041185" y="1925"/>
                    <a:pt x="4044612" y="5352"/>
                  </a:cubicBezTo>
                  <a:cubicBezTo>
                    <a:pt x="4048039" y="8779"/>
                    <a:pt x="4049964" y="13426"/>
                    <a:pt x="4049964" y="18273"/>
                  </a:cubicBezTo>
                  <a:lnTo>
                    <a:pt x="4049964" y="292357"/>
                  </a:lnTo>
                  <a:cubicBezTo>
                    <a:pt x="4049964" y="297204"/>
                    <a:pt x="4048039" y="301851"/>
                    <a:pt x="4044612" y="305278"/>
                  </a:cubicBezTo>
                  <a:cubicBezTo>
                    <a:pt x="4041185" y="308705"/>
                    <a:pt x="4036537" y="310630"/>
                    <a:pt x="4031691" y="310630"/>
                  </a:cubicBezTo>
                  <a:lnTo>
                    <a:pt x="18273" y="310630"/>
                  </a:lnTo>
                  <a:cubicBezTo>
                    <a:pt x="13426" y="310630"/>
                    <a:pt x="8779" y="308705"/>
                    <a:pt x="5352" y="305278"/>
                  </a:cubicBezTo>
                  <a:cubicBezTo>
                    <a:pt x="1925" y="301851"/>
                    <a:pt x="0" y="297204"/>
                    <a:pt x="0" y="292357"/>
                  </a:cubicBezTo>
                  <a:lnTo>
                    <a:pt x="0" y="18273"/>
                  </a:lnTo>
                  <a:cubicBezTo>
                    <a:pt x="0" y="13426"/>
                    <a:pt x="1925" y="8779"/>
                    <a:pt x="5352" y="5352"/>
                  </a:cubicBezTo>
                  <a:cubicBezTo>
                    <a:pt x="8779" y="1925"/>
                    <a:pt x="13426" y="0"/>
                    <a:pt x="18273" y="0"/>
                  </a:cubicBezTo>
                  <a:close/>
                </a:path>
              </a:pathLst>
            </a:custGeom>
            <a:solidFill>
              <a:srgbClr val="1E3B50">
                <a:alpha val="65882"/>
              </a:srgbClr>
            </a:solidFill>
          </p:spPr>
        </p:sp>
        <p:sp>
          <p:nvSpPr>
            <p:cNvPr name="TextBox 5" id="5"/>
            <p:cNvSpPr txBox="true"/>
            <p:nvPr/>
          </p:nvSpPr>
          <p:spPr>
            <a:xfrm>
              <a:off x="0" y="-47625"/>
              <a:ext cx="4049964" cy="358255"/>
            </a:xfrm>
            <a:prstGeom prst="rect">
              <a:avLst/>
            </a:prstGeom>
          </p:spPr>
          <p:txBody>
            <a:bodyPr anchor="ctr" rtlCol="false" tIns="50800" lIns="50800" bIns="50800" rIns="50800"/>
            <a:lstStyle/>
            <a:p>
              <a:pPr algn="ctr">
                <a:lnSpc>
                  <a:spcPts val="3640"/>
                </a:lnSpc>
              </a:pPr>
            </a:p>
          </p:txBody>
        </p:sp>
      </p:grpSp>
      <p:sp>
        <p:nvSpPr>
          <p:cNvPr name="AutoShape 6" id="6"/>
          <p:cNvSpPr/>
          <p:nvPr/>
        </p:nvSpPr>
        <p:spPr>
          <a:xfrm flipV="true">
            <a:off x="1028740" y="1450341"/>
            <a:ext cx="8975748" cy="19050"/>
          </a:xfrm>
          <a:prstGeom prst="line">
            <a:avLst/>
          </a:prstGeom>
          <a:ln cap="flat" w="38100">
            <a:solidFill>
              <a:srgbClr val="DCDDDD"/>
            </a:solidFill>
            <a:prstDash val="solid"/>
            <a:headEnd type="none" len="sm" w="sm"/>
            <a:tailEnd type="none" len="sm" w="sm"/>
          </a:ln>
        </p:spPr>
      </p:sp>
      <p:sp>
        <p:nvSpPr>
          <p:cNvPr name="TextBox 7" id="7"/>
          <p:cNvSpPr txBox="true"/>
          <p:nvPr/>
        </p:nvSpPr>
        <p:spPr>
          <a:xfrm rot="0">
            <a:off x="1019215" y="454659"/>
            <a:ext cx="10172004" cy="995682"/>
          </a:xfrm>
          <a:prstGeom prst="rect">
            <a:avLst/>
          </a:prstGeom>
        </p:spPr>
        <p:txBody>
          <a:bodyPr anchor="t" rtlCol="false" tIns="0" lIns="0" bIns="0" rIns="0">
            <a:spAutoFit/>
          </a:bodyPr>
          <a:lstStyle/>
          <a:p>
            <a:pPr algn="l">
              <a:lnSpc>
                <a:spcPts val="8119"/>
              </a:lnSpc>
              <a:spcBef>
                <a:spcPct val="0"/>
              </a:spcBef>
            </a:pPr>
            <a:r>
              <a:rPr lang="en-US" sz="5799">
                <a:solidFill>
                  <a:srgbClr val="DCDDDD"/>
                </a:solidFill>
                <a:latin typeface="Black Ops One"/>
                <a:ea typeface="Black Ops One"/>
                <a:cs typeface="Black Ops One"/>
                <a:sym typeface="Black Ops One"/>
              </a:rPr>
              <a:t>2   PROBLEM SOLU</a:t>
            </a:r>
            <a:r>
              <a:rPr lang="en-US" sz="5799">
                <a:solidFill>
                  <a:srgbClr val="DCDDDD"/>
                </a:solidFill>
                <a:latin typeface="Black Ops One"/>
                <a:ea typeface="Black Ops One"/>
                <a:cs typeface="Black Ops One"/>
                <a:sym typeface="Black Ops One"/>
              </a:rPr>
              <a:t>TION</a:t>
            </a:r>
          </a:p>
        </p:txBody>
      </p:sp>
      <p:grpSp>
        <p:nvGrpSpPr>
          <p:cNvPr name="Group 8" id="8"/>
          <p:cNvGrpSpPr/>
          <p:nvPr/>
        </p:nvGrpSpPr>
        <p:grpSpPr>
          <a:xfrm rot="0">
            <a:off x="-1142495" y="3313760"/>
            <a:ext cx="16005557" cy="5625163"/>
            <a:chOff x="0" y="0"/>
            <a:chExt cx="4499839" cy="1581471"/>
          </a:xfrm>
        </p:grpSpPr>
        <p:sp>
          <p:nvSpPr>
            <p:cNvPr name="Freeform 9" id="9"/>
            <p:cNvSpPr/>
            <p:nvPr/>
          </p:nvSpPr>
          <p:spPr>
            <a:xfrm flipH="false" flipV="false" rot="0">
              <a:off x="0" y="0"/>
              <a:ext cx="4499840" cy="1581471"/>
            </a:xfrm>
            <a:custGeom>
              <a:avLst/>
              <a:gdLst/>
              <a:ahLst/>
              <a:cxnLst/>
              <a:rect r="r" b="b" t="t" l="l"/>
              <a:pathLst>
                <a:path h="1581471" w="4499840">
                  <a:moveTo>
                    <a:pt x="16446" y="0"/>
                  </a:moveTo>
                  <a:lnTo>
                    <a:pt x="4483394" y="0"/>
                  </a:lnTo>
                  <a:cubicBezTo>
                    <a:pt x="4487756" y="0"/>
                    <a:pt x="4491939" y="1733"/>
                    <a:pt x="4495023" y="4817"/>
                  </a:cubicBezTo>
                  <a:cubicBezTo>
                    <a:pt x="4498107" y="7901"/>
                    <a:pt x="4499840" y="12084"/>
                    <a:pt x="4499840" y="16446"/>
                  </a:cubicBezTo>
                  <a:lnTo>
                    <a:pt x="4499840" y="1565026"/>
                  </a:lnTo>
                  <a:cubicBezTo>
                    <a:pt x="4499840" y="1574108"/>
                    <a:pt x="4492477" y="1581471"/>
                    <a:pt x="4483394" y="1581471"/>
                  </a:cubicBezTo>
                  <a:lnTo>
                    <a:pt x="16446" y="1581471"/>
                  </a:lnTo>
                  <a:cubicBezTo>
                    <a:pt x="12084" y="1581471"/>
                    <a:pt x="7901" y="1579739"/>
                    <a:pt x="4817" y="1576655"/>
                  </a:cubicBezTo>
                  <a:cubicBezTo>
                    <a:pt x="1733" y="1573570"/>
                    <a:pt x="0" y="1569387"/>
                    <a:pt x="0" y="1565026"/>
                  </a:cubicBezTo>
                  <a:lnTo>
                    <a:pt x="0" y="16446"/>
                  </a:lnTo>
                  <a:cubicBezTo>
                    <a:pt x="0" y="7363"/>
                    <a:pt x="7363" y="0"/>
                    <a:pt x="16446" y="0"/>
                  </a:cubicBezTo>
                  <a:close/>
                </a:path>
              </a:pathLst>
            </a:custGeom>
            <a:solidFill>
              <a:srgbClr val="1E3B50">
                <a:alpha val="65882"/>
              </a:srgbClr>
            </a:solidFill>
          </p:spPr>
        </p:sp>
        <p:sp>
          <p:nvSpPr>
            <p:cNvPr name="TextBox 10" id="10"/>
            <p:cNvSpPr txBox="true"/>
            <p:nvPr/>
          </p:nvSpPr>
          <p:spPr>
            <a:xfrm>
              <a:off x="0" y="-47625"/>
              <a:ext cx="4499839" cy="1629096"/>
            </a:xfrm>
            <a:prstGeom prst="rect">
              <a:avLst/>
            </a:prstGeom>
          </p:spPr>
          <p:txBody>
            <a:bodyPr anchor="ctr" rtlCol="false" tIns="50800" lIns="50800" bIns="50800" rIns="50800"/>
            <a:lstStyle/>
            <a:p>
              <a:pPr algn="ctr">
                <a:lnSpc>
                  <a:spcPts val="3640"/>
                </a:lnSpc>
              </a:pPr>
            </a:p>
          </p:txBody>
        </p:sp>
      </p:grpSp>
      <p:sp>
        <p:nvSpPr>
          <p:cNvPr name="TextBox 11" id="11"/>
          <p:cNvSpPr txBox="true"/>
          <p:nvPr/>
        </p:nvSpPr>
        <p:spPr>
          <a:xfrm rot="0">
            <a:off x="1834744" y="4069702"/>
            <a:ext cx="10975529" cy="3764885"/>
          </a:xfrm>
          <a:prstGeom prst="rect">
            <a:avLst/>
          </a:prstGeom>
        </p:spPr>
        <p:txBody>
          <a:bodyPr anchor="t" rtlCol="false" tIns="0" lIns="0" bIns="0" rIns="0">
            <a:spAutoFit/>
          </a:bodyPr>
          <a:lstStyle/>
          <a:p>
            <a:pPr algn="l" marL="605026" indent="-302513" lvl="1">
              <a:lnSpc>
                <a:spcPts val="3643"/>
              </a:lnSpc>
              <a:buFont typeface="Arial"/>
              <a:buChar char="•"/>
            </a:pPr>
            <a:r>
              <a:rPr lang="en-US" sz="2802">
                <a:solidFill>
                  <a:srgbClr val="DCDDDD"/>
                </a:solidFill>
                <a:latin typeface="League Spartan"/>
                <a:ea typeface="League Spartan"/>
                <a:cs typeface="League Spartan"/>
                <a:sym typeface="League Spartan"/>
              </a:rPr>
              <a:t>Retail prices are associated with reference point values</a:t>
            </a:r>
          </a:p>
          <a:p>
            <a:pPr algn="l">
              <a:lnSpc>
                <a:spcPts val="3643"/>
              </a:lnSpc>
            </a:pPr>
          </a:p>
          <a:p>
            <a:pPr algn="l" marL="605026" indent="-302513" lvl="1">
              <a:lnSpc>
                <a:spcPts val="4063"/>
              </a:lnSpc>
              <a:buFont typeface="Arial"/>
              <a:buChar char="•"/>
            </a:pPr>
            <a:r>
              <a:rPr lang="en-US" sz="2802">
                <a:solidFill>
                  <a:srgbClr val="DCDDDD"/>
                </a:solidFill>
                <a:latin typeface="League Spartan"/>
                <a:ea typeface="League Spartan"/>
                <a:cs typeface="League Spartan"/>
                <a:sym typeface="League Spartan"/>
              </a:rPr>
              <a:t>Tournament units may include upgrades (≤ 40 points)   </a:t>
            </a:r>
          </a:p>
          <a:p>
            <a:pPr algn="l">
              <a:lnSpc>
                <a:spcPts val="4063"/>
              </a:lnSpc>
            </a:pPr>
            <a:r>
              <a:rPr lang="en-US" sz="2802">
                <a:solidFill>
                  <a:srgbClr val="DCDDDD"/>
                </a:solidFill>
                <a:latin typeface="League Spartan"/>
                <a:ea typeface="League Spartan"/>
                <a:cs typeface="League Spartan"/>
                <a:sym typeface="League Spartan"/>
              </a:rPr>
              <a:t>       or a higher number of models in the unit</a:t>
            </a:r>
          </a:p>
          <a:p>
            <a:pPr algn="l">
              <a:lnSpc>
                <a:spcPts val="3643"/>
              </a:lnSpc>
            </a:pPr>
          </a:p>
          <a:p>
            <a:pPr algn="l" marL="605026" indent="-302513" lvl="1">
              <a:lnSpc>
                <a:spcPts val="3643"/>
              </a:lnSpc>
              <a:buFont typeface="Arial"/>
              <a:buChar char="•"/>
            </a:pPr>
            <a:r>
              <a:rPr lang="en-US" sz="2802">
                <a:solidFill>
                  <a:srgbClr val="DCDDDD"/>
                </a:solidFill>
                <a:latin typeface="League Spartan"/>
                <a:ea typeface="League Spartan"/>
                <a:cs typeface="League Spartan"/>
                <a:sym typeface="League Spartan"/>
              </a:rPr>
              <a:t>Rule-based price scaling</a:t>
            </a:r>
          </a:p>
          <a:p>
            <a:pPr algn="l">
              <a:lnSpc>
                <a:spcPts val="3643"/>
              </a:lnSpc>
            </a:pPr>
          </a:p>
          <a:p>
            <a:pPr algn="l" marL="605026" indent="-302513" lvl="1">
              <a:lnSpc>
                <a:spcPts val="3643"/>
              </a:lnSpc>
              <a:buFont typeface="Arial"/>
              <a:buChar char="•"/>
            </a:pPr>
            <a:r>
              <a:rPr lang="en-US" sz="2802">
                <a:solidFill>
                  <a:srgbClr val="DCDDDD"/>
                </a:solidFill>
                <a:latin typeface="League Spartan"/>
                <a:ea typeface="League Spartan"/>
                <a:cs typeface="League Spartan"/>
                <a:sym typeface="League Spartan"/>
              </a:rPr>
              <a:t>Economic approximation of army composition</a:t>
            </a:r>
          </a:p>
        </p:txBody>
      </p:sp>
      <p:sp>
        <p:nvSpPr>
          <p:cNvPr name="TextBox 12" id="12"/>
          <p:cNvSpPr txBox="true"/>
          <p:nvPr/>
        </p:nvSpPr>
        <p:spPr>
          <a:xfrm rot="0">
            <a:off x="1028740" y="2047675"/>
            <a:ext cx="11308208" cy="700791"/>
          </a:xfrm>
          <a:prstGeom prst="rect">
            <a:avLst/>
          </a:prstGeom>
        </p:spPr>
        <p:txBody>
          <a:bodyPr anchor="t" rtlCol="false" tIns="0" lIns="0" bIns="0" rIns="0">
            <a:spAutoFit/>
          </a:bodyPr>
          <a:lstStyle/>
          <a:p>
            <a:pPr algn="l">
              <a:lnSpc>
                <a:spcPts val="5666"/>
              </a:lnSpc>
              <a:spcBef>
                <a:spcPct val="0"/>
              </a:spcBef>
            </a:pPr>
            <a:r>
              <a:rPr lang="en-US" sz="4047">
                <a:solidFill>
                  <a:srgbClr val="DCDDDD"/>
                </a:solidFill>
                <a:latin typeface="Black Ops One"/>
                <a:ea typeface="Black Ops One"/>
                <a:cs typeface="Black Ops One"/>
                <a:sym typeface="Black Ops One"/>
              </a:rPr>
              <a:t>From Points to Prices: Price Estimation</a:t>
            </a:r>
          </a:p>
        </p:txBody>
      </p:sp>
      <p:sp>
        <p:nvSpPr>
          <p:cNvPr name="TextBox 13" id="13"/>
          <p:cNvSpPr txBox="true"/>
          <p:nvPr/>
        </p:nvSpPr>
        <p:spPr>
          <a:xfrm rot="0">
            <a:off x="1600383" y="655390"/>
            <a:ext cx="468722" cy="373310"/>
          </a:xfrm>
          <a:prstGeom prst="rect">
            <a:avLst/>
          </a:prstGeom>
        </p:spPr>
        <p:txBody>
          <a:bodyPr anchor="t" rtlCol="false" tIns="0" lIns="0" bIns="0" rIns="0">
            <a:spAutoFit/>
          </a:bodyPr>
          <a:lstStyle/>
          <a:p>
            <a:pPr algn="l">
              <a:lnSpc>
                <a:spcPts val="2912"/>
              </a:lnSpc>
              <a:spcBef>
                <a:spcPct val="0"/>
              </a:spcBef>
            </a:pPr>
            <a:r>
              <a:rPr lang="en-US" sz="2080">
                <a:solidFill>
                  <a:srgbClr val="DCDDDD"/>
                </a:solidFill>
                <a:latin typeface="Black Ops One"/>
                <a:ea typeface="Black Ops One"/>
                <a:cs typeface="Black Ops One"/>
                <a:sym typeface="Black Ops One"/>
              </a:rPr>
              <a:t>ND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24A5B"/>
        </a:solidFill>
      </p:bgPr>
    </p:bg>
    <p:spTree>
      <p:nvGrpSpPr>
        <p:cNvPr id="1" name=""/>
        <p:cNvGrpSpPr/>
        <p:nvPr/>
      </p:nvGrpSpPr>
      <p:grpSpPr>
        <a:xfrm>
          <a:off x="0" y="0"/>
          <a:ext cx="0" cy="0"/>
          <a:chOff x="0" y="0"/>
          <a:chExt cx="0" cy="0"/>
        </a:xfrm>
      </p:grpSpPr>
      <p:sp>
        <p:nvSpPr>
          <p:cNvPr name="Freeform 2" id="2"/>
          <p:cNvSpPr/>
          <p:nvPr/>
        </p:nvSpPr>
        <p:spPr>
          <a:xfrm flipH="false" flipV="false" rot="0">
            <a:off x="0" y="-667728"/>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39000"/>
            </a:blip>
            <a:stretch>
              <a:fillRect l="0" t="0" r="0" b="0"/>
            </a:stretch>
          </a:blipFill>
        </p:spPr>
      </p:sp>
      <p:sp>
        <p:nvSpPr>
          <p:cNvPr name="AutoShape 3" id="3"/>
          <p:cNvSpPr/>
          <p:nvPr/>
        </p:nvSpPr>
        <p:spPr>
          <a:xfrm flipV="true">
            <a:off x="4700587" y="1660053"/>
            <a:ext cx="8115300" cy="0"/>
          </a:xfrm>
          <a:prstGeom prst="line">
            <a:avLst/>
          </a:prstGeom>
          <a:ln cap="flat" w="38100">
            <a:solidFill>
              <a:srgbClr val="DCDDDD"/>
            </a:solidFill>
            <a:prstDash val="solid"/>
            <a:headEnd type="none" len="sm" w="sm"/>
            <a:tailEnd type="none" len="sm" w="sm"/>
          </a:ln>
        </p:spPr>
      </p:sp>
      <p:grpSp>
        <p:nvGrpSpPr>
          <p:cNvPr name="Group 4" id="4"/>
          <p:cNvGrpSpPr/>
          <p:nvPr/>
        </p:nvGrpSpPr>
        <p:grpSpPr>
          <a:xfrm rot="0">
            <a:off x="1751677" y="2098284"/>
            <a:ext cx="6866185" cy="4033139"/>
            <a:chOff x="0" y="0"/>
            <a:chExt cx="1930375" cy="1133886"/>
          </a:xfrm>
        </p:grpSpPr>
        <p:sp>
          <p:nvSpPr>
            <p:cNvPr name="Freeform 5" id="5"/>
            <p:cNvSpPr/>
            <p:nvPr/>
          </p:nvSpPr>
          <p:spPr>
            <a:xfrm flipH="false" flipV="false" rot="0">
              <a:off x="0" y="0"/>
              <a:ext cx="1930375" cy="1133886"/>
            </a:xfrm>
            <a:custGeom>
              <a:avLst/>
              <a:gdLst/>
              <a:ahLst/>
              <a:cxnLst/>
              <a:rect r="r" b="b" t="t" l="l"/>
              <a:pathLst>
                <a:path h="1133886" w="1930375">
                  <a:moveTo>
                    <a:pt x="38336" y="0"/>
                  </a:moveTo>
                  <a:lnTo>
                    <a:pt x="1892039" y="0"/>
                  </a:lnTo>
                  <a:cubicBezTo>
                    <a:pt x="1902206" y="0"/>
                    <a:pt x="1911957" y="4039"/>
                    <a:pt x="1919147" y="11228"/>
                  </a:cubicBezTo>
                  <a:cubicBezTo>
                    <a:pt x="1926336" y="18418"/>
                    <a:pt x="1930375" y="28169"/>
                    <a:pt x="1930375" y="38336"/>
                  </a:cubicBezTo>
                  <a:lnTo>
                    <a:pt x="1930375" y="1095550"/>
                  </a:lnTo>
                  <a:cubicBezTo>
                    <a:pt x="1930375" y="1116722"/>
                    <a:pt x="1913211" y="1133886"/>
                    <a:pt x="1892039" y="1133886"/>
                  </a:cubicBezTo>
                  <a:lnTo>
                    <a:pt x="38336" y="1133886"/>
                  </a:lnTo>
                  <a:cubicBezTo>
                    <a:pt x="17164" y="1133886"/>
                    <a:pt x="0" y="1116722"/>
                    <a:pt x="0" y="1095550"/>
                  </a:cubicBezTo>
                  <a:lnTo>
                    <a:pt x="0" y="38336"/>
                  </a:lnTo>
                  <a:cubicBezTo>
                    <a:pt x="0" y="17164"/>
                    <a:pt x="17164" y="0"/>
                    <a:pt x="38336" y="0"/>
                  </a:cubicBezTo>
                  <a:close/>
                </a:path>
              </a:pathLst>
            </a:custGeom>
            <a:solidFill>
              <a:srgbClr val="1E3B50">
                <a:alpha val="65882"/>
              </a:srgbClr>
            </a:solidFill>
          </p:spPr>
        </p:sp>
        <p:sp>
          <p:nvSpPr>
            <p:cNvPr name="TextBox 6" id="6"/>
            <p:cNvSpPr txBox="true"/>
            <p:nvPr/>
          </p:nvSpPr>
          <p:spPr>
            <a:xfrm>
              <a:off x="0" y="-47625"/>
              <a:ext cx="1930375" cy="1181511"/>
            </a:xfrm>
            <a:prstGeom prst="rect">
              <a:avLst/>
            </a:prstGeom>
          </p:spPr>
          <p:txBody>
            <a:bodyPr anchor="ctr" rtlCol="false" tIns="50800" lIns="50800" bIns="50800" rIns="50800"/>
            <a:lstStyle/>
            <a:p>
              <a:pPr algn="ctr">
                <a:lnSpc>
                  <a:spcPts val="3640"/>
                </a:lnSpc>
              </a:pPr>
            </a:p>
          </p:txBody>
        </p:sp>
      </p:grpSp>
      <p:grpSp>
        <p:nvGrpSpPr>
          <p:cNvPr name="Group 7" id="7"/>
          <p:cNvGrpSpPr/>
          <p:nvPr/>
        </p:nvGrpSpPr>
        <p:grpSpPr>
          <a:xfrm rot="0">
            <a:off x="9670138" y="2098284"/>
            <a:ext cx="6866185" cy="4033139"/>
            <a:chOff x="0" y="0"/>
            <a:chExt cx="1930375" cy="1133886"/>
          </a:xfrm>
        </p:grpSpPr>
        <p:sp>
          <p:nvSpPr>
            <p:cNvPr name="Freeform 8" id="8"/>
            <p:cNvSpPr/>
            <p:nvPr/>
          </p:nvSpPr>
          <p:spPr>
            <a:xfrm flipH="false" flipV="false" rot="0">
              <a:off x="0" y="0"/>
              <a:ext cx="1930375" cy="1133886"/>
            </a:xfrm>
            <a:custGeom>
              <a:avLst/>
              <a:gdLst/>
              <a:ahLst/>
              <a:cxnLst/>
              <a:rect r="r" b="b" t="t" l="l"/>
              <a:pathLst>
                <a:path h="1133886" w="1930375">
                  <a:moveTo>
                    <a:pt x="38336" y="0"/>
                  </a:moveTo>
                  <a:lnTo>
                    <a:pt x="1892039" y="0"/>
                  </a:lnTo>
                  <a:cubicBezTo>
                    <a:pt x="1902206" y="0"/>
                    <a:pt x="1911957" y="4039"/>
                    <a:pt x="1919147" y="11228"/>
                  </a:cubicBezTo>
                  <a:cubicBezTo>
                    <a:pt x="1926336" y="18418"/>
                    <a:pt x="1930375" y="28169"/>
                    <a:pt x="1930375" y="38336"/>
                  </a:cubicBezTo>
                  <a:lnTo>
                    <a:pt x="1930375" y="1095550"/>
                  </a:lnTo>
                  <a:cubicBezTo>
                    <a:pt x="1930375" y="1116722"/>
                    <a:pt x="1913211" y="1133886"/>
                    <a:pt x="1892039" y="1133886"/>
                  </a:cubicBezTo>
                  <a:lnTo>
                    <a:pt x="38336" y="1133886"/>
                  </a:lnTo>
                  <a:cubicBezTo>
                    <a:pt x="17164" y="1133886"/>
                    <a:pt x="0" y="1116722"/>
                    <a:pt x="0" y="1095550"/>
                  </a:cubicBezTo>
                  <a:lnTo>
                    <a:pt x="0" y="38336"/>
                  </a:lnTo>
                  <a:cubicBezTo>
                    <a:pt x="0" y="17164"/>
                    <a:pt x="17164" y="0"/>
                    <a:pt x="38336" y="0"/>
                  </a:cubicBezTo>
                  <a:close/>
                </a:path>
              </a:pathLst>
            </a:custGeom>
            <a:solidFill>
              <a:srgbClr val="1E3B50">
                <a:alpha val="65882"/>
              </a:srgbClr>
            </a:solidFill>
          </p:spPr>
        </p:sp>
        <p:sp>
          <p:nvSpPr>
            <p:cNvPr name="TextBox 9" id="9"/>
            <p:cNvSpPr txBox="true"/>
            <p:nvPr/>
          </p:nvSpPr>
          <p:spPr>
            <a:xfrm>
              <a:off x="0" y="-47625"/>
              <a:ext cx="1930375" cy="1181511"/>
            </a:xfrm>
            <a:prstGeom prst="rect">
              <a:avLst/>
            </a:prstGeom>
          </p:spPr>
          <p:txBody>
            <a:bodyPr anchor="ctr" rtlCol="false" tIns="50800" lIns="50800" bIns="50800" rIns="50800"/>
            <a:lstStyle/>
            <a:p>
              <a:pPr algn="ctr">
                <a:lnSpc>
                  <a:spcPts val="3640"/>
                </a:lnSpc>
              </a:pPr>
            </a:p>
          </p:txBody>
        </p:sp>
      </p:grpSp>
      <p:sp>
        <p:nvSpPr>
          <p:cNvPr name="AutoShape 10" id="10"/>
          <p:cNvSpPr/>
          <p:nvPr/>
        </p:nvSpPr>
        <p:spPr>
          <a:xfrm>
            <a:off x="3374675" y="3402960"/>
            <a:ext cx="3620190" cy="0"/>
          </a:xfrm>
          <a:prstGeom prst="line">
            <a:avLst/>
          </a:prstGeom>
          <a:ln cap="flat" w="38100">
            <a:solidFill>
              <a:srgbClr val="DCDDDD"/>
            </a:solidFill>
            <a:prstDash val="solid"/>
            <a:headEnd type="none" len="sm" w="sm"/>
            <a:tailEnd type="none" len="sm" w="sm"/>
          </a:ln>
        </p:spPr>
      </p:sp>
      <p:sp>
        <p:nvSpPr>
          <p:cNvPr name="AutoShape 11" id="11"/>
          <p:cNvSpPr/>
          <p:nvPr/>
        </p:nvSpPr>
        <p:spPr>
          <a:xfrm>
            <a:off x="11293136" y="3383910"/>
            <a:ext cx="3620190" cy="0"/>
          </a:xfrm>
          <a:prstGeom prst="line">
            <a:avLst/>
          </a:prstGeom>
          <a:ln cap="flat" w="38100">
            <a:solidFill>
              <a:srgbClr val="DCDDDD"/>
            </a:solidFill>
            <a:prstDash val="solid"/>
            <a:headEnd type="none" len="sm" w="sm"/>
            <a:tailEnd type="none" len="sm" w="sm"/>
          </a:ln>
        </p:spPr>
      </p:sp>
      <p:grpSp>
        <p:nvGrpSpPr>
          <p:cNvPr name="Group 12" id="12"/>
          <p:cNvGrpSpPr/>
          <p:nvPr/>
        </p:nvGrpSpPr>
        <p:grpSpPr>
          <a:xfrm rot="0">
            <a:off x="2081027" y="6550523"/>
            <a:ext cx="2659512" cy="4174435"/>
            <a:chOff x="0" y="0"/>
            <a:chExt cx="747701" cy="1173610"/>
          </a:xfrm>
        </p:grpSpPr>
        <p:sp>
          <p:nvSpPr>
            <p:cNvPr name="Freeform 13" id="13"/>
            <p:cNvSpPr/>
            <p:nvPr/>
          </p:nvSpPr>
          <p:spPr>
            <a:xfrm flipH="false" flipV="false" rot="0">
              <a:off x="0" y="0"/>
              <a:ext cx="747701" cy="1173610"/>
            </a:xfrm>
            <a:custGeom>
              <a:avLst/>
              <a:gdLst/>
              <a:ahLst/>
              <a:cxnLst/>
              <a:rect r="r" b="b" t="t" l="l"/>
              <a:pathLst>
                <a:path h="1173610" w="747701">
                  <a:moveTo>
                    <a:pt x="98975" y="0"/>
                  </a:moveTo>
                  <a:lnTo>
                    <a:pt x="648726" y="0"/>
                  </a:lnTo>
                  <a:cubicBezTo>
                    <a:pt x="703389" y="0"/>
                    <a:pt x="747701" y="44313"/>
                    <a:pt x="747701" y="98975"/>
                  </a:cubicBezTo>
                  <a:lnTo>
                    <a:pt x="747701" y="1074635"/>
                  </a:lnTo>
                  <a:cubicBezTo>
                    <a:pt x="747701" y="1129298"/>
                    <a:pt x="703389" y="1173610"/>
                    <a:pt x="648726" y="1173610"/>
                  </a:cubicBezTo>
                  <a:lnTo>
                    <a:pt x="98975" y="1173610"/>
                  </a:lnTo>
                  <a:cubicBezTo>
                    <a:pt x="44313" y="1173610"/>
                    <a:pt x="0" y="1129298"/>
                    <a:pt x="0" y="1074635"/>
                  </a:cubicBezTo>
                  <a:lnTo>
                    <a:pt x="0" y="98975"/>
                  </a:lnTo>
                  <a:cubicBezTo>
                    <a:pt x="0" y="44313"/>
                    <a:pt x="44313" y="0"/>
                    <a:pt x="98975" y="0"/>
                  </a:cubicBezTo>
                  <a:close/>
                </a:path>
              </a:pathLst>
            </a:custGeom>
            <a:solidFill>
              <a:srgbClr val="DCDDDD">
                <a:alpha val="23922"/>
              </a:srgbClr>
            </a:solidFill>
          </p:spPr>
        </p:sp>
        <p:sp>
          <p:nvSpPr>
            <p:cNvPr name="TextBox 14" id="14"/>
            <p:cNvSpPr txBox="true"/>
            <p:nvPr/>
          </p:nvSpPr>
          <p:spPr>
            <a:xfrm>
              <a:off x="0" y="-47625"/>
              <a:ext cx="747701" cy="1221235"/>
            </a:xfrm>
            <a:prstGeom prst="rect">
              <a:avLst/>
            </a:prstGeom>
          </p:spPr>
          <p:txBody>
            <a:bodyPr anchor="ctr" rtlCol="false" tIns="50800" lIns="50800" bIns="50800" rIns="50800"/>
            <a:lstStyle/>
            <a:p>
              <a:pPr algn="ctr">
                <a:lnSpc>
                  <a:spcPts val="3640"/>
                </a:lnSpc>
              </a:pPr>
            </a:p>
          </p:txBody>
        </p:sp>
      </p:grpSp>
      <p:sp>
        <p:nvSpPr>
          <p:cNvPr name="Freeform 15" id="15"/>
          <p:cNvSpPr/>
          <p:nvPr/>
        </p:nvSpPr>
        <p:spPr>
          <a:xfrm flipH="false" flipV="false" rot="0">
            <a:off x="2488306" y="6883898"/>
            <a:ext cx="1844954" cy="2049949"/>
          </a:xfrm>
          <a:custGeom>
            <a:avLst/>
            <a:gdLst/>
            <a:ahLst/>
            <a:cxnLst/>
            <a:rect r="r" b="b" t="t" l="l"/>
            <a:pathLst>
              <a:path h="2049949" w="1844954">
                <a:moveTo>
                  <a:pt x="0" y="0"/>
                </a:moveTo>
                <a:lnTo>
                  <a:pt x="1844954" y="0"/>
                </a:lnTo>
                <a:lnTo>
                  <a:pt x="1844954" y="2049949"/>
                </a:lnTo>
                <a:lnTo>
                  <a:pt x="0" y="20499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13501225" y="6550523"/>
            <a:ext cx="2659512" cy="4174435"/>
            <a:chOff x="0" y="0"/>
            <a:chExt cx="747701" cy="1173610"/>
          </a:xfrm>
        </p:grpSpPr>
        <p:sp>
          <p:nvSpPr>
            <p:cNvPr name="Freeform 17" id="17"/>
            <p:cNvSpPr/>
            <p:nvPr/>
          </p:nvSpPr>
          <p:spPr>
            <a:xfrm flipH="false" flipV="false" rot="0">
              <a:off x="0" y="0"/>
              <a:ext cx="747701" cy="1173610"/>
            </a:xfrm>
            <a:custGeom>
              <a:avLst/>
              <a:gdLst/>
              <a:ahLst/>
              <a:cxnLst/>
              <a:rect r="r" b="b" t="t" l="l"/>
              <a:pathLst>
                <a:path h="1173610" w="747701">
                  <a:moveTo>
                    <a:pt x="98975" y="0"/>
                  </a:moveTo>
                  <a:lnTo>
                    <a:pt x="648726" y="0"/>
                  </a:lnTo>
                  <a:cubicBezTo>
                    <a:pt x="703389" y="0"/>
                    <a:pt x="747701" y="44313"/>
                    <a:pt x="747701" y="98975"/>
                  </a:cubicBezTo>
                  <a:lnTo>
                    <a:pt x="747701" y="1074635"/>
                  </a:lnTo>
                  <a:cubicBezTo>
                    <a:pt x="747701" y="1129298"/>
                    <a:pt x="703389" y="1173610"/>
                    <a:pt x="648726" y="1173610"/>
                  </a:cubicBezTo>
                  <a:lnTo>
                    <a:pt x="98975" y="1173610"/>
                  </a:lnTo>
                  <a:cubicBezTo>
                    <a:pt x="44313" y="1173610"/>
                    <a:pt x="0" y="1129298"/>
                    <a:pt x="0" y="1074635"/>
                  </a:cubicBezTo>
                  <a:lnTo>
                    <a:pt x="0" y="98975"/>
                  </a:lnTo>
                  <a:cubicBezTo>
                    <a:pt x="0" y="44313"/>
                    <a:pt x="44313" y="0"/>
                    <a:pt x="98975" y="0"/>
                  </a:cubicBezTo>
                  <a:close/>
                </a:path>
              </a:pathLst>
            </a:custGeom>
            <a:solidFill>
              <a:srgbClr val="DCDDDD">
                <a:alpha val="23922"/>
              </a:srgbClr>
            </a:solidFill>
          </p:spPr>
        </p:sp>
        <p:sp>
          <p:nvSpPr>
            <p:cNvPr name="TextBox 18" id="18"/>
            <p:cNvSpPr txBox="true"/>
            <p:nvPr/>
          </p:nvSpPr>
          <p:spPr>
            <a:xfrm>
              <a:off x="0" y="-47625"/>
              <a:ext cx="747701" cy="1221235"/>
            </a:xfrm>
            <a:prstGeom prst="rect">
              <a:avLst/>
            </a:prstGeom>
          </p:spPr>
          <p:txBody>
            <a:bodyPr anchor="ctr" rtlCol="false" tIns="50800" lIns="50800" bIns="50800" rIns="50800"/>
            <a:lstStyle/>
            <a:p>
              <a:pPr algn="ctr">
                <a:lnSpc>
                  <a:spcPts val="3640"/>
                </a:lnSpc>
              </a:pPr>
            </a:p>
          </p:txBody>
        </p:sp>
      </p:grpSp>
      <p:sp>
        <p:nvSpPr>
          <p:cNvPr name="Freeform 19" id="19"/>
          <p:cNvSpPr/>
          <p:nvPr/>
        </p:nvSpPr>
        <p:spPr>
          <a:xfrm flipH="false" flipV="false" rot="0">
            <a:off x="13908504" y="6883898"/>
            <a:ext cx="1844954" cy="2049949"/>
          </a:xfrm>
          <a:custGeom>
            <a:avLst/>
            <a:gdLst/>
            <a:ahLst/>
            <a:cxnLst/>
            <a:rect r="r" b="b" t="t" l="l"/>
            <a:pathLst>
              <a:path h="2049949" w="1844954">
                <a:moveTo>
                  <a:pt x="0" y="0"/>
                </a:moveTo>
                <a:lnTo>
                  <a:pt x="1844954" y="0"/>
                </a:lnTo>
                <a:lnTo>
                  <a:pt x="1844954" y="2049949"/>
                </a:lnTo>
                <a:lnTo>
                  <a:pt x="0" y="20499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0" id="20"/>
          <p:cNvGrpSpPr/>
          <p:nvPr/>
        </p:nvGrpSpPr>
        <p:grpSpPr>
          <a:xfrm rot="0">
            <a:off x="5912114" y="6550523"/>
            <a:ext cx="2659512" cy="4174435"/>
            <a:chOff x="0" y="0"/>
            <a:chExt cx="747701" cy="1173610"/>
          </a:xfrm>
        </p:grpSpPr>
        <p:sp>
          <p:nvSpPr>
            <p:cNvPr name="Freeform 21" id="21"/>
            <p:cNvSpPr/>
            <p:nvPr/>
          </p:nvSpPr>
          <p:spPr>
            <a:xfrm flipH="false" flipV="false" rot="0">
              <a:off x="0" y="0"/>
              <a:ext cx="747701" cy="1173610"/>
            </a:xfrm>
            <a:custGeom>
              <a:avLst/>
              <a:gdLst/>
              <a:ahLst/>
              <a:cxnLst/>
              <a:rect r="r" b="b" t="t" l="l"/>
              <a:pathLst>
                <a:path h="1173610" w="747701">
                  <a:moveTo>
                    <a:pt x="98975" y="0"/>
                  </a:moveTo>
                  <a:lnTo>
                    <a:pt x="648726" y="0"/>
                  </a:lnTo>
                  <a:cubicBezTo>
                    <a:pt x="703389" y="0"/>
                    <a:pt x="747701" y="44313"/>
                    <a:pt x="747701" y="98975"/>
                  </a:cubicBezTo>
                  <a:lnTo>
                    <a:pt x="747701" y="1074635"/>
                  </a:lnTo>
                  <a:cubicBezTo>
                    <a:pt x="747701" y="1129298"/>
                    <a:pt x="703389" y="1173610"/>
                    <a:pt x="648726" y="1173610"/>
                  </a:cubicBezTo>
                  <a:lnTo>
                    <a:pt x="98975" y="1173610"/>
                  </a:lnTo>
                  <a:cubicBezTo>
                    <a:pt x="44313" y="1173610"/>
                    <a:pt x="0" y="1129298"/>
                    <a:pt x="0" y="1074635"/>
                  </a:cubicBezTo>
                  <a:lnTo>
                    <a:pt x="0" y="98975"/>
                  </a:lnTo>
                  <a:cubicBezTo>
                    <a:pt x="0" y="44313"/>
                    <a:pt x="44313" y="0"/>
                    <a:pt x="98975" y="0"/>
                  </a:cubicBezTo>
                  <a:close/>
                </a:path>
              </a:pathLst>
            </a:custGeom>
            <a:solidFill>
              <a:srgbClr val="DCDDDD">
                <a:alpha val="23922"/>
              </a:srgbClr>
            </a:solidFill>
          </p:spPr>
        </p:sp>
        <p:sp>
          <p:nvSpPr>
            <p:cNvPr name="TextBox 22" id="22"/>
            <p:cNvSpPr txBox="true"/>
            <p:nvPr/>
          </p:nvSpPr>
          <p:spPr>
            <a:xfrm>
              <a:off x="0" y="-47625"/>
              <a:ext cx="747701" cy="1221235"/>
            </a:xfrm>
            <a:prstGeom prst="rect">
              <a:avLst/>
            </a:prstGeom>
          </p:spPr>
          <p:txBody>
            <a:bodyPr anchor="ctr" rtlCol="false" tIns="50800" lIns="50800" bIns="50800" rIns="50800"/>
            <a:lstStyle/>
            <a:p>
              <a:pPr algn="ctr">
                <a:lnSpc>
                  <a:spcPts val="3640"/>
                </a:lnSpc>
              </a:pPr>
            </a:p>
          </p:txBody>
        </p:sp>
      </p:grpSp>
      <p:sp>
        <p:nvSpPr>
          <p:cNvPr name="Freeform 23" id="23"/>
          <p:cNvSpPr/>
          <p:nvPr/>
        </p:nvSpPr>
        <p:spPr>
          <a:xfrm flipH="false" flipV="false" rot="0">
            <a:off x="6319393" y="6883898"/>
            <a:ext cx="1844954" cy="2049949"/>
          </a:xfrm>
          <a:custGeom>
            <a:avLst/>
            <a:gdLst/>
            <a:ahLst/>
            <a:cxnLst/>
            <a:rect r="r" b="b" t="t" l="l"/>
            <a:pathLst>
              <a:path h="2049949" w="1844954">
                <a:moveTo>
                  <a:pt x="0" y="0"/>
                </a:moveTo>
                <a:lnTo>
                  <a:pt x="1844953" y="0"/>
                </a:lnTo>
                <a:lnTo>
                  <a:pt x="1844953" y="2049949"/>
                </a:lnTo>
                <a:lnTo>
                  <a:pt x="0" y="20499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4" id="24"/>
          <p:cNvSpPr txBox="true"/>
          <p:nvPr/>
        </p:nvSpPr>
        <p:spPr>
          <a:xfrm rot="0">
            <a:off x="4118551" y="473709"/>
            <a:ext cx="10172004" cy="995682"/>
          </a:xfrm>
          <a:prstGeom prst="rect">
            <a:avLst/>
          </a:prstGeom>
        </p:spPr>
        <p:txBody>
          <a:bodyPr anchor="t" rtlCol="false" tIns="0" lIns="0" bIns="0" rIns="0">
            <a:spAutoFit/>
          </a:bodyPr>
          <a:lstStyle/>
          <a:p>
            <a:pPr algn="l">
              <a:lnSpc>
                <a:spcPts val="8119"/>
              </a:lnSpc>
              <a:spcBef>
                <a:spcPct val="0"/>
              </a:spcBef>
            </a:pPr>
            <a:r>
              <a:rPr lang="en-US" sz="5799">
                <a:solidFill>
                  <a:srgbClr val="DCDDDD"/>
                </a:solidFill>
                <a:latin typeface="Black Ops One"/>
                <a:ea typeface="Black Ops One"/>
                <a:cs typeface="Black Ops One"/>
                <a:sym typeface="Black Ops One"/>
              </a:rPr>
              <a:t>Data Qual</a:t>
            </a:r>
            <a:r>
              <a:rPr lang="en-US" sz="5799">
                <a:solidFill>
                  <a:srgbClr val="DCDDDD"/>
                </a:solidFill>
                <a:latin typeface="Black Ops One"/>
                <a:ea typeface="Black Ops One"/>
                <a:cs typeface="Black Ops One"/>
                <a:sym typeface="Black Ops One"/>
              </a:rPr>
              <a:t>ity Assessment</a:t>
            </a:r>
          </a:p>
        </p:txBody>
      </p:sp>
      <p:sp>
        <p:nvSpPr>
          <p:cNvPr name="TextBox 25" id="25"/>
          <p:cNvSpPr txBox="true"/>
          <p:nvPr/>
        </p:nvSpPr>
        <p:spPr>
          <a:xfrm rot="0">
            <a:off x="3004219" y="2352035"/>
            <a:ext cx="4361101" cy="860425"/>
          </a:xfrm>
          <a:prstGeom prst="rect">
            <a:avLst/>
          </a:prstGeom>
        </p:spPr>
        <p:txBody>
          <a:bodyPr anchor="t" rtlCol="false" tIns="0" lIns="0" bIns="0" rIns="0">
            <a:spAutoFit/>
          </a:bodyPr>
          <a:lstStyle/>
          <a:p>
            <a:pPr algn="ctr">
              <a:lnSpc>
                <a:spcPts val="3499"/>
              </a:lnSpc>
            </a:pPr>
            <a:r>
              <a:rPr lang="en-US" sz="2499">
                <a:solidFill>
                  <a:srgbClr val="DCDDDD"/>
                </a:solidFill>
                <a:latin typeface="League Spartan"/>
                <a:ea typeface="League Spartan"/>
                <a:cs typeface="League Spartan"/>
                <a:sym typeface="League Spartan"/>
              </a:rPr>
              <a:t>Data Quality </a:t>
            </a:r>
          </a:p>
          <a:p>
            <a:pPr algn="ctr">
              <a:lnSpc>
                <a:spcPts val="3499"/>
              </a:lnSpc>
            </a:pPr>
            <a:r>
              <a:rPr lang="en-US" sz="2499">
                <a:solidFill>
                  <a:srgbClr val="DCDDDD"/>
                </a:solidFill>
                <a:latin typeface="League Spartan"/>
                <a:ea typeface="League Spartan"/>
                <a:cs typeface="League Spartan"/>
                <a:sym typeface="League Spartan"/>
              </a:rPr>
              <a:t>Before Integration</a:t>
            </a:r>
          </a:p>
        </p:txBody>
      </p:sp>
      <p:sp>
        <p:nvSpPr>
          <p:cNvPr name="TextBox 26" id="26"/>
          <p:cNvSpPr txBox="true"/>
          <p:nvPr/>
        </p:nvSpPr>
        <p:spPr>
          <a:xfrm rot="0">
            <a:off x="10922680" y="2352035"/>
            <a:ext cx="4361101" cy="860425"/>
          </a:xfrm>
          <a:prstGeom prst="rect">
            <a:avLst/>
          </a:prstGeom>
        </p:spPr>
        <p:txBody>
          <a:bodyPr anchor="t" rtlCol="false" tIns="0" lIns="0" bIns="0" rIns="0">
            <a:spAutoFit/>
          </a:bodyPr>
          <a:lstStyle/>
          <a:p>
            <a:pPr algn="ctr">
              <a:lnSpc>
                <a:spcPts val="3499"/>
              </a:lnSpc>
            </a:pPr>
            <a:r>
              <a:rPr lang="en-US" sz="2499">
                <a:solidFill>
                  <a:srgbClr val="DCDDDD"/>
                </a:solidFill>
                <a:latin typeface="League Spartan"/>
                <a:ea typeface="League Spartan"/>
                <a:cs typeface="League Spartan"/>
                <a:sym typeface="League Spartan"/>
              </a:rPr>
              <a:t>Data Quality </a:t>
            </a:r>
          </a:p>
          <a:p>
            <a:pPr algn="ctr">
              <a:lnSpc>
                <a:spcPts val="3499"/>
              </a:lnSpc>
            </a:pPr>
            <a:r>
              <a:rPr lang="en-US" sz="2499">
                <a:solidFill>
                  <a:srgbClr val="DCDDDD"/>
                </a:solidFill>
                <a:latin typeface="League Spartan"/>
                <a:ea typeface="League Spartan"/>
                <a:cs typeface="League Spartan"/>
                <a:sym typeface="League Spartan"/>
              </a:rPr>
              <a:t>After Integration</a:t>
            </a:r>
          </a:p>
        </p:txBody>
      </p:sp>
      <p:sp>
        <p:nvSpPr>
          <p:cNvPr name="TextBox 27" id="27"/>
          <p:cNvSpPr txBox="true"/>
          <p:nvPr/>
        </p:nvSpPr>
        <p:spPr>
          <a:xfrm rot="0">
            <a:off x="2157382" y="3609868"/>
            <a:ext cx="6054775" cy="2025650"/>
          </a:xfrm>
          <a:prstGeom prst="rect">
            <a:avLst/>
          </a:prstGeom>
        </p:spPr>
        <p:txBody>
          <a:bodyPr anchor="t" rtlCol="false" tIns="0" lIns="0" bIns="0" rIns="0">
            <a:spAutoFit/>
          </a:bodyPr>
          <a:lstStyle/>
          <a:p>
            <a:pPr algn="l" marL="539749" indent="-269875" lvl="1">
              <a:lnSpc>
                <a:spcPts val="4074"/>
              </a:lnSpc>
              <a:buFont typeface="Arial"/>
              <a:buChar char="•"/>
            </a:pPr>
            <a:r>
              <a:rPr lang="en-US" sz="2499">
                <a:solidFill>
                  <a:srgbClr val="DCDDDD"/>
                </a:solidFill>
                <a:latin typeface="League Spartan"/>
                <a:ea typeface="League Spartan"/>
                <a:cs typeface="League Spartan"/>
                <a:sym typeface="League Spartan"/>
              </a:rPr>
              <a:t>No </a:t>
            </a:r>
            <a:r>
              <a:rPr lang="en-US" b="true" sz="2499" strike="noStrike" u="none">
                <a:solidFill>
                  <a:srgbClr val="DCDDDD"/>
                </a:solidFill>
                <a:latin typeface="League Spartan"/>
                <a:ea typeface="League Spartan"/>
                <a:cs typeface="League Spartan"/>
                <a:sym typeface="League Spartan"/>
              </a:rPr>
              <a:t>price enrichment</a:t>
            </a:r>
          </a:p>
          <a:p>
            <a:pPr algn="l" marL="539749" indent="-269875" lvl="1">
              <a:lnSpc>
                <a:spcPts val="4074"/>
              </a:lnSpc>
              <a:buFont typeface="Arial"/>
              <a:buChar char="•"/>
            </a:pPr>
            <a:r>
              <a:rPr lang="en-US" b="true" sz="2499" strike="noStrike" u="none">
                <a:solidFill>
                  <a:srgbClr val="DCDDDD"/>
                </a:solidFill>
                <a:latin typeface="League Spartan"/>
                <a:ea typeface="League Spartan"/>
                <a:cs typeface="League Spartan"/>
                <a:sym typeface="League Spartan"/>
              </a:rPr>
              <a:t>50% unique </a:t>
            </a:r>
            <a:r>
              <a:rPr lang="en-US" b="true" sz="2499" strike="noStrike" u="none">
                <a:solidFill>
                  <a:srgbClr val="DCDDDD"/>
                </a:solidFill>
                <a:latin typeface="League Spartan"/>
                <a:ea typeface="League Spartan"/>
                <a:cs typeface="League Spartan"/>
                <a:sym typeface="League Spartan"/>
              </a:rPr>
              <a:t>matches records</a:t>
            </a:r>
          </a:p>
          <a:p>
            <a:pPr algn="l" marL="539749" indent="-269875" lvl="1">
              <a:lnSpc>
                <a:spcPts val="4074"/>
              </a:lnSpc>
              <a:buFont typeface="Arial"/>
              <a:buChar char="•"/>
            </a:pPr>
            <a:r>
              <a:rPr lang="en-US" b="true" sz="2499" strike="noStrike" u="none">
                <a:solidFill>
                  <a:srgbClr val="DCDDDD"/>
                </a:solidFill>
                <a:latin typeface="League Spartan"/>
                <a:ea typeface="League Spartan"/>
                <a:cs typeface="League Spartan"/>
                <a:sym typeface="League Spartan"/>
              </a:rPr>
              <a:t>60% unique prices records</a:t>
            </a:r>
          </a:p>
          <a:p>
            <a:pPr algn="l" marL="539749" indent="-269875" lvl="1">
              <a:lnSpc>
                <a:spcPts val="4074"/>
              </a:lnSpc>
              <a:buFont typeface="Arial"/>
              <a:buChar char="•"/>
            </a:pPr>
            <a:r>
              <a:rPr lang="en-US" b="true" sz="2499" strike="noStrike" u="none">
                <a:solidFill>
                  <a:srgbClr val="DCDDDD"/>
                </a:solidFill>
                <a:latin typeface="League Spartan"/>
                <a:ea typeface="League Spartan"/>
                <a:cs typeface="League Spartan"/>
                <a:sym typeface="League Spartan"/>
              </a:rPr>
              <a:t>70% </a:t>
            </a:r>
            <a:r>
              <a:rPr lang="en-US" b="true" sz="2499" strike="noStrike" u="none">
                <a:solidFill>
                  <a:srgbClr val="DCDDDD"/>
                </a:solidFill>
                <a:latin typeface="League Spartan"/>
                <a:ea typeface="League Spartan"/>
                <a:cs typeface="League Spartan"/>
                <a:sym typeface="League Spartan"/>
              </a:rPr>
              <a:t>standardized unit identifiers</a:t>
            </a:r>
          </a:p>
        </p:txBody>
      </p:sp>
      <p:sp>
        <p:nvSpPr>
          <p:cNvPr name="TextBox 28" id="28"/>
          <p:cNvSpPr txBox="true"/>
          <p:nvPr/>
        </p:nvSpPr>
        <p:spPr>
          <a:xfrm rot="0">
            <a:off x="10018544" y="3563831"/>
            <a:ext cx="6169372" cy="2174875"/>
          </a:xfrm>
          <a:prstGeom prst="rect">
            <a:avLst/>
          </a:prstGeom>
        </p:spPr>
        <p:txBody>
          <a:bodyPr anchor="t" rtlCol="false" tIns="0" lIns="0" bIns="0" rIns="0">
            <a:spAutoFit/>
          </a:bodyPr>
          <a:lstStyle/>
          <a:p>
            <a:pPr algn="l" marL="539749" indent="-269875" lvl="1">
              <a:lnSpc>
                <a:spcPts val="3499"/>
              </a:lnSpc>
              <a:spcBef>
                <a:spcPct val="0"/>
              </a:spcBef>
              <a:buFont typeface="Arial"/>
              <a:buChar char="•"/>
            </a:pPr>
            <a:r>
              <a:rPr lang="en-US" b="true" sz="2499" strike="noStrike" u="none">
                <a:solidFill>
                  <a:srgbClr val="DCDDDD"/>
                </a:solidFill>
                <a:latin typeface="League Spartan"/>
                <a:ea typeface="League Spartan"/>
                <a:cs typeface="League Spartan"/>
                <a:sym typeface="League Spartan"/>
              </a:rPr>
              <a:t>Referential integrity</a:t>
            </a:r>
          </a:p>
          <a:p>
            <a:pPr algn="l" marL="539749" indent="-269875" lvl="1">
              <a:lnSpc>
                <a:spcPts val="3499"/>
              </a:lnSpc>
              <a:spcBef>
                <a:spcPct val="0"/>
              </a:spcBef>
              <a:buFont typeface="Arial"/>
              <a:buChar char="•"/>
            </a:pPr>
            <a:r>
              <a:rPr lang="en-US" b="true" sz="2499" strike="noStrike" u="none">
                <a:solidFill>
                  <a:srgbClr val="DCDDDD"/>
                </a:solidFill>
                <a:latin typeface="League Spartan"/>
                <a:ea typeface="League Spartan"/>
                <a:cs typeface="League Spartan"/>
                <a:sym typeface="League Spartan"/>
              </a:rPr>
              <a:t>Matches deduplication </a:t>
            </a:r>
          </a:p>
          <a:p>
            <a:pPr algn="l" marL="539749" indent="-269875" lvl="1">
              <a:lnSpc>
                <a:spcPts val="3499"/>
              </a:lnSpc>
              <a:spcBef>
                <a:spcPct val="0"/>
              </a:spcBef>
              <a:buFont typeface="Arial"/>
              <a:buChar char="•"/>
            </a:pPr>
            <a:r>
              <a:rPr lang="en-US" b="true" sz="2499" strike="noStrike" u="none">
                <a:solidFill>
                  <a:srgbClr val="DCDDDD"/>
                </a:solidFill>
                <a:latin typeface="League Spartan"/>
                <a:ea typeface="League Spartan"/>
                <a:cs typeface="League Spartan"/>
                <a:sym typeface="League Spartan"/>
              </a:rPr>
              <a:t>Complete price enrichment</a:t>
            </a:r>
          </a:p>
          <a:p>
            <a:pPr algn="l" marL="539749" indent="-269875" lvl="1">
              <a:lnSpc>
                <a:spcPts val="3499"/>
              </a:lnSpc>
              <a:spcBef>
                <a:spcPct val="0"/>
              </a:spcBef>
              <a:buFont typeface="Arial"/>
              <a:buChar char="•"/>
            </a:pPr>
            <a:r>
              <a:rPr lang="en-US" b="true" sz="2499" strike="noStrike" u="none">
                <a:solidFill>
                  <a:srgbClr val="DCDDDD"/>
                </a:solidFill>
                <a:latin typeface="League Spartan"/>
                <a:ea typeface="League Spartan"/>
                <a:cs typeface="League Spartan"/>
                <a:sym typeface="League Spartan"/>
              </a:rPr>
              <a:t>Deduplicated pricing dataset</a:t>
            </a:r>
          </a:p>
          <a:p>
            <a:pPr algn="l" marL="539749" indent="-269875" lvl="1">
              <a:lnSpc>
                <a:spcPts val="3499"/>
              </a:lnSpc>
              <a:spcBef>
                <a:spcPct val="0"/>
              </a:spcBef>
              <a:buFont typeface="Arial"/>
              <a:buChar char="•"/>
            </a:pPr>
            <a:r>
              <a:rPr lang="en-US" b="true" sz="2499" strike="noStrike" u="none">
                <a:solidFill>
                  <a:srgbClr val="DCDDDD"/>
                </a:solidFill>
                <a:latin typeface="League Spartan"/>
                <a:ea typeface="League Spartan"/>
                <a:cs typeface="League Spartan"/>
                <a:sym typeface="League Spartan"/>
              </a:rPr>
              <a:t>Standardized unit name matching</a:t>
            </a:r>
          </a:p>
        </p:txBody>
      </p:sp>
      <p:grpSp>
        <p:nvGrpSpPr>
          <p:cNvPr name="Group 29" id="29"/>
          <p:cNvGrpSpPr/>
          <p:nvPr/>
        </p:nvGrpSpPr>
        <p:grpSpPr>
          <a:xfrm rot="0">
            <a:off x="9670138" y="6550523"/>
            <a:ext cx="2659512" cy="4174435"/>
            <a:chOff x="0" y="0"/>
            <a:chExt cx="747701" cy="1173610"/>
          </a:xfrm>
        </p:grpSpPr>
        <p:sp>
          <p:nvSpPr>
            <p:cNvPr name="Freeform 30" id="30"/>
            <p:cNvSpPr/>
            <p:nvPr/>
          </p:nvSpPr>
          <p:spPr>
            <a:xfrm flipH="false" flipV="false" rot="0">
              <a:off x="0" y="0"/>
              <a:ext cx="747701" cy="1173610"/>
            </a:xfrm>
            <a:custGeom>
              <a:avLst/>
              <a:gdLst/>
              <a:ahLst/>
              <a:cxnLst/>
              <a:rect r="r" b="b" t="t" l="l"/>
              <a:pathLst>
                <a:path h="1173610" w="747701">
                  <a:moveTo>
                    <a:pt x="98975" y="0"/>
                  </a:moveTo>
                  <a:lnTo>
                    <a:pt x="648726" y="0"/>
                  </a:lnTo>
                  <a:cubicBezTo>
                    <a:pt x="703389" y="0"/>
                    <a:pt x="747701" y="44313"/>
                    <a:pt x="747701" y="98975"/>
                  </a:cubicBezTo>
                  <a:lnTo>
                    <a:pt x="747701" y="1074635"/>
                  </a:lnTo>
                  <a:cubicBezTo>
                    <a:pt x="747701" y="1129298"/>
                    <a:pt x="703389" y="1173610"/>
                    <a:pt x="648726" y="1173610"/>
                  </a:cubicBezTo>
                  <a:lnTo>
                    <a:pt x="98975" y="1173610"/>
                  </a:lnTo>
                  <a:cubicBezTo>
                    <a:pt x="44313" y="1173610"/>
                    <a:pt x="0" y="1129298"/>
                    <a:pt x="0" y="1074635"/>
                  </a:cubicBezTo>
                  <a:lnTo>
                    <a:pt x="0" y="98975"/>
                  </a:lnTo>
                  <a:cubicBezTo>
                    <a:pt x="0" y="44313"/>
                    <a:pt x="44313" y="0"/>
                    <a:pt x="98975" y="0"/>
                  </a:cubicBezTo>
                  <a:close/>
                </a:path>
              </a:pathLst>
            </a:custGeom>
            <a:solidFill>
              <a:srgbClr val="DCDDDD">
                <a:alpha val="23922"/>
              </a:srgbClr>
            </a:solidFill>
          </p:spPr>
        </p:sp>
        <p:sp>
          <p:nvSpPr>
            <p:cNvPr name="TextBox 31" id="31"/>
            <p:cNvSpPr txBox="true"/>
            <p:nvPr/>
          </p:nvSpPr>
          <p:spPr>
            <a:xfrm>
              <a:off x="0" y="-47625"/>
              <a:ext cx="747701" cy="1221235"/>
            </a:xfrm>
            <a:prstGeom prst="rect">
              <a:avLst/>
            </a:prstGeom>
          </p:spPr>
          <p:txBody>
            <a:bodyPr anchor="ctr" rtlCol="false" tIns="50800" lIns="50800" bIns="50800" rIns="50800"/>
            <a:lstStyle/>
            <a:p>
              <a:pPr algn="ctr">
                <a:lnSpc>
                  <a:spcPts val="3640"/>
                </a:lnSpc>
              </a:pPr>
            </a:p>
          </p:txBody>
        </p:sp>
      </p:grpSp>
      <p:grpSp>
        <p:nvGrpSpPr>
          <p:cNvPr name="Group 32" id="32"/>
          <p:cNvGrpSpPr/>
          <p:nvPr/>
        </p:nvGrpSpPr>
        <p:grpSpPr>
          <a:xfrm rot="0">
            <a:off x="10091252" y="6883898"/>
            <a:ext cx="1987765" cy="2049949"/>
            <a:chOff x="0" y="0"/>
            <a:chExt cx="2650354" cy="2733265"/>
          </a:xfrm>
        </p:grpSpPr>
        <p:sp>
          <p:nvSpPr>
            <p:cNvPr name="Freeform 33" id="33"/>
            <p:cNvSpPr/>
            <p:nvPr/>
          </p:nvSpPr>
          <p:spPr>
            <a:xfrm flipH="true" flipV="false" rot="0">
              <a:off x="0" y="0"/>
              <a:ext cx="2459939" cy="2733265"/>
            </a:xfrm>
            <a:custGeom>
              <a:avLst/>
              <a:gdLst/>
              <a:ahLst/>
              <a:cxnLst/>
              <a:rect r="r" b="b" t="t" l="l"/>
              <a:pathLst>
                <a:path h="2733265" w="2459939">
                  <a:moveTo>
                    <a:pt x="2459939" y="0"/>
                  </a:moveTo>
                  <a:lnTo>
                    <a:pt x="0" y="0"/>
                  </a:lnTo>
                  <a:lnTo>
                    <a:pt x="0" y="2733265"/>
                  </a:lnTo>
                  <a:lnTo>
                    <a:pt x="2459939" y="2733265"/>
                  </a:lnTo>
                  <a:lnTo>
                    <a:pt x="2459939"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4" id="34"/>
            <p:cNvSpPr/>
            <p:nvPr/>
          </p:nvSpPr>
          <p:spPr>
            <a:xfrm flipH="false" flipV="false" rot="10700763">
              <a:off x="2065705" y="1374812"/>
              <a:ext cx="575790" cy="622118"/>
            </a:xfrm>
            <a:custGeom>
              <a:avLst/>
              <a:gdLst/>
              <a:ahLst/>
              <a:cxnLst/>
              <a:rect r="r" b="b" t="t" l="l"/>
              <a:pathLst>
                <a:path h="622118" w="575790">
                  <a:moveTo>
                    <a:pt x="0" y="0"/>
                  </a:moveTo>
                  <a:lnTo>
                    <a:pt x="575791" y="0"/>
                  </a:lnTo>
                  <a:lnTo>
                    <a:pt x="575791" y="622119"/>
                  </a:lnTo>
                  <a:lnTo>
                    <a:pt x="0" y="622119"/>
                  </a:lnTo>
                  <a:lnTo>
                    <a:pt x="0" y="0"/>
                  </a:lnTo>
                  <a:close/>
                </a:path>
              </a:pathLst>
            </a:custGeom>
            <a:blipFill>
              <a:blip r:embed="rId5"/>
              <a:stretch>
                <a:fillRect l="0" t="0" r="0" b="0"/>
              </a:stretch>
            </a:blipFill>
          </p:spPr>
        </p:sp>
        <p:sp>
          <p:nvSpPr>
            <p:cNvPr name="Freeform 35" id="35"/>
            <p:cNvSpPr/>
            <p:nvPr/>
          </p:nvSpPr>
          <p:spPr>
            <a:xfrm flipH="false" flipV="false" rot="0">
              <a:off x="201626" y="0"/>
              <a:ext cx="305037" cy="270667"/>
            </a:xfrm>
            <a:custGeom>
              <a:avLst/>
              <a:gdLst/>
              <a:ahLst/>
              <a:cxnLst/>
              <a:rect r="r" b="b" t="t" l="l"/>
              <a:pathLst>
                <a:path h="270667" w="305037">
                  <a:moveTo>
                    <a:pt x="0" y="0"/>
                  </a:moveTo>
                  <a:lnTo>
                    <a:pt x="305037" y="0"/>
                  </a:lnTo>
                  <a:lnTo>
                    <a:pt x="305037" y="270667"/>
                  </a:lnTo>
                  <a:lnTo>
                    <a:pt x="0" y="270667"/>
                  </a:lnTo>
                  <a:lnTo>
                    <a:pt x="0" y="0"/>
                  </a:lnTo>
                  <a:close/>
                </a:path>
              </a:pathLst>
            </a:custGeom>
            <a:blipFill>
              <a:blip r:embed="rId6"/>
              <a:stretch>
                <a:fillRect l="0" t="0" r="0" b="0"/>
              </a:stretch>
            </a:blipFill>
          </p:spPr>
        </p:sp>
        <p:sp>
          <p:nvSpPr>
            <p:cNvPr name="Freeform 36" id="36"/>
            <p:cNvSpPr/>
            <p:nvPr/>
          </p:nvSpPr>
          <p:spPr>
            <a:xfrm flipH="false" flipV="false" rot="0">
              <a:off x="458103" y="66203"/>
              <a:ext cx="305037" cy="270667"/>
            </a:xfrm>
            <a:custGeom>
              <a:avLst/>
              <a:gdLst/>
              <a:ahLst/>
              <a:cxnLst/>
              <a:rect r="r" b="b" t="t" l="l"/>
              <a:pathLst>
                <a:path h="270667" w="305037">
                  <a:moveTo>
                    <a:pt x="0" y="0"/>
                  </a:moveTo>
                  <a:lnTo>
                    <a:pt x="305037" y="0"/>
                  </a:lnTo>
                  <a:lnTo>
                    <a:pt x="305037" y="270666"/>
                  </a:lnTo>
                  <a:lnTo>
                    <a:pt x="0" y="270666"/>
                  </a:lnTo>
                  <a:lnTo>
                    <a:pt x="0" y="0"/>
                  </a:lnTo>
                  <a:close/>
                </a:path>
              </a:pathLst>
            </a:custGeom>
            <a:blipFill>
              <a:blip r:embed="rId6"/>
              <a:stretch>
                <a:fillRect l="0" t="0" r="0" b="0"/>
              </a:stretch>
            </a:blipFill>
          </p:spPr>
        </p:sp>
        <p:sp>
          <p:nvSpPr>
            <p:cNvPr name="Freeform 37" id="37"/>
            <p:cNvSpPr/>
            <p:nvPr/>
          </p:nvSpPr>
          <p:spPr>
            <a:xfrm flipH="false" flipV="false" rot="0">
              <a:off x="248801" y="201536"/>
              <a:ext cx="305037" cy="270667"/>
            </a:xfrm>
            <a:custGeom>
              <a:avLst/>
              <a:gdLst/>
              <a:ahLst/>
              <a:cxnLst/>
              <a:rect r="r" b="b" t="t" l="l"/>
              <a:pathLst>
                <a:path h="270667" w="305037">
                  <a:moveTo>
                    <a:pt x="0" y="0"/>
                  </a:moveTo>
                  <a:lnTo>
                    <a:pt x="305038" y="0"/>
                  </a:lnTo>
                  <a:lnTo>
                    <a:pt x="305038" y="270667"/>
                  </a:lnTo>
                  <a:lnTo>
                    <a:pt x="0" y="270667"/>
                  </a:lnTo>
                  <a:lnTo>
                    <a:pt x="0" y="0"/>
                  </a:lnTo>
                  <a:close/>
                </a:path>
              </a:pathLst>
            </a:custGeom>
            <a:blipFill>
              <a:blip r:embed="rId6"/>
              <a:stretch>
                <a:fillRect l="0" t="0" r="0" b="0"/>
              </a:stretch>
            </a:blipFill>
          </p:spPr>
        </p:sp>
        <p:sp>
          <p:nvSpPr>
            <p:cNvPr name="Freeform 38" id="38"/>
            <p:cNvSpPr/>
            <p:nvPr/>
          </p:nvSpPr>
          <p:spPr>
            <a:xfrm flipH="false" flipV="false" rot="0">
              <a:off x="354145" y="270667"/>
              <a:ext cx="305037" cy="270667"/>
            </a:xfrm>
            <a:custGeom>
              <a:avLst/>
              <a:gdLst/>
              <a:ahLst/>
              <a:cxnLst/>
              <a:rect r="r" b="b" t="t" l="l"/>
              <a:pathLst>
                <a:path h="270667" w="305037">
                  <a:moveTo>
                    <a:pt x="0" y="0"/>
                  </a:moveTo>
                  <a:lnTo>
                    <a:pt x="305037" y="0"/>
                  </a:lnTo>
                  <a:lnTo>
                    <a:pt x="305037" y="270667"/>
                  </a:lnTo>
                  <a:lnTo>
                    <a:pt x="0" y="270667"/>
                  </a:lnTo>
                  <a:lnTo>
                    <a:pt x="0" y="0"/>
                  </a:lnTo>
                  <a:close/>
                </a:path>
              </a:pathLst>
            </a:custGeom>
            <a:blipFill>
              <a:blip r:embed="rId6"/>
              <a:stretch>
                <a:fillRect l="0" t="0" r="0" b="0"/>
              </a:stretch>
            </a:blipFill>
          </p:spPr>
        </p:sp>
      </p:grpSp>
      <p:sp>
        <p:nvSpPr>
          <p:cNvPr name="TextBox 39" id="39"/>
          <p:cNvSpPr txBox="true"/>
          <p:nvPr/>
        </p:nvSpPr>
        <p:spPr>
          <a:xfrm rot="0">
            <a:off x="2454711" y="9149643"/>
            <a:ext cx="1912144" cy="860425"/>
          </a:xfrm>
          <a:prstGeom prst="rect">
            <a:avLst/>
          </a:prstGeom>
        </p:spPr>
        <p:txBody>
          <a:bodyPr anchor="t" rtlCol="false" tIns="0" lIns="0" bIns="0" rIns="0">
            <a:spAutoFit/>
          </a:bodyPr>
          <a:lstStyle/>
          <a:p>
            <a:pPr algn="ctr">
              <a:lnSpc>
                <a:spcPts val="3499"/>
              </a:lnSpc>
            </a:pPr>
            <a:r>
              <a:rPr lang="en-US" sz="2499">
                <a:solidFill>
                  <a:srgbClr val="DCDDDD"/>
                </a:solidFill>
                <a:latin typeface="League Spartan"/>
                <a:ea typeface="League Spartan"/>
                <a:cs typeface="League Spartan"/>
                <a:sym typeface="League Spartan"/>
              </a:rPr>
              <a:t>ACCURACY</a:t>
            </a:r>
          </a:p>
          <a:p>
            <a:pPr algn="ctr">
              <a:lnSpc>
                <a:spcPts val="3499"/>
              </a:lnSpc>
              <a:spcBef>
                <a:spcPct val="0"/>
              </a:spcBef>
            </a:pPr>
            <a:r>
              <a:rPr lang="en-US" sz="2499">
                <a:solidFill>
                  <a:srgbClr val="DCDDDD"/>
                </a:solidFill>
                <a:latin typeface="League Spartan"/>
                <a:ea typeface="League Spartan"/>
                <a:cs typeface="League Spartan"/>
                <a:sym typeface="League Spartan"/>
              </a:rPr>
              <a:t>+ 30%</a:t>
            </a:r>
          </a:p>
        </p:txBody>
      </p:sp>
      <p:sp>
        <p:nvSpPr>
          <p:cNvPr name="TextBox 40" id="40"/>
          <p:cNvSpPr txBox="true"/>
          <p:nvPr/>
        </p:nvSpPr>
        <p:spPr>
          <a:xfrm rot="0">
            <a:off x="6142149" y="9222222"/>
            <a:ext cx="2199441" cy="359852"/>
          </a:xfrm>
          <a:prstGeom prst="rect">
            <a:avLst/>
          </a:prstGeom>
        </p:spPr>
        <p:txBody>
          <a:bodyPr anchor="t" rtlCol="false" tIns="0" lIns="0" bIns="0" rIns="0">
            <a:spAutoFit/>
          </a:bodyPr>
          <a:lstStyle/>
          <a:p>
            <a:pPr algn="ctr">
              <a:lnSpc>
                <a:spcPts val="2916"/>
              </a:lnSpc>
              <a:spcBef>
                <a:spcPct val="0"/>
              </a:spcBef>
            </a:pPr>
            <a:r>
              <a:rPr lang="en-US" sz="2083">
                <a:solidFill>
                  <a:srgbClr val="DCDDDD"/>
                </a:solidFill>
                <a:latin typeface="League Spartan"/>
                <a:ea typeface="League Spartan"/>
                <a:cs typeface="League Spartan"/>
                <a:sym typeface="League Spartan"/>
              </a:rPr>
              <a:t>COMPLETENESS</a:t>
            </a:r>
          </a:p>
        </p:txBody>
      </p:sp>
      <p:sp>
        <p:nvSpPr>
          <p:cNvPr name="TextBox 41" id="41"/>
          <p:cNvSpPr txBox="true"/>
          <p:nvPr/>
        </p:nvSpPr>
        <p:spPr>
          <a:xfrm rot="0">
            <a:off x="6789730" y="9648825"/>
            <a:ext cx="904280" cy="422275"/>
          </a:xfrm>
          <a:prstGeom prst="rect">
            <a:avLst/>
          </a:prstGeom>
        </p:spPr>
        <p:txBody>
          <a:bodyPr anchor="t" rtlCol="false" tIns="0" lIns="0" bIns="0" rIns="0">
            <a:spAutoFit/>
          </a:bodyPr>
          <a:lstStyle/>
          <a:p>
            <a:pPr algn="ctr">
              <a:lnSpc>
                <a:spcPts val="3499"/>
              </a:lnSpc>
              <a:spcBef>
                <a:spcPct val="0"/>
              </a:spcBef>
            </a:pPr>
            <a:r>
              <a:rPr lang="en-US" sz="2499">
                <a:solidFill>
                  <a:srgbClr val="DCDDDD"/>
                </a:solidFill>
                <a:latin typeface="League Spartan"/>
                <a:ea typeface="League Spartan"/>
                <a:cs typeface="League Spartan"/>
                <a:sym typeface="League Spartan"/>
              </a:rPr>
              <a:t>100%</a:t>
            </a:r>
          </a:p>
        </p:txBody>
      </p:sp>
      <p:sp>
        <p:nvSpPr>
          <p:cNvPr name="TextBox 42" id="42"/>
          <p:cNvSpPr txBox="true"/>
          <p:nvPr/>
        </p:nvSpPr>
        <p:spPr>
          <a:xfrm rot="0">
            <a:off x="9896842" y="9200628"/>
            <a:ext cx="2241066" cy="403040"/>
          </a:xfrm>
          <a:prstGeom prst="rect">
            <a:avLst/>
          </a:prstGeom>
        </p:spPr>
        <p:txBody>
          <a:bodyPr anchor="t" rtlCol="false" tIns="0" lIns="0" bIns="0" rIns="0">
            <a:spAutoFit/>
          </a:bodyPr>
          <a:lstStyle/>
          <a:p>
            <a:pPr algn="ctr">
              <a:lnSpc>
                <a:spcPts val="3320"/>
              </a:lnSpc>
              <a:spcBef>
                <a:spcPct val="0"/>
              </a:spcBef>
            </a:pPr>
            <a:r>
              <a:rPr lang="en-US" sz="2371">
                <a:solidFill>
                  <a:srgbClr val="DCDDDD"/>
                </a:solidFill>
                <a:latin typeface="League Spartan"/>
                <a:ea typeface="League Spartan"/>
                <a:cs typeface="League Spartan"/>
                <a:sym typeface="League Spartan"/>
              </a:rPr>
              <a:t>REDUNDANCY</a:t>
            </a:r>
          </a:p>
        </p:txBody>
      </p:sp>
      <p:sp>
        <p:nvSpPr>
          <p:cNvPr name="TextBox 43" id="43"/>
          <p:cNvSpPr txBox="true"/>
          <p:nvPr/>
        </p:nvSpPr>
        <p:spPr>
          <a:xfrm rot="0">
            <a:off x="10466122" y="9694352"/>
            <a:ext cx="1067544" cy="422275"/>
          </a:xfrm>
          <a:prstGeom prst="rect">
            <a:avLst/>
          </a:prstGeom>
        </p:spPr>
        <p:txBody>
          <a:bodyPr anchor="t" rtlCol="false" tIns="0" lIns="0" bIns="0" rIns="0">
            <a:spAutoFit/>
          </a:bodyPr>
          <a:lstStyle/>
          <a:p>
            <a:pPr algn="ctr">
              <a:lnSpc>
                <a:spcPts val="3499"/>
              </a:lnSpc>
              <a:spcBef>
                <a:spcPct val="0"/>
              </a:spcBef>
            </a:pPr>
            <a:r>
              <a:rPr lang="en-US" sz="2499">
                <a:solidFill>
                  <a:srgbClr val="DCDDDD"/>
                </a:solidFill>
                <a:latin typeface="League Spartan"/>
                <a:ea typeface="League Spartan"/>
                <a:cs typeface="League Spartan"/>
                <a:sym typeface="League Spartan"/>
              </a:rPr>
              <a:t> - 40%</a:t>
            </a:r>
          </a:p>
        </p:txBody>
      </p:sp>
      <p:sp>
        <p:nvSpPr>
          <p:cNvPr name="TextBox 44" id="44"/>
          <p:cNvSpPr txBox="true"/>
          <p:nvPr/>
        </p:nvSpPr>
        <p:spPr>
          <a:xfrm rot="0">
            <a:off x="13653625" y="9170649"/>
            <a:ext cx="2420352" cy="433019"/>
          </a:xfrm>
          <a:prstGeom prst="rect">
            <a:avLst/>
          </a:prstGeom>
        </p:spPr>
        <p:txBody>
          <a:bodyPr anchor="t" rtlCol="false" tIns="0" lIns="0" bIns="0" rIns="0">
            <a:spAutoFit/>
          </a:bodyPr>
          <a:lstStyle/>
          <a:p>
            <a:pPr algn="ctr">
              <a:lnSpc>
                <a:spcPts val="3511"/>
              </a:lnSpc>
              <a:spcBef>
                <a:spcPct val="0"/>
              </a:spcBef>
            </a:pPr>
            <a:r>
              <a:rPr lang="en-US" sz="2508">
                <a:solidFill>
                  <a:srgbClr val="DCDDDD"/>
                </a:solidFill>
                <a:latin typeface="League Spartan"/>
                <a:ea typeface="League Spartan"/>
                <a:cs typeface="League Spartan"/>
                <a:sym typeface="League Spartan"/>
              </a:rPr>
              <a:t>CONSISTENCY</a:t>
            </a:r>
          </a:p>
        </p:txBody>
      </p:sp>
      <p:sp>
        <p:nvSpPr>
          <p:cNvPr name="TextBox 45" id="45"/>
          <p:cNvSpPr txBox="true"/>
          <p:nvPr/>
        </p:nvSpPr>
        <p:spPr>
          <a:xfrm rot="0">
            <a:off x="14461185" y="9629775"/>
            <a:ext cx="904280" cy="422275"/>
          </a:xfrm>
          <a:prstGeom prst="rect">
            <a:avLst/>
          </a:prstGeom>
        </p:spPr>
        <p:txBody>
          <a:bodyPr anchor="t" rtlCol="false" tIns="0" lIns="0" bIns="0" rIns="0">
            <a:spAutoFit/>
          </a:bodyPr>
          <a:lstStyle/>
          <a:p>
            <a:pPr algn="ctr">
              <a:lnSpc>
                <a:spcPts val="3499"/>
              </a:lnSpc>
              <a:spcBef>
                <a:spcPct val="0"/>
              </a:spcBef>
            </a:pPr>
            <a:r>
              <a:rPr lang="en-US" sz="2499">
                <a:solidFill>
                  <a:srgbClr val="DCDDDD"/>
                </a:solidFill>
                <a:latin typeface="League Spartan"/>
                <a:ea typeface="League Spartan"/>
                <a:cs typeface="League Spartan"/>
                <a:sym typeface="League Spartan"/>
              </a:rPr>
              <a:t>100%</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24A5B"/>
        </a:solidFill>
      </p:bgPr>
    </p:bg>
    <p:spTree>
      <p:nvGrpSpPr>
        <p:cNvPr id="1" name=""/>
        <p:cNvGrpSpPr/>
        <p:nvPr/>
      </p:nvGrpSpPr>
      <p:grpSpPr>
        <a:xfrm>
          <a:off x="0" y="0"/>
          <a:ext cx="0" cy="0"/>
          <a:chOff x="0" y="0"/>
          <a:chExt cx="0" cy="0"/>
        </a:xfrm>
      </p:grpSpPr>
      <p:sp>
        <p:nvSpPr>
          <p:cNvPr name="Freeform 2" id="2"/>
          <p:cNvSpPr/>
          <p:nvPr/>
        </p:nvSpPr>
        <p:spPr>
          <a:xfrm flipH="false" flipV="false" rot="0">
            <a:off x="0" y="-94869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39000"/>
            </a:blip>
            <a:stretch>
              <a:fillRect l="0" t="0" r="0" b="0"/>
            </a:stretch>
          </a:blipFill>
        </p:spPr>
      </p:sp>
      <p:grpSp>
        <p:nvGrpSpPr>
          <p:cNvPr name="Group 3" id="3"/>
          <p:cNvGrpSpPr/>
          <p:nvPr/>
        </p:nvGrpSpPr>
        <p:grpSpPr>
          <a:xfrm rot="0">
            <a:off x="875865" y="2397852"/>
            <a:ext cx="16536270" cy="6708380"/>
            <a:chOff x="0" y="0"/>
            <a:chExt cx="4355231" cy="1766816"/>
          </a:xfrm>
        </p:grpSpPr>
        <p:sp>
          <p:nvSpPr>
            <p:cNvPr name="Freeform 4" id="4"/>
            <p:cNvSpPr/>
            <p:nvPr/>
          </p:nvSpPr>
          <p:spPr>
            <a:xfrm flipH="false" flipV="false" rot="0">
              <a:off x="0" y="0"/>
              <a:ext cx="4355231" cy="1766816"/>
            </a:xfrm>
            <a:custGeom>
              <a:avLst/>
              <a:gdLst/>
              <a:ahLst/>
              <a:cxnLst/>
              <a:rect r="r" b="b" t="t" l="l"/>
              <a:pathLst>
                <a:path h="1766816" w="4355231">
                  <a:moveTo>
                    <a:pt x="10300" y="0"/>
                  </a:moveTo>
                  <a:lnTo>
                    <a:pt x="4344932" y="0"/>
                  </a:lnTo>
                  <a:cubicBezTo>
                    <a:pt x="4350620" y="0"/>
                    <a:pt x="4355231" y="4611"/>
                    <a:pt x="4355231" y="10300"/>
                  </a:cubicBezTo>
                  <a:lnTo>
                    <a:pt x="4355231" y="1756516"/>
                  </a:lnTo>
                  <a:cubicBezTo>
                    <a:pt x="4355231" y="1762205"/>
                    <a:pt x="4350620" y="1766816"/>
                    <a:pt x="4344932" y="1766816"/>
                  </a:cubicBezTo>
                  <a:lnTo>
                    <a:pt x="10300" y="1766816"/>
                  </a:lnTo>
                  <a:cubicBezTo>
                    <a:pt x="4611" y="1766816"/>
                    <a:pt x="0" y="1762205"/>
                    <a:pt x="0" y="1756516"/>
                  </a:cubicBezTo>
                  <a:lnTo>
                    <a:pt x="0" y="10300"/>
                  </a:lnTo>
                  <a:cubicBezTo>
                    <a:pt x="0" y="4611"/>
                    <a:pt x="4611" y="0"/>
                    <a:pt x="10300" y="0"/>
                  </a:cubicBezTo>
                  <a:close/>
                </a:path>
              </a:pathLst>
            </a:custGeom>
            <a:solidFill>
              <a:srgbClr val="1E3B50">
                <a:alpha val="65882"/>
              </a:srgbClr>
            </a:solidFill>
          </p:spPr>
        </p:sp>
        <p:sp>
          <p:nvSpPr>
            <p:cNvPr name="TextBox 5" id="5"/>
            <p:cNvSpPr txBox="true"/>
            <p:nvPr/>
          </p:nvSpPr>
          <p:spPr>
            <a:xfrm>
              <a:off x="0" y="-47625"/>
              <a:ext cx="4355231" cy="1814441"/>
            </a:xfrm>
            <a:prstGeom prst="rect">
              <a:avLst/>
            </a:prstGeom>
          </p:spPr>
          <p:txBody>
            <a:bodyPr anchor="ctr" rtlCol="false" tIns="50800" lIns="50800" bIns="50800" rIns="50800"/>
            <a:lstStyle/>
            <a:p>
              <a:pPr algn="ctr">
                <a:lnSpc>
                  <a:spcPts val="3640"/>
                </a:lnSpc>
              </a:pPr>
            </a:p>
          </p:txBody>
        </p:sp>
      </p:grpSp>
      <p:grpSp>
        <p:nvGrpSpPr>
          <p:cNvPr name="Group 6" id="6"/>
          <p:cNvGrpSpPr/>
          <p:nvPr/>
        </p:nvGrpSpPr>
        <p:grpSpPr>
          <a:xfrm rot="0">
            <a:off x="12984213" y="2833632"/>
            <a:ext cx="4218582" cy="1725576"/>
            <a:chOff x="0" y="0"/>
            <a:chExt cx="1111067" cy="454473"/>
          </a:xfrm>
        </p:grpSpPr>
        <p:sp>
          <p:nvSpPr>
            <p:cNvPr name="Freeform 7" id="7"/>
            <p:cNvSpPr/>
            <p:nvPr/>
          </p:nvSpPr>
          <p:spPr>
            <a:xfrm flipH="false" flipV="false" rot="0">
              <a:off x="0" y="0"/>
              <a:ext cx="1111067" cy="454473"/>
            </a:xfrm>
            <a:custGeom>
              <a:avLst/>
              <a:gdLst/>
              <a:ahLst/>
              <a:cxnLst/>
              <a:rect r="r" b="b" t="t" l="l"/>
              <a:pathLst>
                <a:path h="454473" w="1111067">
                  <a:moveTo>
                    <a:pt x="33034" y="0"/>
                  </a:moveTo>
                  <a:lnTo>
                    <a:pt x="1078033" y="0"/>
                  </a:lnTo>
                  <a:cubicBezTo>
                    <a:pt x="1096277" y="0"/>
                    <a:pt x="1111067" y="14790"/>
                    <a:pt x="1111067" y="33034"/>
                  </a:cubicBezTo>
                  <a:lnTo>
                    <a:pt x="1111067" y="421439"/>
                  </a:lnTo>
                  <a:cubicBezTo>
                    <a:pt x="1111067" y="430200"/>
                    <a:pt x="1107587" y="438603"/>
                    <a:pt x="1101392" y="444798"/>
                  </a:cubicBezTo>
                  <a:cubicBezTo>
                    <a:pt x="1095197" y="450992"/>
                    <a:pt x="1086794" y="454473"/>
                    <a:pt x="1078033" y="454473"/>
                  </a:cubicBezTo>
                  <a:lnTo>
                    <a:pt x="33034" y="454473"/>
                  </a:lnTo>
                  <a:cubicBezTo>
                    <a:pt x="24272" y="454473"/>
                    <a:pt x="15870" y="450992"/>
                    <a:pt x="9675" y="444798"/>
                  </a:cubicBezTo>
                  <a:cubicBezTo>
                    <a:pt x="3480" y="438603"/>
                    <a:pt x="0" y="430200"/>
                    <a:pt x="0" y="421439"/>
                  </a:cubicBezTo>
                  <a:lnTo>
                    <a:pt x="0" y="33034"/>
                  </a:lnTo>
                  <a:cubicBezTo>
                    <a:pt x="0" y="24272"/>
                    <a:pt x="3480" y="15870"/>
                    <a:pt x="9675" y="9675"/>
                  </a:cubicBezTo>
                  <a:cubicBezTo>
                    <a:pt x="15870" y="3480"/>
                    <a:pt x="24272" y="0"/>
                    <a:pt x="33034" y="0"/>
                  </a:cubicBezTo>
                  <a:close/>
                </a:path>
              </a:pathLst>
            </a:custGeom>
            <a:solidFill>
              <a:srgbClr val="FFFFFF">
                <a:alpha val="69804"/>
              </a:srgbClr>
            </a:solidFill>
          </p:spPr>
        </p:sp>
        <p:sp>
          <p:nvSpPr>
            <p:cNvPr name="TextBox 8" id="8"/>
            <p:cNvSpPr txBox="true"/>
            <p:nvPr/>
          </p:nvSpPr>
          <p:spPr>
            <a:xfrm>
              <a:off x="0" y="-47625"/>
              <a:ext cx="1111067" cy="502098"/>
            </a:xfrm>
            <a:prstGeom prst="rect">
              <a:avLst/>
            </a:prstGeom>
          </p:spPr>
          <p:txBody>
            <a:bodyPr anchor="ctr" rtlCol="false" tIns="50800" lIns="50800" bIns="50800" rIns="50800"/>
            <a:lstStyle/>
            <a:p>
              <a:pPr algn="ctr">
                <a:lnSpc>
                  <a:spcPts val="3640"/>
                </a:lnSpc>
              </a:pPr>
            </a:p>
          </p:txBody>
        </p:sp>
      </p:grpSp>
      <p:sp>
        <p:nvSpPr>
          <p:cNvPr name="AutoShape 9" id="9"/>
          <p:cNvSpPr/>
          <p:nvPr/>
        </p:nvSpPr>
        <p:spPr>
          <a:xfrm flipV="true">
            <a:off x="1028700" y="2080900"/>
            <a:ext cx="8115300" cy="0"/>
          </a:xfrm>
          <a:prstGeom prst="line">
            <a:avLst/>
          </a:prstGeom>
          <a:ln cap="flat" w="38100">
            <a:solidFill>
              <a:srgbClr val="DCDDDD"/>
            </a:solidFill>
            <a:prstDash val="solid"/>
            <a:headEnd type="none" len="sm" w="sm"/>
            <a:tailEnd type="none" len="sm" w="sm"/>
          </a:ln>
        </p:spPr>
      </p:sp>
      <p:sp>
        <p:nvSpPr>
          <p:cNvPr name="Freeform 10" id="10"/>
          <p:cNvSpPr/>
          <p:nvPr/>
        </p:nvSpPr>
        <p:spPr>
          <a:xfrm flipH="false" flipV="false" rot="0">
            <a:off x="1256457" y="5335984"/>
            <a:ext cx="3560133" cy="3298184"/>
          </a:xfrm>
          <a:custGeom>
            <a:avLst/>
            <a:gdLst/>
            <a:ahLst/>
            <a:cxnLst/>
            <a:rect r="r" b="b" t="t" l="l"/>
            <a:pathLst>
              <a:path h="3298184" w="3560133">
                <a:moveTo>
                  <a:pt x="0" y="0"/>
                </a:moveTo>
                <a:lnTo>
                  <a:pt x="3560133" y="0"/>
                </a:lnTo>
                <a:lnTo>
                  <a:pt x="3560133" y="3298184"/>
                </a:lnTo>
                <a:lnTo>
                  <a:pt x="0" y="3298184"/>
                </a:lnTo>
                <a:lnTo>
                  <a:pt x="0" y="0"/>
                </a:lnTo>
                <a:close/>
              </a:path>
            </a:pathLst>
          </a:custGeom>
          <a:blipFill>
            <a:blip r:embed="rId3"/>
            <a:stretch>
              <a:fillRect l="-130294" t="-5423" r="-420002" b="-240284"/>
            </a:stretch>
          </a:blipFill>
        </p:spPr>
      </p:sp>
      <p:sp>
        <p:nvSpPr>
          <p:cNvPr name="TextBox 11" id="11"/>
          <p:cNvSpPr txBox="true"/>
          <p:nvPr/>
        </p:nvSpPr>
        <p:spPr>
          <a:xfrm rot="0">
            <a:off x="1028700" y="914400"/>
            <a:ext cx="11774036" cy="2024382"/>
          </a:xfrm>
          <a:prstGeom prst="rect">
            <a:avLst/>
          </a:prstGeom>
        </p:spPr>
        <p:txBody>
          <a:bodyPr anchor="t" rtlCol="false" tIns="0" lIns="0" bIns="0" rIns="0">
            <a:spAutoFit/>
          </a:bodyPr>
          <a:lstStyle/>
          <a:p>
            <a:pPr algn="l">
              <a:lnSpc>
                <a:spcPts val="8119"/>
              </a:lnSpc>
            </a:pPr>
            <a:r>
              <a:rPr lang="en-US" sz="5799">
                <a:solidFill>
                  <a:srgbClr val="DCDDDD"/>
                </a:solidFill>
                <a:latin typeface="Black Ops One"/>
                <a:ea typeface="Black Ops One"/>
                <a:cs typeface="Black Ops One"/>
                <a:sym typeface="Black Ops One"/>
              </a:rPr>
              <a:t>Relat</a:t>
            </a:r>
            <a:r>
              <a:rPr lang="en-US" sz="5799">
                <a:solidFill>
                  <a:srgbClr val="DCDDDD"/>
                </a:solidFill>
                <a:latin typeface="Black Ops One"/>
                <a:ea typeface="Black Ops One"/>
                <a:cs typeface="Black Ops One"/>
                <a:sym typeface="Black Ops One"/>
              </a:rPr>
              <a:t>ional Database Schema</a:t>
            </a:r>
          </a:p>
          <a:p>
            <a:pPr algn="l">
              <a:lnSpc>
                <a:spcPts val="8119"/>
              </a:lnSpc>
              <a:spcBef>
                <a:spcPct val="0"/>
              </a:spcBef>
            </a:pPr>
          </a:p>
        </p:txBody>
      </p:sp>
      <p:sp>
        <p:nvSpPr>
          <p:cNvPr name="Freeform 12" id="12"/>
          <p:cNvSpPr/>
          <p:nvPr/>
        </p:nvSpPr>
        <p:spPr>
          <a:xfrm flipH="false" flipV="false" rot="0">
            <a:off x="5470226" y="2833632"/>
            <a:ext cx="3475905" cy="5748033"/>
          </a:xfrm>
          <a:custGeom>
            <a:avLst/>
            <a:gdLst/>
            <a:ahLst/>
            <a:cxnLst/>
            <a:rect r="r" b="b" t="t" l="l"/>
            <a:pathLst>
              <a:path h="5748033" w="3475905">
                <a:moveTo>
                  <a:pt x="0" y="0"/>
                </a:moveTo>
                <a:lnTo>
                  <a:pt x="3475905" y="0"/>
                </a:lnTo>
                <a:lnTo>
                  <a:pt x="3475905" y="5748033"/>
                </a:lnTo>
                <a:lnTo>
                  <a:pt x="0" y="5748033"/>
                </a:lnTo>
                <a:lnTo>
                  <a:pt x="0" y="0"/>
                </a:lnTo>
                <a:close/>
              </a:path>
            </a:pathLst>
          </a:custGeom>
          <a:blipFill>
            <a:blip r:embed="rId3"/>
            <a:stretch>
              <a:fillRect l="-316560" t="-10687" r="-208203" b="-75379"/>
            </a:stretch>
          </a:blipFill>
        </p:spPr>
      </p:sp>
      <p:sp>
        <p:nvSpPr>
          <p:cNvPr name="Freeform 13" id="13"/>
          <p:cNvSpPr/>
          <p:nvPr/>
        </p:nvSpPr>
        <p:spPr>
          <a:xfrm flipH="false" flipV="false" rot="0">
            <a:off x="9625561" y="2979624"/>
            <a:ext cx="3224657" cy="2036934"/>
          </a:xfrm>
          <a:custGeom>
            <a:avLst/>
            <a:gdLst/>
            <a:ahLst/>
            <a:cxnLst/>
            <a:rect r="r" b="b" t="t" l="l"/>
            <a:pathLst>
              <a:path h="2036934" w="3224657">
                <a:moveTo>
                  <a:pt x="0" y="0"/>
                </a:moveTo>
                <a:lnTo>
                  <a:pt x="3224657" y="0"/>
                </a:lnTo>
                <a:lnTo>
                  <a:pt x="3224657" y="2036934"/>
                </a:lnTo>
                <a:lnTo>
                  <a:pt x="0" y="2036934"/>
                </a:lnTo>
                <a:lnTo>
                  <a:pt x="0" y="0"/>
                </a:lnTo>
                <a:close/>
              </a:path>
            </a:pathLst>
          </a:custGeom>
          <a:blipFill>
            <a:blip r:embed="rId3"/>
            <a:stretch>
              <a:fillRect l="-510664" t="-6423" r="-2882" b="-371942"/>
            </a:stretch>
          </a:blipFill>
        </p:spPr>
      </p:sp>
      <p:sp>
        <p:nvSpPr>
          <p:cNvPr name="Freeform 14" id="14"/>
          <p:cNvSpPr/>
          <p:nvPr/>
        </p:nvSpPr>
        <p:spPr>
          <a:xfrm flipH="false" flipV="false" rot="0">
            <a:off x="9811511" y="5305871"/>
            <a:ext cx="2782742" cy="3353472"/>
          </a:xfrm>
          <a:custGeom>
            <a:avLst/>
            <a:gdLst/>
            <a:ahLst/>
            <a:cxnLst/>
            <a:rect r="r" b="b" t="t" l="l"/>
            <a:pathLst>
              <a:path h="3353472" w="2782742">
                <a:moveTo>
                  <a:pt x="0" y="0"/>
                </a:moveTo>
                <a:lnTo>
                  <a:pt x="2782742" y="0"/>
                </a:lnTo>
                <a:lnTo>
                  <a:pt x="2782742" y="3353472"/>
                </a:lnTo>
                <a:lnTo>
                  <a:pt x="0" y="3353472"/>
                </a:lnTo>
                <a:lnTo>
                  <a:pt x="0" y="0"/>
                </a:lnTo>
                <a:close/>
              </a:path>
            </a:pathLst>
          </a:custGeom>
          <a:blipFill>
            <a:blip r:embed="rId3"/>
            <a:stretch>
              <a:fillRect l="-687783" t="-92431" r="-39483" b="-145656"/>
            </a:stretch>
          </a:blipFill>
        </p:spPr>
      </p:sp>
      <p:sp>
        <p:nvSpPr>
          <p:cNvPr name="Freeform 15" id="15"/>
          <p:cNvSpPr/>
          <p:nvPr/>
        </p:nvSpPr>
        <p:spPr>
          <a:xfrm flipH="false" flipV="false" rot="0">
            <a:off x="13505565" y="5025530"/>
            <a:ext cx="3175878" cy="3589587"/>
          </a:xfrm>
          <a:custGeom>
            <a:avLst/>
            <a:gdLst/>
            <a:ahLst/>
            <a:cxnLst/>
            <a:rect r="r" b="b" t="t" l="l"/>
            <a:pathLst>
              <a:path h="3589587" w="3175878">
                <a:moveTo>
                  <a:pt x="0" y="0"/>
                </a:moveTo>
                <a:lnTo>
                  <a:pt x="3175878" y="0"/>
                </a:lnTo>
                <a:lnTo>
                  <a:pt x="3175878" y="3589588"/>
                </a:lnTo>
                <a:lnTo>
                  <a:pt x="0" y="3589588"/>
                </a:lnTo>
                <a:lnTo>
                  <a:pt x="0" y="0"/>
                </a:lnTo>
                <a:close/>
              </a:path>
            </a:pathLst>
          </a:custGeom>
          <a:blipFill>
            <a:blip r:embed="rId3"/>
            <a:stretch>
              <a:fillRect l="-518055" t="-166873" r="-4914" b="-4578"/>
            </a:stretch>
          </a:blipFill>
        </p:spPr>
      </p:sp>
      <p:sp>
        <p:nvSpPr>
          <p:cNvPr name="Freeform 16" id="16"/>
          <p:cNvSpPr/>
          <p:nvPr/>
        </p:nvSpPr>
        <p:spPr>
          <a:xfrm>
            <a:off x="4816590" y="3979041"/>
            <a:ext cx="653636" cy="2041173"/>
          </a:xfrm>
          <a:custGeom>
            <a:avLst/>
            <a:gdLst/>
            <a:ahLst/>
            <a:cxnLst/>
            <a:rect r="r" b="b" t="t" l="l"/>
            <a:pathLst>
              <a:path h="2041173" w="653636">
                <a:moveTo>
                  <a:pt x="653636" y="0"/>
                </a:moveTo>
                <a:lnTo>
                  <a:pt x="492317" y="0"/>
                </a:lnTo>
                <a:cubicBezTo>
                  <a:pt x="449532" y="0"/>
                  <a:pt x="408500" y="16996"/>
                  <a:pt x="378246" y="47249"/>
                </a:cubicBezTo>
                <a:cubicBezTo>
                  <a:pt x="347993" y="77502"/>
                  <a:pt x="330997" y="118535"/>
                  <a:pt x="330997" y="161319"/>
                </a:cubicBezTo>
                <a:lnTo>
                  <a:pt x="330997" y="1875675"/>
                </a:lnTo>
                <a:cubicBezTo>
                  <a:pt x="330997" y="1967077"/>
                  <a:pt x="256901" y="2041173"/>
                  <a:pt x="165499" y="2041173"/>
                </a:cubicBezTo>
                <a:lnTo>
                  <a:pt x="0" y="2041173"/>
                </a:lnTo>
              </a:path>
            </a:pathLst>
          </a:custGeom>
          <a:ln cap="rnd" w="38100">
            <a:solidFill>
              <a:srgbClr val="DCDDDD">
                <a:alpha val="88627"/>
              </a:srgbClr>
            </a:solidFill>
            <a:prstDash val="solid"/>
            <a:headEnd type="none" len="sm" w="sm"/>
            <a:tailEnd type="none" len="sm" w="sm"/>
          </a:ln>
        </p:spPr>
      </p:sp>
      <p:sp>
        <p:nvSpPr>
          <p:cNvPr name="Freeform 17" id="17"/>
          <p:cNvSpPr/>
          <p:nvPr/>
        </p:nvSpPr>
        <p:spPr>
          <a:xfrm>
            <a:off x="4861227" y="2788794"/>
            <a:ext cx="4842027" cy="3231420"/>
          </a:xfrm>
          <a:custGeom>
            <a:avLst/>
            <a:gdLst/>
            <a:ahLst/>
            <a:cxnLst/>
            <a:rect r="r" b="b" t="t" l="l"/>
            <a:pathLst>
              <a:path h="3231420" w="4842027">
                <a:moveTo>
                  <a:pt x="4842026" y="802047"/>
                </a:moveTo>
                <a:lnTo>
                  <a:pt x="4633323" y="802047"/>
                </a:lnTo>
                <a:cubicBezTo>
                  <a:pt x="4577971" y="802047"/>
                  <a:pt x="4524887" y="780059"/>
                  <a:pt x="4485747" y="740920"/>
                </a:cubicBezTo>
                <a:cubicBezTo>
                  <a:pt x="4446608" y="701780"/>
                  <a:pt x="4424619" y="648695"/>
                  <a:pt x="4424619" y="593344"/>
                </a:cubicBezTo>
                <a:lnTo>
                  <a:pt x="4424619" y="228600"/>
                </a:lnTo>
                <a:cubicBezTo>
                  <a:pt x="4424619" y="102348"/>
                  <a:pt x="4322271" y="0"/>
                  <a:pt x="4196019" y="0"/>
                </a:cubicBezTo>
                <a:lnTo>
                  <a:pt x="514960" y="0"/>
                </a:lnTo>
                <a:cubicBezTo>
                  <a:pt x="388708" y="0"/>
                  <a:pt x="286360" y="102348"/>
                  <a:pt x="286360" y="228600"/>
                </a:cubicBezTo>
                <a:lnTo>
                  <a:pt x="286360" y="3088240"/>
                </a:lnTo>
                <a:cubicBezTo>
                  <a:pt x="286360" y="3126214"/>
                  <a:pt x="271275" y="3162632"/>
                  <a:pt x="244423" y="3189484"/>
                </a:cubicBezTo>
                <a:cubicBezTo>
                  <a:pt x="217572" y="3216335"/>
                  <a:pt x="181154" y="3231420"/>
                  <a:pt x="143180" y="3231420"/>
                </a:cubicBezTo>
                <a:lnTo>
                  <a:pt x="0" y="3231420"/>
                </a:lnTo>
              </a:path>
            </a:pathLst>
          </a:custGeom>
          <a:ln cap="rnd" w="38100">
            <a:solidFill>
              <a:srgbClr val="DCDDDD">
                <a:alpha val="88627"/>
              </a:srgbClr>
            </a:solidFill>
            <a:prstDash val="solid"/>
            <a:headEnd type="none" len="sm" w="sm"/>
            <a:tailEnd type="none" len="sm" w="sm"/>
          </a:ln>
        </p:spPr>
      </p:sp>
      <p:sp>
        <p:nvSpPr>
          <p:cNvPr name="Freeform 18" id="18"/>
          <p:cNvSpPr/>
          <p:nvPr/>
        </p:nvSpPr>
        <p:spPr>
          <a:xfrm>
            <a:off x="8946131" y="3615287"/>
            <a:ext cx="679430" cy="382804"/>
          </a:xfrm>
          <a:custGeom>
            <a:avLst/>
            <a:gdLst/>
            <a:ahLst/>
            <a:cxnLst/>
            <a:rect r="r" b="b" t="t" l="l"/>
            <a:pathLst>
              <a:path h="382804" w="679430">
                <a:moveTo>
                  <a:pt x="679430" y="382804"/>
                </a:moveTo>
                <a:lnTo>
                  <a:pt x="509573" y="382804"/>
                </a:lnTo>
                <a:cubicBezTo>
                  <a:pt x="464524" y="382804"/>
                  <a:pt x="421320" y="364908"/>
                  <a:pt x="389466" y="333054"/>
                </a:cubicBezTo>
                <a:cubicBezTo>
                  <a:pt x="357611" y="301199"/>
                  <a:pt x="339715" y="257996"/>
                  <a:pt x="339715" y="212946"/>
                </a:cubicBezTo>
                <a:lnTo>
                  <a:pt x="339715" y="169858"/>
                </a:lnTo>
                <a:cubicBezTo>
                  <a:pt x="339715" y="76048"/>
                  <a:pt x="263667" y="0"/>
                  <a:pt x="169858" y="0"/>
                </a:cubicBezTo>
                <a:lnTo>
                  <a:pt x="0" y="0"/>
                </a:lnTo>
              </a:path>
            </a:pathLst>
          </a:custGeom>
          <a:ln cap="rnd" w="38100">
            <a:solidFill>
              <a:srgbClr val="DCDDDD">
                <a:alpha val="88627"/>
              </a:srgbClr>
            </a:solidFill>
            <a:prstDash val="solid"/>
            <a:headEnd type="none" len="sm" w="sm"/>
            <a:tailEnd type="none" len="sm" w="sm"/>
          </a:ln>
        </p:spPr>
      </p:sp>
      <p:sp>
        <p:nvSpPr>
          <p:cNvPr name="Freeform 19" id="19"/>
          <p:cNvSpPr/>
          <p:nvPr/>
        </p:nvSpPr>
        <p:spPr>
          <a:xfrm>
            <a:off x="8946131" y="3615287"/>
            <a:ext cx="865380" cy="2417638"/>
          </a:xfrm>
          <a:custGeom>
            <a:avLst/>
            <a:gdLst/>
            <a:ahLst/>
            <a:cxnLst/>
            <a:rect r="r" b="b" t="t" l="l"/>
            <a:pathLst>
              <a:path h="2417638" w="865380">
                <a:moveTo>
                  <a:pt x="865380" y="2417638"/>
                </a:moveTo>
                <a:lnTo>
                  <a:pt x="568315" y="2417638"/>
                </a:lnTo>
                <a:cubicBezTo>
                  <a:pt x="507687" y="2417638"/>
                  <a:pt x="449541" y="2393554"/>
                  <a:pt x="406671" y="2350683"/>
                </a:cubicBezTo>
                <a:cubicBezTo>
                  <a:pt x="363800" y="2307812"/>
                  <a:pt x="339715" y="2249667"/>
                  <a:pt x="339715" y="2189038"/>
                </a:cubicBezTo>
                <a:lnTo>
                  <a:pt x="339715" y="169858"/>
                </a:lnTo>
                <a:cubicBezTo>
                  <a:pt x="339715" y="76048"/>
                  <a:pt x="263667" y="0"/>
                  <a:pt x="169858" y="0"/>
                </a:cubicBezTo>
                <a:lnTo>
                  <a:pt x="0" y="0"/>
                </a:lnTo>
              </a:path>
            </a:pathLst>
          </a:custGeom>
          <a:ln cap="rnd" w="38100">
            <a:solidFill>
              <a:srgbClr val="DCDDDD">
                <a:alpha val="88627"/>
              </a:srgbClr>
            </a:solidFill>
            <a:prstDash val="solid"/>
            <a:headEnd type="none" len="sm" w="sm"/>
            <a:tailEnd type="none" len="sm" w="sm"/>
          </a:ln>
        </p:spPr>
      </p:sp>
      <p:sp>
        <p:nvSpPr>
          <p:cNvPr name="Freeform 20" id="20"/>
          <p:cNvSpPr/>
          <p:nvPr/>
        </p:nvSpPr>
        <p:spPr>
          <a:xfrm>
            <a:off x="8946131" y="3615287"/>
            <a:ext cx="4559433" cy="2759803"/>
          </a:xfrm>
          <a:custGeom>
            <a:avLst/>
            <a:gdLst/>
            <a:ahLst/>
            <a:cxnLst/>
            <a:rect r="r" b="b" t="t" l="l"/>
            <a:pathLst>
              <a:path h="2759803" w="4559433">
                <a:moveTo>
                  <a:pt x="4559434" y="2759803"/>
                </a:moveTo>
                <a:lnTo>
                  <a:pt x="4331606" y="2759803"/>
                </a:lnTo>
                <a:cubicBezTo>
                  <a:pt x="4271182" y="2759803"/>
                  <a:pt x="4213233" y="2735800"/>
                  <a:pt x="4170507" y="2693074"/>
                </a:cubicBezTo>
                <a:cubicBezTo>
                  <a:pt x="4127781" y="2650348"/>
                  <a:pt x="4103778" y="2592399"/>
                  <a:pt x="4103778" y="2531975"/>
                </a:cubicBezTo>
                <a:lnTo>
                  <a:pt x="4103778" y="1804383"/>
                </a:lnTo>
                <a:cubicBezTo>
                  <a:pt x="4103778" y="1678130"/>
                  <a:pt x="4001430" y="1575783"/>
                  <a:pt x="3875178" y="1575783"/>
                </a:cubicBezTo>
                <a:lnTo>
                  <a:pt x="568315" y="1575783"/>
                </a:lnTo>
                <a:cubicBezTo>
                  <a:pt x="442063" y="1575783"/>
                  <a:pt x="339715" y="1473435"/>
                  <a:pt x="339715" y="1347183"/>
                </a:cubicBezTo>
                <a:lnTo>
                  <a:pt x="339715" y="169858"/>
                </a:lnTo>
                <a:cubicBezTo>
                  <a:pt x="339715" y="76048"/>
                  <a:pt x="263667" y="0"/>
                  <a:pt x="169858" y="0"/>
                </a:cubicBezTo>
                <a:lnTo>
                  <a:pt x="0" y="0"/>
                </a:lnTo>
              </a:path>
            </a:pathLst>
          </a:custGeom>
          <a:ln cap="rnd" w="38100">
            <a:solidFill>
              <a:srgbClr val="DCDDDD">
                <a:alpha val="88627"/>
              </a:srgbClr>
            </a:solidFill>
            <a:prstDash val="solid"/>
            <a:headEnd type="none" len="sm" w="sm"/>
            <a:tailEnd type="none" len="sm" w="sm"/>
          </a:ln>
        </p:spPr>
      </p:sp>
      <p:sp>
        <p:nvSpPr>
          <p:cNvPr name="TextBox 21" id="21"/>
          <p:cNvSpPr txBox="true"/>
          <p:nvPr/>
        </p:nvSpPr>
        <p:spPr>
          <a:xfrm rot="0">
            <a:off x="13176645" y="2977285"/>
            <a:ext cx="3833718" cy="1362070"/>
          </a:xfrm>
          <a:prstGeom prst="rect">
            <a:avLst/>
          </a:prstGeom>
        </p:spPr>
        <p:txBody>
          <a:bodyPr anchor="t" rtlCol="false" tIns="0" lIns="0" bIns="0" rIns="0">
            <a:spAutoFit/>
          </a:bodyPr>
          <a:lstStyle/>
          <a:p>
            <a:pPr algn="l">
              <a:lnSpc>
                <a:spcPts val="2766"/>
              </a:lnSpc>
            </a:pPr>
            <a:r>
              <a:rPr lang="en-US" sz="1646">
                <a:solidFill>
                  <a:srgbClr val="1E3B50"/>
                </a:solidFill>
                <a:latin typeface="League Spartan"/>
                <a:ea typeface="League Spartan"/>
                <a:cs typeface="League Spartan"/>
                <a:sym typeface="League Spartan"/>
              </a:rPr>
              <a:t>• PK and FK constraints</a:t>
            </a:r>
          </a:p>
          <a:p>
            <a:pPr algn="l">
              <a:lnSpc>
                <a:spcPts val="2766"/>
              </a:lnSpc>
            </a:pPr>
            <a:r>
              <a:rPr lang="en-US" sz="1646">
                <a:solidFill>
                  <a:srgbClr val="1E3B50"/>
                </a:solidFill>
                <a:latin typeface="League Spartan"/>
                <a:ea typeface="League Spartan"/>
                <a:cs typeface="League Spartan"/>
                <a:sym typeface="League Spartan"/>
              </a:rPr>
              <a:t>• Indexes for query optimization</a:t>
            </a:r>
          </a:p>
          <a:p>
            <a:pPr algn="l">
              <a:lnSpc>
                <a:spcPts val="2766"/>
              </a:lnSpc>
            </a:pPr>
            <a:r>
              <a:rPr lang="en-US" sz="1646">
                <a:solidFill>
                  <a:srgbClr val="1E3B50"/>
                </a:solidFill>
                <a:latin typeface="League Spartan"/>
                <a:ea typeface="League Spartan"/>
                <a:cs typeface="League Spartan"/>
                <a:sym typeface="League Spartan"/>
              </a:rPr>
              <a:t>• Scalable to multiple tournaments</a:t>
            </a:r>
          </a:p>
          <a:p>
            <a:pPr algn="l">
              <a:lnSpc>
                <a:spcPts val="2766"/>
              </a:lnSpc>
            </a:pPr>
            <a:r>
              <a:rPr lang="en-US" sz="1646">
                <a:solidFill>
                  <a:srgbClr val="1E3B50"/>
                </a:solidFill>
                <a:latin typeface="League Spartan"/>
                <a:ea typeface="League Spartan"/>
                <a:cs typeface="League Spartan"/>
                <a:sym typeface="League Spartan"/>
              </a:rPr>
              <a:t>• Analysis-ready data model</a:t>
            </a:r>
          </a:p>
        </p:txBody>
      </p:sp>
      <p:sp>
        <p:nvSpPr>
          <p:cNvPr name="Freeform 22" id="22"/>
          <p:cNvSpPr/>
          <p:nvPr/>
        </p:nvSpPr>
        <p:spPr>
          <a:xfrm>
            <a:off x="4816590" y="6013875"/>
            <a:ext cx="8688975" cy="2803936"/>
          </a:xfrm>
          <a:custGeom>
            <a:avLst/>
            <a:gdLst/>
            <a:ahLst/>
            <a:cxnLst/>
            <a:rect r="r" b="b" t="t" l="l"/>
            <a:pathLst>
              <a:path h="2803936" w="8688975">
                <a:moveTo>
                  <a:pt x="8688975" y="0"/>
                </a:moveTo>
                <a:lnTo>
                  <a:pt x="8198402" y="0"/>
                </a:lnTo>
                <a:cubicBezTo>
                  <a:pt x="8072149" y="0"/>
                  <a:pt x="7969801" y="102348"/>
                  <a:pt x="7969801" y="228600"/>
                </a:cubicBezTo>
                <a:lnTo>
                  <a:pt x="7969801" y="2575336"/>
                </a:lnTo>
                <a:cubicBezTo>
                  <a:pt x="7969801" y="2701588"/>
                  <a:pt x="7867453" y="2803936"/>
                  <a:pt x="7741201" y="2803936"/>
                </a:cubicBezTo>
                <a:lnTo>
                  <a:pt x="559597" y="2803936"/>
                </a:lnTo>
                <a:cubicBezTo>
                  <a:pt x="498968" y="2803936"/>
                  <a:pt x="440823" y="2779852"/>
                  <a:pt x="397952" y="2736981"/>
                </a:cubicBezTo>
                <a:cubicBezTo>
                  <a:pt x="355082" y="2694111"/>
                  <a:pt x="330997" y="2635965"/>
                  <a:pt x="330997" y="2575336"/>
                </a:cubicBezTo>
                <a:lnTo>
                  <a:pt x="330997" y="171838"/>
                </a:lnTo>
                <a:cubicBezTo>
                  <a:pt x="330997" y="127945"/>
                  <a:pt x="313560" y="85850"/>
                  <a:pt x="282524" y="54813"/>
                </a:cubicBezTo>
                <a:cubicBezTo>
                  <a:pt x="251487" y="23776"/>
                  <a:pt x="209391" y="6339"/>
                  <a:pt x="165499" y="6339"/>
                </a:cubicBezTo>
                <a:lnTo>
                  <a:pt x="0" y="6339"/>
                </a:lnTo>
              </a:path>
            </a:pathLst>
          </a:custGeom>
          <a:ln cap="rnd" w="38100">
            <a:solidFill>
              <a:srgbClr val="DCDDDD">
                <a:alpha val="88627"/>
              </a:srgbClr>
            </a:solidFill>
            <a:prstDash val="solid"/>
            <a:headEnd type="none" len="sm" w="sm"/>
            <a:tailEnd type="none" len="sm" w="sm"/>
          </a:ln>
        </p:spPr>
      </p:sp>
      <p:sp>
        <p:nvSpPr>
          <p:cNvPr name="Freeform 23" id="23"/>
          <p:cNvSpPr/>
          <p:nvPr/>
        </p:nvSpPr>
        <p:spPr>
          <a:xfrm>
            <a:off x="8946131" y="3615287"/>
            <a:ext cx="4559433" cy="3617500"/>
          </a:xfrm>
          <a:custGeom>
            <a:avLst/>
            <a:gdLst/>
            <a:ahLst/>
            <a:cxnLst/>
            <a:rect r="r" b="b" t="t" l="l"/>
            <a:pathLst>
              <a:path h="3617500" w="4559433">
                <a:moveTo>
                  <a:pt x="4559434" y="3617500"/>
                </a:moveTo>
                <a:lnTo>
                  <a:pt x="4308466" y="3617500"/>
                </a:lnTo>
                <a:cubicBezTo>
                  <a:pt x="4194566" y="3617500"/>
                  <a:pt x="4102234" y="3525167"/>
                  <a:pt x="4102234" y="3411269"/>
                </a:cubicBezTo>
                <a:lnTo>
                  <a:pt x="4102234" y="3205809"/>
                </a:lnTo>
                <a:cubicBezTo>
                  <a:pt x="4102234" y="3205383"/>
                  <a:pt x="4102579" y="3205037"/>
                  <a:pt x="4103006" y="3205037"/>
                </a:cubicBezTo>
                <a:lnTo>
                  <a:pt x="4103006" y="3205037"/>
                </a:lnTo>
                <a:cubicBezTo>
                  <a:pt x="4103432" y="3205037"/>
                  <a:pt x="4103778" y="3204691"/>
                  <a:pt x="4103778" y="3204265"/>
                </a:cubicBezTo>
                <a:lnTo>
                  <a:pt x="4103778" y="1804383"/>
                </a:lnTo>
                <a:cubicBezTo>
                  <a:pt x="4103778" y="1678130"/>
                  <a:pt x="4001430" y="1575783"/>
                  <a:pt x="3875178" y="1575783"/>
                </a:cubicBezTo>
                <a:lnTo>
                  <a:pt x="568315" y="1575783"/>
                </a:lnTo>
                <a:cubicBezTo>
                  <a:pt x="442063" y="1575783"/>
                  <a:pt x="339715" y="1473435"/>
                  <a:pt x="339715" y="1347183"/>
                </a:cubicBezTo>
                <a:lnTo>
                  <a:pt x="339715" y="169858"/>
                </a:lnTo>
                <a:cubicBezTo>
                  <a:pt x="339715" y="76048"/>
                  <a:pt x="263667" y="0"/>
                  <a:pt x="169858" y="0"/>
                </a:cubicBezTo>
                <a:lnTo>
                  <a:pt x="0" y="0"/>
                </a:lnTo>
              </a:path>
            </a:pathLst>
          </a:custGeom>
          <a:ln cap="rnd" w="38100">
            <a:solidFill>
              <a:srgbClr val="DCDDDD">
                <a:alpha val="88627"/>
              </a:srgbClr>
            </a:solidFill>
            <a:prstDash val="solid"/>
            <a:headEnd type="none" len="sm" w="sm"/>
            <a:tailEnd type="none" len="sm" w="sm"/>
          </a:ln>
        </p:spPr>
      </p:sp>
      <p:sp>
        <p:nvSpPr>
          <p:cNvPr name="Freeform 24" id="24"/>
          <p:cNvSpPr/>
          <p:nvPr/>
        </p:nvSpPr>
        <p:spPr>
          <a:xfrm flipH="false" flipV="false" rot="0">
            <a:off x="1455775" y="2938782"/>
            <a:ext cx="3161496" cy="2290818"/>
          </a:xfrm>
          <a:custGeom>
            <a:avLst/>
            <a:gdLst/>
            <a:ahLst/>
            <a:cxnLst/>
            <a:rect r="r" b="b" t="t" l="l"/>
            <a:pathLst>
              <a:path h="2290818" w="3161496">
                <a:moveTo>
                  <a:pt x="0" y="0"/>
                </a:moveTo>
                <a:lnTo>
                  <a:pt x="3161496" y="0"/>
                </a:lnTo>
                <a:lnTo>
                  <a:pt x="3161496" y="2290818"/>
                </a:lnTo>
                <a:lnTo>
                  <a:pt x="0" y="2290818"/>
                </a:lnTo>
                <a:lnTo>
                  <a:pt x="0" y="0"/>
                </a:lnTo>
                <a:close/>
              </a:path>
            </a:pathLst>
          </a:custGeom>
          <a:blipFill>
            <a:blip r:embed="rId3"/>
            <a:stretch>
              <a:fillRect l="-4802" t="-7444" r="-593353" b="-367081"/>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24A5B"/>
        </a:solidFill>
      </p:bgPr>
    </p:bg>
    <p:spTree>
      <p:nvGrpSpPr>
        <p:cNvPr id="1" name=""/>
        <p:cNvGrpSpPr/>
        <p:nvPr/>
      </p:nvGrpSpPr>
      <p:grpSpPr>
        <a:xfrm>
          <a:off x="0" y="0"/>
          <a:ext cx="0" cy="0"/>
          <a:chOff x="0" y="0"/>
          <a:chExt cx="0" cy="0"/>
        </a:xfrm>
      </p:grpSpPr>
      <p:sp>
        <p:nvSpPr>
          <p:cNvPr name="Freeform 2" id="2"/>
          <p:cNvSpPr/>
          <p:nvPr/>
        </p:nvSpPr>
        <p:spPr>
          <a:xfrm flipH="false" flipV="false" rot="0">
            <a:off x="0" y="-667728"/>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39000"/>
            </a:blip>
            <a:stretch>
              <a:fillRect l="0" t="0" r="0" b="0"/>
            </a:stretch>
          </a:blipFill>
        </p:spPr>
      </p:sp>
      <p:sp>
        <p:nvSpPr>
          <p:cNvPr name="AutoShape 3" id="3"/>
          <p:cNvSpPr/>
          <p:nvPr/>
        </p:nvSpPr>
        <p:spPr>
          <a:xfrm flipV="true">
            <a:off x="5086350" y="1256594"/>
            <a:ext cx="8115300" cy="0"/>
          </a:xfrm>
          <a:prstGeom prst="line">
            <a:avLst/>
          </a:prstGeom>
          <a:ln cap="flat" w="38100">
            <a:solidFill>
              <a:srgbClr val="DCDDDD"/>
            </a:solidFill>
            <a:prstDash val="solid"/>
            <a:headEnd type="none" len="sm" w="sm"/>
            <a:tailEnd type="none" len="sm" w="sm"/>
          </a:ln>
        </p:spPr>
      </p:sp>
      <p:grpSp>
        <p:nvGrpSpPr>
          <p:cNvPr name="Group 4" id="4"/>
          <p:cNvGrpSpPr/>
          <p:nvPr/>
        </p:nvGrpSpPr>
        <p:grpSpPr>
          <a:xfrm rot="0">
            <a:off x="-1142495" y="1888491"/>
            <a:ext cx="11705324" cy="1104886"/>
            <a:chOff x="0" y="0"/>
            <a:chExt cx="3290862" cy="310630"/>
          </a:xfrm>
        </p:grpSpPr>
        <p:sp>
          <p:nvSpPr>
            <p:cNvPr name="Freeform 5" id="5"/>
            <p:cNvSpPr/>
            <p:nvPr/>
          </p:nvSpPr>
          <p:spPr>
            <a:xfrm flipH="false" flipV="false" rot="0">
              <a:off x="0" y="0"/>
              <a:ext cx="3290862" cy="310630"/>
            </a:xfrm>
            <a:custGeom>
              <a:avLst/>
              <a:gdLst/>
              <a:ahLst/>
              <a:cxnLst/>
              <a:rect r="r" b="b" t="t" l="l"/>
              <a:pathLst>
                <a:path h="310630" w="3290862">
                  <a:moveTo>
                    <a:pt x="22488" y="0"/>
                  </a:moveTo>
                  <a:lnTo>
                    <a:pt x="3268375" y="0"/>
                  </a:lnTo>
                  <a:cubicBezTo>
                    <a:pt x="3274339" y="0"/>
                    <a:pt x="3280059" y="2369"/>
                    <a:pt x="3284276" y="6586"/>
                  </a:cubicBezTo>
                  <a:cubicBezTo>
                    <a:pt x="3288493" y="10804"/>
                    <a:pt x="3290862" y="16524"/>
                    <a:pt x="3290862" y="22488"/>
                  </a:cubicBezTo>
                  <a:lnTo>
                    <a:pt x="3290862" y="288143"/>
                  </a:lnTo>
                  <a:cubicBezTo>
                    <a:pt x="3290862" y="294107"/>
                    <a:pt x="3288493" y="299826"/>
                    <a:pt x="3284276" y="304044"/>
                  </a:cubicBezTo>
                  <a:cubicBezTo>
                    <a:pt x="3280059" y="308261"/>
                    <a:pt x="3274339" y="310630"/>
                    <a:pt x="3268375" y="310630"/>
                  </a:cubicBezTo>
                  <a:lnTo>
                    <a:pt x="22488" y="310630"/>
                  </a:lnTo>
                  <a:cubicBezTo>
                    <a:pt x="16524" y="310630"/>
                    <a:pt x="10804" y="308261"/>
                    <a:pt x="6586" y="304044"/>
                  </a:cubicBezTo>
                  <a:cubicBezTo>
                    <a:pt x="2369" y="299826"/>
                    <a:pt x="0" y="294107"/>
                    <a:pt x="0" y="288143"/>
                  </a:cubicBezTo>
                  <a:lnTo>
                    <a:pt x="0" y="22488"/>
                  </a:lnTo>
                  <a:cubicBezTo>
                    <a:pt x="0" y="16524"/>
                    <a:pt x="2369" y="10804"/>
                    <a:pt x="6586" y="6586"/>
                  </a:cubicBezTo>
                  <a:cubicBezTo>
                    <a:pt x="10804" y="2369"/>
                    <a:pt x="16524" y="0"/>
                    <a:pt x="22488" y="0"/>
                  </a:cubicBezTo>
                  <a:close/>
                </a:path>
              </a:pathLst>
            </a:custGeom>
            <a:solidFill>
              <a:srgbClr val="1E3B50">
                <a:alpha val="65882"/>
              </a:srgbClr>
            </a:solidFill>
          </p:spPr>
        </p:sp>
        <p:sp>
          <p:nvSpPr>
            <p:cNvPr name="TextBox 6" id="6"/>
            <p:cNvSpPr txBox="true"/>
            <p:nvPr/>
          </p:nvSpPr>
          <p:spPr>
            <a:xfrm>
              <a:off x="0" y="-47625"/>
              <a:ext cx="3290862" cy="358255"/>
            </a:xfrm>
            <a:prstGeom prst="rect">
              <a:avLst/>
            </a:prstGeom>
          </p:spPr>
          <p:txBody>
            <a:bodyPr anchor="ctr" rtlCol="false" tIns="50800" lIns="50800" bIns="50800" rIns="50800"/>
            <a:lstStyle/>
            <a:p>
              <a:pPr algn="ctr">
                <a:lnSpc>
                  <a:spcPts val="3640"/>
                </a:lnSpc>
              </a:pPr>
            </a:p>
          </p:txBody>
        </p:sp>
      </p:grpSp>
      <p:grpSp>
        <p:nvGrpSpPr>
          <p:cNvPr name="Group 7" id="7"/>
          <p:cNvGrpSpPr/>
          <p:nvPr/>
        </p:nvGrpSpPr>
        <p:grpSpPr>
          <a:xfrm rot="0">
            <a:off x="1616327" y="3602977"/>
            <a:ext cx="8187999" cy="5655323"/>
            <a:chOff x="0" y="0"/>
            <a:chExt cx="2156510" cy="1489468"/>
          </a:xfrm>
        </p:grpSpPr>
        <p:sp>
          <p:nvSpPr>
            <p:cNvPr name="Freeform 8" id="8"/>
            <p:cNvSpPr/>
            <p:nvPr/>
          </p:nvSpPr>
          <p:spPr>
            <a:xfrm flipH="false" flipV="false" rot="0">
              <a:off x="0" y="0"/>
              <a:ext cx="2156510" cy="1489468"/>
            </a:xfrm>
            <a:custGeom>
              <a:avLst/>
              <a:gdLst/>
              <a:ahLst/>
              <a:cxnLst/>
              <a:rect r="r" b="b" t="t" l="l"/>
              <a:pathLst>
                <a:path h="1489468" w="2156510">
                  <a:moveTo>
                    <a:pt x="32148" y="0"/>
                  </a:moveTo>
                  <a:lnTo>
                    <a:pt x="2124362" y="0"/>
                  </a:lnTo>
                  <a:cubicBezTo>
                    <a:pt x="2132888" y="0"/>
                    <a:pt x="2141065" y="3387"/>
                    <a:pt x="2147094" y="9416"/>
                  </a:cubicBezTo>
                  <a:cubicBezTo>
                    <a:pt x="2153123" y="15445"/>
                    <a:pt x="2156510" y="23622"/>
                    <a:pt x="2156510" y="32148"/>
                  </a:cubicBezTo>
                  <a:lnTo>
                    <a:pt x="2156510" y="1457320"/>
                  </a:lnTo>
                  <a:cubicBezTo>
                    <a:pt x="2156510" y="1465846"/>
                    <a:pt x="2153123" y="1474023"/>
                    <a:pt x="2147094" y="1480052"/>
                  </a:cubicBezTo>
                  <a:cubicBezTo>
                    <a:pt x="2141065" y="1486081"/>
                    <a:pt x="2132888" y="1489468"/>
                    <a:pt x="2124362" y="1489468"/>
                  </a:cubicBezTo>
                  <a:lnTo>
                    <a:pt x="32148" y="1489468"/>
                  </a:lnTo>
                  <a:cubicBezTo>
                    <a:pt x="23622" y="1489468"/>
                    <a:pt x="15445" y="1486081"/>
                    <a:pt x="9416" y="1480052"/>
                  </a:cubicBezTo>
                  <a:cubicBezTo>
                    <a:pt x="3387" y="1474023"/>
                    <a:pt x="0" y="1465846"/>
                    <a:pt x="0" y="1457320"/>
                  </a:cubicBezTo>
                  <a:lnTo>
                    <a:pt x="0" y="32148"/>
                  </a:lnTo>
                  <a:cubicBezTo>
                    <a:pt x="0" y="23622"/>
                    <a:pt x="3387" y="15445"/>
                    <a:pt x="9416" y="9416"/>
                  </a:cubicBezTo>
                  <a:cubicBezTo>
                    <a:pt x="15445" y="3387"/>
                    <a:pt x="23622" y="0"/>
                    <a:pt x="32148" y="0"/>
                  </a:cubicBezTo>
                  <a:close/>
                </a:path>
              </a:pathLst>
            </a:custGeom>
            <a:solidFill>
              <a:srgbClr val="1E3B50">
                <a:alpha val="65882"/>
              </a:srgbClr>
            </a:solidFill>
          </p:spPr>
        </p:sp>
        <p:sp>
          <p:nvSpPr>
            <p:cNvPr name="TextBox 9" id="9"/>
            <p:cNvSpPr txBox="true"/>
            <p:nvPr/>
          </p:nvSpPr>
          <p:spPr>
            <a:xfrm>
              <a:off x="0" y="-47625"/>
              <a:ext cx="2156510" cy="1537093"/>
            </a:xfrm>
            <a:prstGeom prst="rect">
              <a:avLst/>
            </a:prstGeom>
          </p:spPr>
          <p:txBody>
            <a:bodyPr anchor="ctr" rtlCol="false" tIns="50800" lIns="50800" bIns="50800" rIns="50800"/>
            <a:lstStyle/>
            <a:p>
              <a:pPr algn="ctr">
                <a:lnSpc>
                  <a:spcPts val="3640"/>
                </a:lnSpc>
              </a:pPr>
            </a:p>
          </p:txBody>
        </p:sp>
      </p:grpSp>
      <p:sp>
        <p:nvSpPr>
          <p:cNvPr name="Freeform 10" id="10"/>
          <p:cNvSpPr/>
          <p:nvPr/>
        </p:nvSpPr>
        <p:spPr>
          <a:xfrm flipH="false" flipV="false" rot="0">
            <a:off x="1940971" y="4461814"/>
            <a:ext cx="7538711" cy="4576626"/>
          </a:xfrm>
          <a:custGeom>
            <a:avLst/>
            <a:gdLst/>
            <a:ahLst/>
            <a:cxnLst/>
            <a:rect r="r" b="b" t="t" l="l"/>
            <a:pathLst>
              <a:path h="4576626" w="7538711">
                <a:moveTo>
                  <a:pt x="0" y="0"/>
                </a:moveTo>
                <a:lnTo>
                  <a:pt x="7538711" y="0"/>
                </a:lnTo>
                <a:lnTo>
                  <a:pt x="7538711" y="4576626"/>
                </a:lnTo>
                <a:lnTo>
                  <a:pt x="0" y="4576626"/>
                </a:lnTo>
                <a:lnTo>
                  <a:pt x="0" y="0"/>
                </a:lnTo>
                <a:close/>
              </a:path>
            </a:pathLst>
          </a:custGeom>
          <a:blipFill>
            <a:blip r:embed="rId3"/>
            <a:stretch>
              <a:fillRect l="0" t="0" r="0" b="0"/>
            </a:stretch>
          </a:blipFill>
        </p:spPr>
      </p:sp>
      <p:sp>
        <p:nvSpPr>
          <p:cNvPr name="TextBox 11" id="11"/>
          <p:cNvSpPr txBox="true"/>
          <p:nvPr/>
        </p:nvSpPr>
        <p:spPr>
          <a:xfrm rot="0">
            <a:off x="2130434" y="246838"/>
            <a:ext cx="14302076" cy="866881"/>
          </a:xfrm>
          <a:prstGeom prst="rect">
            <a:avLst/>
          </a:prstGeom>
        </p:spPr>
        <p:txBody>
          <a:bodyPr anchor="t" rtlCol="false" tIns="0" lIns="0" bIns="0" rIns="0">
            <a:spAutoFit/>
          </a:bodyPr>
          <a:lstStyle/>
          <a:p>
            <a:pPr algn="ctr">
              <a:lnSpc>
                <a:spcPts val="7031"/>
              </a:lnSpc>
              <a:spcBef>
                <a:spcPct val="0"/>
              </a:spcBef>
            </a:pPr>
            <a:r>
              <a:rPr lang="en-US" sz="5022">
                <a:solidFill>
                  <a:srgbClr val="DCDDDD"/>
                </a:solidFill>
                <a:latin typeface="Black Ops One"/>
                <a:ea typeface="Black Ops One"/>
                <a:cs typeface="Black Ops One"/>
                <a:sym typeface="Black Ops One"/>
              </a:rPr>
              <a:t>EDA: Understanding the battlefield</a:t>
            </a:r>
          </a:p>
        </p:txBody>
      </p:sp>
      <p:sp>
        <p:nvSpPr>
          <p:cNvPr name="TextBox 12" id="12"/>
          <p:cNvSpPr txBox="true"/>
          <p:nvPr/>
        </p:nvSpPr>
        <p:spPr>
          <a:xfrm rot="0">
            <a:off x="693018" y="2047675"/>
            <a:ext cx="8786663" cy="700791"/>
          </a:xfrm>
          <a:prstGeom prst="rect">
            <a:avLst/>
          </a:prstGeom>
        </p:spPr>
        <p:txBody>
          <a:bodyPr anchor="t" rtlCol="false" tIns="0" lIns="0" bIns="0" rIns="0">
            <a:spAutoFit/>
          </a:bodyPr>
          <a:lstStyle/>
          <a:p>
            <a:pPr algn="l">
              <a:lnSpc>
                <a:spcPts val="5666"/>
              </a:lnSpc>
              <a:spcBef>
                <a:spcPct val="0"/>
              </a:spcBef>
            </a:pPr>
            <a:r>
              <a:rPr lang="en-US" sz="4047">
                <a:solidFill>
                  <a:srgbClr val="DCDDDD"/>
                </a:solidFill>
                <a:latin typeface="Black Ops One"/>
                <a:ea typeface="Black Ops One"/>
                <a:cs typeface="Black Ops One"/>
                <a:sym typeface="Black Ops One"/>
              </a:rPr>
              <a:t>Army Cost: Economic Disparity</a:t>
            </a:r>
          </a:p>
        </p:txBody>
      </p:sp>
      <p:sp>
        <p:nvSpPr>
          <p:cNvPr name="TextBox 13" id="13"/>
          <p:cNvSpPr txBox="true"/>
          <p:nvPr/>
        </p:nvSpPr>
        <p:spPr>
          <a:xfrm rot="0">
            <a:off x="2784115" y="3803002"/>
            <a:ext cx="5852422" cy="422275"/>
          </a:xfrm>
          <a:prstGeom prst="rect">
            <a:avLst/>
          </a:prstGeom>
        </p:spPr>
        <p:txBody>
          <a:bodyPr anchor="t" rtlCol="false" tIns="0" lIns="0" bIns="0" rIns="0">
            <a:spAutoFit/>
          </a:bodyPr>
          <a:lstStyle/>
          <a:p>
            <a:pPr algn="ctr">
              <a:lnSpc>
                <a:spcPts val="3499"/>
              </a:lnSpc>
            </a:pPr>
            <a:r>
              <a:rPr lang="en-US" sz="2499">
                <a:solidFill>
                  <a:srgbClr val="DCDDDD"/>
                </a:solidFill>
                <a:latin typeface="League Spartan"/>
                <a:ea typeface="League Spartan"/>
                <a:cs typeface="League Spartan"/>
                <a:sym typeface="League Spartan"/>
              </a:rPr>
              <a:t>Army cost distribution output</a:t>
            </a:r>
          </a:p>
        </p:txBody>
      </p:sp>
      <p:grpSp>
        <p:nvGrpSpPr>
          <p:cNvPr name="Group 14" id="14"/>
          <p:cNvGrpSpPr/>
          <p:nvPr/>
        </p:nvGrpSpPr>
        <p:grpSpPr>
          <a:xfrm rot="0">
            <a:off x="10285222" y="4695968"/>
            <a:ext cx="16005557" cy="3469341"/>
            <a:chOff x="0" y="0"/>
            <a:chExt cx="4499839" cy="975379"/>
          </a:xfrm>
        </p:grpSpPr>
        <p:sp>
          <p:nvSpPr>
            <p:cNvPr name="Freeform 15" id="15"/>
            <p:cNvSpPr/>
            <p:nvPr/>
          </p:nvSpPr>
          <p:spPr>
            <a:xfrm flipH="false" flipV="false" rot="0">
              <a:off x="0" y="0"/>
              <a:ext cx="4499840" cy="975379"/>
            </a:xfrm>
            <a:custGeom>
              <a:avLst/>
              <a:gdLst/>
              <a:ahLst/>
              <a:cxnLst/>
              <a:rect r="r" b="b" t="t" l="l"/>
              <a:pathLst>
                <a:path h="975379" w="4499840">
                  <a:moveTo>
                    <a:pt x="16446" y="0"/>
                  </a:moveTo>
                  <a:lnTo>
                    <a:pt x="4483394" y="0"/>
                  </a:lnTo>
                  <a:cubicBezTo>
                    <a:pt x="4487756" y="0"/>
                    <a:pt x="4491939" y="1733"/>
                    <a:pt x="4495023" y="4817"/>
                  </a:cubicBezTo>
                  <a:cubicBezTo>
                    <a:pt x="4498107" y="7901"/>
                    <a:pt x="4499840" y="12084"/>
                    <a:pt x="4499840" y="16446"/>
                  </a:cubicBezTo>
                  <a:lnTo>
                    <a:pt x="4499840" y="958933"/>
                  </a:lnTo>
                  <a:cubicBezTo>
                    <a:pt x="4499840" y="963294"/>
                    <a:pt x="4498107" y="967478"/>
                    <a:pt x="4495023" y="970562"/>
                  </a:cubicBezTo>
                  <a:cubicBezTo>
                    <a:pt x="4491939" y="973646"/>
                    <a:pt x="4487756" y="975379"/>
                    <a:pt x="4483394" y="975379"/>
                  </a:cubicBezTo>
                  <a:lnTo>
                    <a:pt x="16446" y="975379"/>
                  </a:lnTo>
                  <a:cubicBezTo>
                    <a:pt x="7363" y="975379"/>
                    <a:pt x="0" y="968016"/>
                    <a:pt x="0" y="958933"/>
                  </a:cubicBezTo>
                  <a:lnTo>
                    <a:pt x="0" y="16446"/>
                  </a:lnTo>
                  <a:cubicBezTo>
                    <a:pt x="0" y="7363"/>
                    <a:pt x="7363" y="0"/>
                    <a:pt x="16446" y="0"/>
                  </a:cubicBezTo>
                  <a:close/>
                </a:path>
              </a:pathLst>
            </a:custGeom>
            <a:solidFill>
              <a:srgbClr val="1E3B50">
                <a:alpha val="65882"/>
              </a:srgbClr>
            </a:solidFill>
          </p:spPr>
        </p:sp>
        <p:sp>
          <p:nvSpPr>
            <p:cNvPr name="TextBox 16" id="16"/>
            <p:cNvSpPr txBox="true"/>
            <p:nvPr/>
          </p:nvSpPr>
          <p:spPr>
            <a:xfrm>
              <a:off x="0" y="-47625"/>
              <a:ext cx="4499839" cy="1023004"/>
            </a:xfrm>
            <a:prstGeom prst="rect">
              <a:avLst/>
            </a:prstGeom>
          </p:spPr>
          <p:txBody>
            <a:bodyPr anchor="ctr" rtlCol="false" tIns="50800" lIns="50800" bIns="50800" rIns="50800"/>
            <a:lstStyle/>
            <a:p>
              <a:pPr algn="ctr">
                <a:lnSpc>
                  <a:spcPts val="3640"/>
                </a:lnSpc>
              </a:pPr>
            </a:p>
          </p:txBody>
        </p:sp>
      </p:grpSp>
      <p:sp>
        <p:nvSpPr>
          <p:cNvPr name="TextBox 17" id="17"/>
          <p:cNvSpPr txBox="true"/>
          <p:nvPr/>
        </p:nvSpPr>
        <p:spPr>
          <a:xfrm rot="0">
            <a:off x="10562829" y="5100313"/>
            <a:ext cx="6696471" cy="2613025"/>
          </a:xfrm>
          <a:prstGeom prst="rect">
            <a:avLst/>
          </a:prstGeom>
        </p:spPr>
        <p:txBody>
          <a:bodyPr anchor="t" rtlCol="false" tIns="0" lIns="0" bIns="0" rIns="0">
            <a:spAutoFit/>
          </a:bodyPr>
          <a:lstStyle/>
          <a:p>
            <a:pPr algn="ctr">
              <a:lnSpc>
                <a:spcPts val="3499"/>
              </a:lnSpc>
              <a:spcBef>
                <a:spcPct val="0"/>
              </a:spcBef>
            </a:pPr>
            <a:r>
              <a:rPr lang="en-US" b="true" sz="2499">
                <a:solidFill>
                  <a:srgbClr val="DCDDDD"/>
                </a:solidFill>
                <a:latin typeface="League Spartan"/>
                <a:ea typeface="League Spartan"/>
                <a:cs typeface="League Spartan"/>
                <a:sym typeface="League Spartan"/>
              </a:rPr>
              <a:t>The analysis shows a strong economic disparity between the most popular factions, with cost differences of up to four hundred euros, suggesting that the actual cost may influence the choice of faction and its popularity.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24A5B"/>
        </a:solidFill>
      </p:bgPr>
    </p:bg>
    <p:spTree>
      <p:nvGrpSpPr>
        <p:cNvPr id="1" name=""/>
        <p:cNvGrpSpPr/>
        <p:nvPr/>
      </p:nvGrpSpPr>
      <p:grpSpPr>
        <a:xfrm>
          <a:off x="0" y="0"/>
          <a:ext cx="0" cy="0"/>
          <a:chOff x="0" y="0"/>
          <a:chExt cx="0" cy="0"/>
        </a:xfrm>
      </p:grpSpPr>
      <p:sp>
        <p:nvSpPr>
          <p:cNvPr name="Freeform 2" id="2"/>
          <p:cNvSpPr/>
          <p:nvPr/>
        </p:nvSpPr>
        <p:spPr>
          <a:xfrm flipH="false" flipV="false" rot="0">
            <a:off x="0" y="-667728"/>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39000"/>
            </a:blip>
            <a:stretch>
              <a:fillRect l="0" t="0" r="0" b="0"/>
            </a:stretch>
          </a:blipFill>
        </p:spPr>
      </p:sp>
      <p:sp>
        <p:nvSpPr>
          <p:cNvPr name="AutoShape 3" id="3"/>
          <p:cNvSpPr/>
          <p:nvPr/>
        </p:nvSpPr>
        <p:spPr>
          <a:xfrm flipV="true">
            <a:off x="5086350" y="1256594"/>
            <a:ext cx="8115300" cy="0"/>
          </a:xfrm>
          <a:prstGeom prst="line">
            <a:avLst/>
          </a:prstGeom>
          <a:ln cap="flat" w="38100">
            <a:solidFill>
              <a:srgbClr val="DCDDDD"/>
            </a:solidFill>
            <a:prstDash val="solid"/>
            <a:headEnd type="none" len="sm" w="sm"/>
            <a:tailEnd type="none" len="sm" w="sm"/>
          </a:ln>
        </p:spPr>
      </p:sp>
      <p:grpSp>
        <p:nvGrpSpPr>
          <p:cNvPr name="Group 4" id="4"/>
          <p:cNvGrpSpPr/>
          <p:nvPr/>
        </p:nvGrpSpPr>
        <p:grpSpPr>
          <a:xfrm rot="0">
            <a:off x="-795826" y="1889041"/>
            <a:ext cx="8893690" cy="1104886"/>
            <a:chOff x="0" y="0"/>
            <a:chExt cx="2500393" cy="310630"/>
          </a:xfrm>
        </p:grpSpPr>
        <p:sp>
          <p:nvSpPr>
            <p:cNvPr name="Freeform 5" id="5"/>
            <p:cNvSpPr/>
            <p:nvPr/>
          </p:nvSpPr>
          <p:spPr>
            <a:xfrm flipH="false" flipV="false" rot="0">
              <a:off x="0" y="0"/>
              <a:ext cx="2500393" cy="310630"/>
            </a:xfrm>
            <a:custGeom>
              <a:avLst/>
              <a:gdLst/>
              <a:ahLst/>
              <a:cxnLst/>
              <a:rect r="r" b="b" t="t" l="l"/>
              <a:pathLst>
                <a:path h="310630" w="2500393">
                  <a:moveTo>
                    <a:pt x="29597" y="0"/>
                  </a:moveTo>
                  <a:lnTo>
                    <a:pt x="2470796" y="0"/>
                  </a:lnTo>
                  <a:cubicBezTo>
                    <a:pt x="2478645" y="0"/>
                    <a:pt x="2486173" y="3118"/>
                    <a:pt x="2491724" y="8669"/>
                  </a:cubicBezTo>
                  <a:cubicBezTo>
                    <a:pt x="2497275" y="14219"/>
                    <a:pt x="2500393" y="21747"/>
                    <a:pt x="2500393" y="29597"/>
                  </a:cubicBezTo>
                  <a:lnTo>
                    <a:pt x="2500393" y="281033"/>
                  </a:lnTo>
                  <a:cubicBezTo>
                    <a:pt x="2500393" y="288883"/>
                    <a:pt x="2497275" y="296411"/>
                    <a:pt x="2491724" y="301961"/>
                  </a:cubicBezTo>
                  <a:cubicBezTo>
                    <a:pt x="2486173" y="307512"/>
                    <a:pt x="2478645" y="310630"/>
                    <a:pt x="2470796" y="310630"/>
                  </a:cubicBezTo>
                  <a:lnTo>
                    <a:pt x="29597" y="310630"/>
                  </a:lnTo>
                  <a:cubicBezTo>
                    <a:pt x="21747" y="310630"/>
                    <a:pt x="14219" y="307512"/>
                    <a:pt x="8669" y="301961"/>
                  </a:cubicBezTo>
                  <a:cubicBezTo>
                    <a:pt x="3118" y="296411"/>
                    <a:pt x="0" y="288883"/>
                    <a:pt x="0" y="281033"/>
                  </a:cubicBezTo>
                  <a:lnTo>
                    <a:pt x="0" y="29597"/>
                  </a:lnTo>
                  <a:cubicBezTo>
                    <a:pt x="0" y="21747"/>
                    <a:pt x="3118" y="14219"/>
                    <a:pt x="8669" y="8669"/>
                  </a:cubicBezTo>
                  <a:cubicBezTo>
                    <a:pt x="14219" y="3118"/>
                    <a:pt x="21747" y="0"/>
                    <a:pt x="29597" y="0"/>
                  </a:cubicBezTo>
                  <a:close/>
                </a:path>
              </a:pathLst>
            </a:custGeom>
            <a:solidFill>
              <a:srgbClr val="1E3B50">
                <a:alpha val="65882"/>
              </a:srgbClr>
            </a:solidFill>
          </p:spPr>
        </p:sp>
        <p:sp>
          <p:nvSpPr>
            <p:cNvPr name="TextBox 6" id="6"/>
            <p:cNvSpPr txBox="true"/>
            <p:nvPr/>
          </p:nvSpPr>
          <p:spPr>
            <a:xfrm>
              <a:off x="0" y="-47625"/>
              <a:ext cx="2500393" cy="358255"/>
            </a:xfrm>
            <a:prstGeom prst="rect">
              <a:avLst/>
            </a:prstGeom>
          </p:spPr>
          <p:txBody>
            <a:bodyPr anchor="ctr" rtlCol="false" tIns="50800" lIns="50800" bIns="50800" rIns="50800"/>
            <a:lstStyle/>
            <a:p>
              <a:pPr algn="ctr">
                <a:lnSpc>
                  <a:spcPts val="3640"/>
                </a:lnSpc>
              </a:pPr>
            </a:p>
          </p:txBody>
        </p:sp>
      </p:grpSp>
      <p:grpSp>
        <p:nvGrpSpPr>
          <p:cNvPr name="Group 7" id="7"/>
          <p:cNvGrpSpPr/>
          <p:nvPr/>
        </p:nvGrpSpPr>
        <p:grpSpPr>
          <a:xfrm rot="0">
            <a:off x="9281472" y="3128861"/>
            <a:ext cx="8208972" cy="5845032"/>
            <a:chOff x="0" y="0"/>
            <a:chExt cx="2091862" cy="1489468"/>
          </a:xfrm>
        </p:grpSpPr>
        <p:sp>
          <p:nvSpPr>
            <p:cNvPr name="Freeform 8" id="8"/>
            <p:cNvSpPr/>
            <p:nvPr/>
          </p:nvSpPr>
          <p:spPr>
            <a:xfrm flipH="false" flipV="false" rot="0">
              <a:off x="0" y="0"/>
              <a:ext cx="2091862" cy="1489468"/>
            </a:xfrm>
            <a:custGeom>
              <a:avLst/>
              <a:gdLst/>
              <a:ahLst/>
              <a:cxnLst/>
              <a:rect r="r" b="b" t="t" l="l"/>
              <a:pathLst>
                <a:path h="1489468" w="2091862">
                  <a:moveTo>
                    <a:pt x="32066" y="0"/>
                  </a:moveTo>
                  <a:lnTo>
                    <a:pt x="2059797" y="0"/>
                  </a:lnTo>
                  <a:cubicBezTo>
                    <a:pt x="2077506" y="0"/>
                    <a:pt x="2091862" y="14356"/>
                    <a:pt x="2091862" y="32066"/>
                  </a:cubicBezTo>
                  <a:lnTo>
                    <a:pt x="2091862" y="1457402"/>
                  </a:lnTo>
                  <a:cubicBezTo>
                    <a:pt x="2091862" y="1475112"/>
                    <a:pt x="2077506" y="1489468"/>
                    <a:pt x="2059797" y="1489468"/>
                  </a:cubicBezTo>
                  <a:lnTo>
                    <a:pt x="32066" y="1489468"/>
                  </a:lnTo>
                  <a:cubicBezTo>
                    <a:pt x="14356" y="1489468"/>
                    <a:pt x="0" y="1475112"/>
                    <a:pt x="0" y="1457402"/>
                  </a:cubicBezTo>
                  <a:lnTo>
                    <a:pt x="0" y="32066"/>
                  </a:lnTo>
                  <a:cubicBezTo>
                    <a:pt x="0" y="14356"/>
                    <a:pt x="14356" y="0"/>
                    <a:pt x="32066" y="0"/>
                  </a:cubicBezTo>
                  <a:close/>
                </a:path>
              </a:pathLst>
            </a:custGeom>
            <a:solidFill>
              <a:srgbClr val="1E3B50">
                <a:alpha val="65882"/>
              </a:srgbClr>
            </a:solidFill>
          </p:spPr>
        </p:sp>
        <p:sp>
          <p:nvSpPr>
            <p:cNvPr name="TextBox 9" id="9"/>
            <p:cNvSpPr txBox="true"/>
            <p:nvPr/>
          </p:nvSpPr>
          <p:spPr>
            <a:xfrm>
              <a:off x="0" y="-47625"/>
              <a:ext cx="2091862" cy="1537093"/>
            </a:xfrm>
            <a:prstGeom prst="rect">
              <a:avLst/>
            </a:prstGeom>
          </p:spPr>
          <p:txBody>
            <a:bodyPr anchor="ctr" rtlCol="false" tIns="50800" lIns="50800" bIns="50800" rIns="50800"/>
            <a:lstStyle/>
            <a:p>
              <a:pPr algn="ctr">
                <a:lnSpc>
                  <a:spcPts val="3640"/>
                </a:lnSpc>
              </a:pPr>
            </a:p>
          </p:txBody>
        </p:sp>
      </p:grpSp>
      <p:sp>
        <p:nvSpPr>
          <p:cNvPr name="Freeform 10" id="10"/>
          <p:cNvSpPr/>
          <p:nvPr/>
        </p:nvSpPr>
        <p:spPr>
          <a:xfrm flipH="false" flipV="false" rot="0">
            <a:off x="9700128" y="3928364"/>
            <a:ext cx="7371661" cy="4730149"/>
          </a:xfrm>
          <a:custGeom>
            <a:avLst/>
            <a:gdLst/>
            <a:ahLst/>
            <a:cxnLst/>
            <a:rect r="r" b="b" t="t" l="l"/>
            <a:pathLst>
              <a:path h="4730149" w="7371661">
                <a:moveTo>
                  <a:pt x="0" y="0"/>
                </a:moveTo>
                <a:lnTo>
                  <a:pt x="7371661" y="0"/>
                </a:lnTo>
                <a:lnTo>
                  <a:pt x="7371661" y="4730150"/>
                </a:lnTo>
                <a:lnTo>
                  <a:pt x="0" y="4730150"/>
                </a:lnTo>
                <a:lnTo>
                  <a:pt x="0" y="0"/>
                </a:lnTo>
                <a:close/>
              </a:path>
            </a:pathLst>
          </a:custGeom>
          <a:blipFill>
            <a:blip r:embed="rId3"/>
            <a:stretch>
              <a:fillRect l="0" t="0" r="0" b="0"/>
            </a:stretch>
          </a:blipFill>
        </p:spPr>
      </p:sp>
      <p:sp>
        <p:nvSpPr>
          <p:cNvPr name="TextBox 11" id="11"/>
          <p:cNvSpPr txBox="true"/>
          <p:nvPr/>
        </p:nvSpPr>
        <p:spPr>
          <a:xfrm rot="0">
            <a:off x="2130434" y="246838"/>
            <a:ext cx="14302076" cy="866881"/>
          </a:xfrm>
          <a:prstGeom prst="rect">
            <a:avLst/>
          </a:prstGeom>
        </p:spPr>
        <p:txBody>
          <a:bodyPr anchor="t" rtlCol="false" tIns="0" lIns="0" bIns="0" rIns="0">
            <a:spAutoFit/>
          </a:bodyPr>
          <a:lstStyle/>
          <a:p>
            <a:pPr algn="ctr">
              <a:lnSpc>
                <a:spcPts val="7031"/>
              </a:lnSpc>
              <a:spcBef>
                <a:spcPct val="0"/>
              </a:spcBef>
            </a:pPr>
            <a:r>
              <a:rPr lang="en-US" sz="5022">
                <a:solidFill>
                  <a:srgbClr val="DCDDDD"/>
                </a:solidFill>
                <a:latin typeface="Black Ops One"/>
                <a:ea typeface="Black Ops One"/>
                <a:cs typeface="Black Ops One"/>
                <a:sym typeface="Black Ops One"/>
              </a:rPr>
              <a:t>EDA: Understanding the battlefield</a:t>
            </a:r>
          </a:p>
        </p:txBody>
      </p:sp>
      <p:sp>
        <p:nvSpPr>
          <p:cNvPr name="TextBox 12" id="12"/>
          <p:cNvSpPr txBox="true"/>
          <p:nvPr/>
        </p:nvSpPr>
        <p:spPr>
          <a:xfrm rot="0">
            <a:off x="1433903" y="2048226"/>
            <a:ext cx="5473792" cy="700791"/>
          </a:xfrm>
          <a:prstGeom prst="rect">
            <a:avLst/>
          </a:prstGeom>
        </p:spPr>
        <p:txBody>
          <a:bodyPr anchor="t" rtlCol="false" tIns="0" lIns="0" bIns="0" rIns="0">
            <a:spAutoFit/>
          </a:bodyPr>
          <a:lstStyle/>
          <a:p>
            <a:pPr algn="l">
              <a:lnSpc>
                <a:spcPts val="5666"/>
              </a:lnSpc>
              <a:spcBef>
                <a:spcPct val="0"/>
              </a:spcBef>
            </a:pPr>
            <a:r>
              <a:rPr lang="en-US" sz="4047">
                <a:solidFill>
                  <a:srgbClr val="DCDDDD"/>
                </a:solidFill>
                <a:latin typeface="Black Ops One"/>
                <a:ea typeface="Black Ops One"/>
                <a:cs typeface="Black Ops One"/>
                <a:sym typeface="Black Ops One"/>
              </a:rPr>
              <a:t>Price to point ratio</a:t>
            </a:r>
          </a:p>
        </p:txBody>
      </p:sp>
      <p:sp>
        <p:nvSpPr>
          <p:cNvPr name="TextBox 13" id="13"/>
          <p:cNvSpPr txBox="true"/>
          <p:nvPr/>
        </p:nvSpPr>
        <p:spPr>
          <a:xfrm rot="0">
            <a:off x="10361587" y="3369697"/>
            <a:ext cx="6048743" cy="434843"/>
          </a:xfrm>
          <a:prstGeom prst="rect">
            <a:avLst/>
          </a:prstGeom>
        </p:spPr>
        <p:txBody>
          <a:bodyPr anchor="t" rtlCol="false" tIns="0" lIns="0" bIns="0" rIns="0">
            <a:spAutoFit/>
          </a:bodyPr>
          <a:lstStyle/>
          <a:p>
            <a:pPr algn="ctr">
              <a:lnSpc>
                <a:spcPts val="3617"/>
              </a:lnSpc>
            </a:pPr>
            <a:r>
              <a:rPr lang="en-US" sz="2583">
                <a:solidFill>
                  <a:srgbClr val="DCDDDD"/>
                </a:solidFill>
                <a:latin typeface="League Spartan"/>
                <a:ea typeface="League Spartan"/>
                <a:cs typeface="League Spartan"/>
                <a:sym typeface="League Spartan"/>
              </a:rPr>
              <a:t>Correlation analysis</a:t>
            </a:r>
          </a:p>
        </p:txBody>
      </p:sp>
      <p:grpSp>
        <p:nvGrpSpPr>
          <p:cNvPr name="Group 14" id="14"/>
          <p:cNvGrpSpPr/>
          <p:nvPr/>
        </p:nvGrpSpPr>
        <p:grpSpPr>
          <a:xfrm rot="0">
            <a:off x="-1296034" y="4695968"/>
            <a:ext cx="9021204" cy="3469341"/>
            <a:chOff x="0" y="0"/>
            <a:chExt cx="2536242" cy="975379"/>
          </a:xfrm>
        </p:grpSpPr>
        <p:sp>
          <p:nvSpPr>
            <p:cNvPr name="Freeform 15" id="15"/>
            <p:cNvSpPr/>
            <p:nvPr/>
          </p:nvSpPr>
          <p:spPr>
            <a:xfrm flipH="false" flipV="false" rot="0">
              <a:off x="0" y="0"/>
              <a:ext cx="2536242" cy="975379"/>
            </a:xfrm>
            <a:custGeom>
              <a:avLst/>
              <a:gdLst/>
              <a:ahLst/>
              <a:cxnLst/>
              <a:rect r="r" b="b" t="t" l="l"/>
              <a:pathLst>
                <a:path h="975379" w="2536242">
                  <a:moveTo>
                    <a:pt x="29179" y="0"/>
                  </a:moveTo>
                  <a:lnTo>
                    <a:pt x="2507064" y="0"/>
                  </a:lnTo>
                  <a:cubicBezTo>
                    <a:pt x="2523179" y="0"/>
                    <a:pt x="2536242" y="13064"/>
                    <a:pt x="2536242" y="29179"/>
                  </a:cubicBezTo>
                  <a:lnTo>
                    <a:pt x="2536242" y="946200"/>
                  </a:lnTo>
                  <a:cubicBezTo>
                    <a:pt x="2536242" y="953939"/>
                    <a:pt x="2533168" y="961360"/>
                    <a:pt x="2527696" y="966832"/>
                  </a:cubicBezTo>
                  <a:cubicBezTo>
                    <a:pt x="2522224" y="972305"/>
                    <a:pt x="2514803" y="975379"/>
                    <a:pt x="2507064" y="975379"/>
                  </a:cubicBezTo>
                  <a:lnTo>
                    <a:pt x="29179" y="975379"/>
                  </a:lnTo>
                  <a:cubicBezTo>
                    <a:pt x="13064" y="975379"/>
                    <a:pt x="0" y="962315"/>
                    <a:pt x="0" y="946200"/>
                  </a:cubicBezTo>
                  <a:lnTo>
                    <a:pt x="0" y="29179"/>
                  </a:lnTo>
                  <a:cubicBezTo>
                    <a:pt x="0" y="21440"/>
                    <a:pt x="3074" y="14018"/>
                    <a:pt x="8546" y="8546"/>
                  </a:cubicBezTo>
                  <a:cubicBezTo>
                    <a:pt x="14018" y="3074"/>
                    <a:pt x="21440" y="0"/>
                    <a:pt x="29179" y="0"/>
                  </a:cubicBezTo>
                  <a:close/>
                </a:path>
              </a:pathLst>
            </a:custGeom>
            <a:solidFill>
              <a:srgbClr val="1E3B50">
                <a:alpha val="65882"/>
              </a:srgbClr>
            </a:solidFill>
          </p:spPr>
        </p:sp>
        <p:sp>
          <p:nvSpPr>
            <p:cNvPr name="TextBox 16" id="16"/>
            <p:cNvSpPr txBox="true"/>
            <p:nvPr/>
          </p:nvSpPr>
          <p:spPr>
            <a:xfrm>
              <a:off x="0" y="-47625"/>
              <a:ext cx="2536242" cy="1023004"/>
            </a:xfrm>
            <a:prstGeom prst="rect">
              <a:avLst/>
            </a:prstGeom>
          </p:spPr>
          <p:txBody>
            <a:bodyPr anchor="ctr" rtlCol="false" tIns="50800" lIns="50800" bIns="50800" rIns="50800"/>
            <a:lstStyle/>
            <a:p>
              <a:pPr algn="ctr">
                <a:lnSpc>
                  <a:spcPts val="3640"/>
                </a:lnSpc>
              </a:pPr>
            </a:p>
          </p:txBody>
        </p:sp>
      </p:grpSp>
      <p:sp>
        <p:nvSpPr>
          <p:cNvPr name="TextBox 17" id="17"/>
          <p:cNvSpPr txBox="true"/>
          <p:nvPr/>
        </p:nvSpPr>
        <p:spPr>
          <a:xfrm rot="0">
            <a:off x="1028700" y="5100313"/>
            <a:ext cx="6696471" cy="2613025"/>
          </a:xfrm>
          <a:prstGeom prst="rect">
            <a:avLst/>
          </a:prstGeom>
        </p:spPr>
        <p:txBody>
          <a:bodyPr anchor="t" rtlCol="false" tIns="0" lIns="0" bIns="0" rIns="0">
            <a:spAutoFit/>
          </a:bodyPr>
          <a:lstStyle/>
          <a:p>
            <a:pPr algn="ctr">
              <a:lnSpc>
                <a:spcPts val="3499"/>
              </a:lnSpc>
              <a:spcBef>
                <a:spcPct val="0"/>
              </a:spcBef>
            </a:pPr>
            <a:r>
              <a:rPr lang="en-US" b="true" sz="2499">
                <a:solidFill>
                  <a:srgbClr val="DCDDDD"/>
                </a:solidFill>
                <a:latin typeface="League Spartan"/>
                <a:ea typeface="League Spartan"/>
                <a:cs typeface="League Spartan"/>
                <a:sym typeface="League Spartan"/>
              </a:rPr>
              <a:t>This result raises the question of whether differences in economic investment may indirectly affect competitive viability, suggesting the presence of potential pay-to-win dynamics within the meta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24A5B"/>
        </a:solidFill>
      </p:bgPr>
    </p:bg>
    <p:spTree>
      <p:nvGrpSpPr>
        <p:cNvPr id="1" name=""/>
        <p:cNvGrpSpPr/>
        <p:nvPr/>
      </p:nvGrpSpPr>
      <p:grpSpPr>
        <a:xfrm>
          <a:off x="0" y="0"/>
          <a:ext cx="0" cy="0"/>
          <a:chOff x="0" y="0"/>
          <a:chExt cx="0" cy="0"/>
        </a:xfrm>
      </p:grpSpPr>
      <p:sp>
        <p:nvSpPr>
          <p:cNvPr name="Freeform 2" id="2"/>
          <p:cNvSpPr/>
          <p:nvPr/>
        </p:nvSpPr>
        <p:spPr>
          <a:xfrm flipH="false" flipV="false" rot="0">
            <a:off x="0" y="-667728"/>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39000"/>
            </a:blip>
            <a:stretch>
              <a:fillRect l="0" t="0" r="0" b="0"/>
            </a:stretch>
          </a:blipFill>
        </p:spPr>
      </p:sp>
      <p:sp>
        <p:nvSpPr>
          <p:cNvPr name="TextBox 3" id="3"/>
          <p:cNvSpPr txBox="true"/>
          <p:nvPr/>
        </p:nvSpPr>
        <p:spPr>
          <a:xfrm rot="0">
            <a:off x="2130434" y="246838"/>
            <a:ext cx="14302076" cy="866881"/>
          </a:xfrm>
          <a:prstGeom prst="rect">
            <a:avLst/>
          </a:prstGeom>
        </p:spPr>
        <p:txBody>
          <a:bodyPr anchor="t" rtlCol="false" tIns="0" lIns="0" bIns="0" rIns="0">
            <a:spAutoFit/>
          </a:bodyPr>
          <a:lstStyle/>
          <a:p>
            <a:pPr algn="ctr">
              <a:lnSpc>
                <a:spcPts val="7031"/>
              </a:lnSpc>
              <a:spcBef>
                <a:spcPct val="0"/>
              </a:spcBef>
            </a:pPr>
            <a:r>
              <a:rPr lang="en-US" sz="5022">
                <a:solidFill>
                  <a:srgbClr val="DCDDDD"/>
                </a:solidFill>
                <a:latin typeface="Black Ops One"/>
                <a:ea typeface="Black Ops One"/>
                <a:cs typeface="Black Ops One"/>
                <a:sym typeface="Black Ops One"/>
              </a:rPr>
              <a:t>Economic Analysis - Is it "Pay-to-Win"?</a:t>
            </a:r>
          </a:p>
        </p:txBody>
      </p:sp>
      <p:sp>
        <p:nvSpPr>
          <p:cNvPr name="AutoShape 4" id="4"/>
          <p:cNvSpPr/>
          <p:nvPr/>
        </p:nvSpPr>
        <p:spPr>
          <a:xfrm flipV="true">
            <a:off x="5086350" y="1256594"/>
            <a:ext cx="8115300" cy="0"/>
          </a:xfrm>
          <a:prstGeom prst="line">
            <a:avLst/>
          </a:prstGeom>
          <a:ln cap="flat" w="38100">
            <a:solidFill>
              <a:srgbClr val="DCDDDD"/>
            </a:solidFill>
            <a:prstDash val="solid"/>
            <a:headEnd type="none" len="sm" w="sm"/>
            <a:tailEnd type="none" len="sm" w="sm"/>
          </a:ln>
        </p:spPr>
      </p:sp>
      <p:grpSp>
        <p:nvGrpSpPr>
          <p:cNvPr name="Group 5" id="5"/>
          <p:cNvGrpSpPr/>
          <p:nvPr/>
        </p:nvGrpSpPr>
        <p:grpSpPr>
          <a:xfrm rot="0">
            <a:off x="9409974" y="1604745"/>
            <a:ext cx="8187999" cy="6070610"/>
            <a:chOff x="0" y="0"/>
            <a:chExt cx="2156510" cy="1598844"/>
          </a:xfrm>
        </p:grpSpPr>
        <p:sp>
          <p:nvSpPr>
            <p:cNvPr name="Freeform 6" id="6"/>
            <p:cNvSpPr/>
            <p:nvPr/>
          </p:nvSpPr>
          <p:spPr>
            <a:xfrm flipH="false" flipV="false" rot="0">
              <a:off x="0" y="0"/>
              <a:ext cx="2156510" cy="1598844"/>
            </a:xfrm>
            <a:custGeom>
              <a:avLst/>
              <a:gdLst/>
              <a:ahLst/>
              <a:cxnLst/>
              <a:rect r="r" b="b" t="t" l="l"/>
              <a:pathLst>
                <a:path h="1598844" w="2156510">
                  <a:moveTo>
                    <a:pt x="32148" y="0"/>
                  </a:moveTo>
                  <a:lnTo>
                    <a:pt x="2124362" y="0"/>
                  </a:lnTo>
                  <a:cubicBezTo>
                    <a:pt x="2132888" y="0"/>
                    <a:pt x="2141065" y="3387"/>
                    <a:pt x="2147094" y="9416"/>
                  </a:cubicBezTo>
                  <a:cubicBezTo>
                    <a:pt x="2153123" y="15445"/>
                    <a:pt x="2156510" y="23622"/>
                    <a:pt x="2156510" y="32148"/>
                  </a:cubicBezTo>
                  <a:lnTo>
                    <a:pt x="2156510" y="1566696"/>
                  </a:lnTo>
                  <a:cubicBezTo>
                    <a:pt x="2156510" y="1575222"/>
                    <a:pt x="2153123" y="1583399"/>
                    <a:pt x="2147094" y="1589428"/>
                  </a:cubicBezTo>
                  <a:cubicBezTo>
                    <a:pt x="2141065" y="1595457"/>
                    <a:pt x="2132888" y="1598844"/>
                    <a:pt x="2124362" y="1598844"/>
                  </a:cubicBezTo>
                  <a:lnTo>
                    <a:pt x="32148" y="1598844"/>
                  </a:lnTo>
                  <a:cubicBezTo>
                    <a:pt x="23622" y="1598844"/>
                    <a:pt x="15445" y="1595457"/>
                    <a:pt x="9416" y="1589428"/>
                  </a:cubicBezTo>
                  <a:cubicBezTo>
                    <a:pt x="3387" y="1583399"/>
                    <a:pt x="0" y="1575222"/>
                    <a:pt x="0" y="1566696"/>
                  </a:cubicBezTo>
                  <a:lnTo>
                    <a:pt x="0" y="32148"/>
                  </a:lnTo>
                  <a:cubicBezTo>
                    <a:pt x="0" y="23622"/>
                    <a:pt x="3387" y="15445"/>
                    <a:pt x="9416" y="9416"/>
                  </a:cubicBezTo>
                  <a:cubicBezTo>
                    <a:pt x="15445" y="3387"/>
                    <a:pt x="23622" y="0"/>
                    <a:pt x="32148" y="0"/>
                  </a:cubicBezTo>
                  <a:close/>
                </a:path>
              </a:pathLst>
            </a:custGeom>
            <a:solidFill>
              <a:srgbClr val="1E3B50">
                <a:alpha val="65882"/>
              </a:srgbClr>
            </a:solidFill>
          </p:spPr>
        </p:sp>
        <p:sp>
          <p:nvSpPr>
            <p:cNvPr name="TextBox 7" id="7"/>
            <p:cNvSpPr txBox="true"/>
            <p:nvPr/>
          </p:nvSpPr>
          <p:spPr>
            <a:xfrm>
              <a:off x="0" y="-47625"/>
              <a:ext cx="2156510" cy="1646469"/>
            </a:xfrm>
            <a:prstGeom prst="rect">
              <a:avLst/>
            </a:prstGeom>
          </p:spPr>
          <p:txBody>
            <a:bodyPr anchor="ctr" rtlCol="false" tIns="50800" lIns="50800" bIns="50800" rIns="50800"/>
            <a:lstStyle/>
            <a:p>
              <a:pPr algn="ctr">
                <a:lnSpc>
                  <a:spcPts val="3640"/>
                </a:lnSpc>
              </a:pPr>
            </a:p>
          </p:txBody>
        </p:sp>
      </p:grpSp>
      <p:sp>
        <p:nvSpPr>
          <p:cNvPr name="Freeform 8" id="8"/>
          <p:cNvSpPr/>
          <p:nvPr/>
        </p:nvSpPr>
        <p:spPr>
          <a:xfrm flipH="false" flipV="false" rot="0">
            <a:off x="9748646" y="2386854"/>
            <a:ext cx="7510654" cy="4506392"/>
          </a:xfrm>
          <a:custGeom>
            <a:avLst/>
            <a:gdLst/>
            <a:ahLst/>
            <a:cxnLst/>
            <a:rect r="r" b="b" t="t" l="l"/>
            <a:pathLst>
              <a:path h="4506392" w="7510654">
                <a:moveTo>
                  <a:pt x="0" y="0"/>
                </a:moveTo>
                <a:lnTo>
                  <a:pt x="7510654" y="0"/>
                </a:lnTo>
                <a:lnTo>
                  <a:pt x="7510654" y="4506392"/>
                </a:lnTo>
                <a:lnTo>
                  <a:pt x="0" y="4506392"/>
                </a:lnTo>
                <a:lnTo>
                  <a:pt x="0" y="0"/>
                </a:lnTo>
                <a:close/>
              </a:path>
            </a:pathLst>
          </a:custGeom>
          <a:blipFill>
            <a:blip r:embed="rId3"/>
            <a:stretch>
              <a:fillRect l="0" t="0" r="0" b="0"/>
            </a:stretch>
          </a:blipFill>
        </p:spPr>
      </p:sp>
      <p:grpSp>
        <p:nvGrpSpPr>
          <p:cNvPr name="Group 9" id="9"/>
          <p:cNvGrpSpPr/>
          <p:nvPr/>
        </p:nvGrpSpPr>
        <p:grpSpPr>
          <a:xfrm rot="0">
            <a:off x="784975" y="1578872"/>
            <a:ext cx="8187999" cy="6070610"/>
            <a:chOff x="0" y="0"/>
            <a:chExt cx="2156510" cy="1598844"/>
          </a:xfrm>
        </p:grpSpPr>
        <p:sp>
          <p:nvSpPr>
            <p:cNvPr name="Freeform 10" id="10"/>
            <p:cNvSpPr/>
            <p:nvPr/>
          </p:nvSpPr>
          <p:spPr>
            <a:xfrm flipH="false" flipV="false" rot="0">
              <a:off x="0" y="0"/>
              <a:ext cx="2156510" cy="1598844"/>
            </a:xfrm>
            <a:custGeom>
              <a:avLst/>
              <a:gdLst/>
              <a:ahLst/>
              <a:cxnLst/>
              <a:rect r="r" b="b" t="t" l="l"/>
              <a:pathLst>
                <a:path h="1598844" w="2156510">
                  <a:moveTo>
                    <a:pt x="32148" y="0"/>
                  </a:moveTo>
                  <a:lnTo>
                    <a:pt x="2124362" y="0"/>
                  </a:lnTo>
                  <a:cubicBezTo>
                    <a:pt x="2132888" y="0"/>
                    <a:pt x="2141065" y="3387"/>
                    <a:pt x="2147094" y="9416"/>
                  </a:cubicBezTo>
                  <a:cubicBezTo>
                    <a:pt x="2153123" y="15445"/>
                    <a:pt x="2156510" y="23622"/>
                    <a:pt x="2156510" y="32148"/>
                  </a:cubicBezTo>
                  <a:lnTo>
                    <a:pt x="2156510" y="1566696"/>
                  </a:lnTo>
                  <a:cubicBezTo>
                    <a:pt x="2156510" y="1575222"/>
                    <a:pt x="2153123" y="1583399"/>
                    <a:pt x="2147094" y="1589428"/>
                  </a:cubicBezTo>
                  <a:cubicBezTo>
                    <a:pt x="2141065" y="1595457"/>
                    <a:pt x="2132888" y="1598844"/>
                    <a:pt x="2124362" y="1598844"/>
                  </a:cubicBezTo>
                  <a:lnTo>
                    <a:pt x="32148" y="1598844"/>
                  </a:lnTo>
                  <a:cubicBezTo>
                    <a:pt x="23622" y="1598844"/>
                    <a:pt x="15445" y="1595457"/>
                    <a:pt x="9416" y="1589428"/>
                  </a:cubicBezTo>
                  <a:cubicBezTo>
                    <a:pt x="3387" y="1583399"/>
                    <a:pt x="0" y="1575222"/>
                    <a:pt x="0" y="1566696"/>
                  </a:cubicBezTo>
                  <a:lnTo>
                    <a:pt x="0" y="32148"/>
                  </a:lnTo>
                  <a:cubicBezTo>
                    <a:pt x="0" y="23622"/>
                    <a:pt x="3387" y="15445"/>
                    <a:pt x="9416" y="9416"/>
                  </a:cubicBezTo>
                  <a:cubicBezTo>
                    <a:pt x="15445" y="3387"/>
                    <a:pt x="23622" y="0"/>
                    <a:pt x="32148" y="0"/>
                  </a:cubicBezTo>
                  <a:close/>
                </a:path>
              </a:pathLst>
            </a:custGeom>
            <a:solidFill>
              <a:srgbClr val="1E3B50">
                <a:alpha val="65882"/>
              </a:srgbClr>
            </a:solidFill>
          </p:spPr>
        </p:sp>
        <p:sp>
          <p:nvSpPr>
            <p:cNvPr name="TextBox 11" id="11"/>
            <p:cNvSpPr txBox="true"/>
            <p:nvPr/>
          </p:nvSpPr>
          <p:spPr>
            <a:xfrm>
              <a:off x="0" y="-47625"/>
              <a:ext cx="2156510" cy="1646469"/>
            </a:xfrm>
            <a:prstGeom prst="rect">
              <a:avLst/>
            </a:prstGeom>
          </p:spPr>
          <p:txBody>
            <a:bodyPr anchor="ctr" rtlCol="false" tIns="50800" lIns="50800" bIns="50800" rIns="50800"/>
            <a:lstStyle/>
            <a:p>
              <a:pPr algn="ctr">
                <a:lnSpc>
                  <a:spcPts val="3640"/>
                </a:lnSpc>
              </a:pPr>
            </a:p>
          </p:txBody>
        </p:sp>
      </p:grpSp>
      <p:sp>
        <p:nvSpPr>
          <p:cNvPr name="Freeform 12" id="12"/>
          <p:cNvSpPr/>
          <p:nvPr/>
        </p:nvSpPr>
        <p:spPr>
          <a:xfrm flipH="false" flipV="false" rot="0">
            <a:off x="1123647" y="2360981"/>
            <a:ext cx="7510654" cy="4506392"/>
          </a:xfrm>
          <a:custGeom>
            <a:avLst/>
            <a:gdLst/>
            <a:ahLst/>
            <a:cxnLst/>
            <a:rect r="r" b="b" t="t" l="l"/>
            <a:pathLst>
              <a:path h="4506392" w="7510654">
                <a:moveTo>
                  <a:pt x="0" y="0"/>
                </a:moveTo>
                <a:lnTo>
                  <a:pt x="7510654" y="0"/>
                </a:lnTo>
                <a:lnTo>
                  <a:pt x="7510654" y="4506393"/>
                </a:lnTo>
                <a:lnTo>
                  <a:pt x="0" y="4506393"/>
                </a:lnTo>
                <a:lnTo>
                  <a:pt x="0" y="0"/>
                </a:lnTo>
                <a:close/>
              </a:path>
            </a:pathLst>
          </a:custGeom>
          <a:blipFill>
            <a:blip r:embed="rId4"/>
            <a:stretch>
              <a:fillRect l="0" t="0" r="0" b="0"/>
            </a:stretch>
          </a:blipFill>
        </p:spPr>
      </p:sp>
      <p:sp>
        <p:nvSpPr>
          <p:cNvPr name="TextBox 13" id="13"/>
          <p:cNvSpPr txBox="true"/>
          <p:nvPr/>
        </p:nvSpPr>
        <p:spPr>
          <a:xfrm rot="0">
            <a:off x="2727695" y="1761565"/>
            <a:ext cx="4112665" cy="422275"/>
          </a:xfrm>
          <a:prstGeom prst="rect">
            <a:avLst/>
          </a:prstGeom>
        </p:spPr>
        <p:txBody>
          <a:bodyPr anchor="t" rtlCol="false" tIns="0" lIns="0" bIns="0" rIns="0">
            <a:spAutoFit/>
          </a:bodyPr>
          <a:lstStyle/>
          <a:p>
            <a:pPr algn="l">
              <a:lnSpc>
                <a:spcPts val="3499"/>
              </a:lnSpc>
            </a:pPr>
            <a:r>
              <a:rPr lang="en-US" sz="2499">
                <a:solidFill>
                  <a:srgbClr val="DCDDDD"/>
                </a:solidFill>
                <a:latin typeface="League Spartan"/>
                <a:ea typeface="League Spartan"/>
                <a:cs typeface="League Spartan"/>
                <a:sym typeface="League Spartan"/>
              </a:rPr>
              <a:t>Scatterplot: cost vs rank</a:t>
            </a:r>
          </a:p>
        </p:txBody>
      </p:sp>
      <p:sp>
        <p:nvSpPr>
          <p:cNvPr name="TextBox 14" id="14"/>
          <p:cNvSpPr txBox="true"/>
          <p:nvPr/>
        </p:nvSpPr>
        <p:spPr>
          <a:xfrm rot="0">
            <a:off x="11503548" y="1761565"/>
            <a:ext cx="4000849" cy="422275"/>
          </a:xfrm>
          <a:prstGeom prst="rect">
            <a:avLst/>
          </a:prstGeom>
        </p:spPr>
        <p:txBody>
          <a:bodyPr anchor="t" rtlCol="false" tIns="0" lIns="0" bIns="0" rIns="0">
            <a:spAutoFit/>
          </a:bodyPr>
          <a:lstStyle/>
          <a:p>
            <a:pPr algn="l">
              <a:lnSpc>
                <a:spcPts val="3499"/>
              </a:lnSpc>
            </a:pPr>
            <a:r>
              <a:rPr lang="en-US" sz="2499">
                <a:solidFill>
                  <a:srgbClr val="DCDDDD"/>
                </a:solidFill>
                <a:latin typeface="League Spartan"/>
                <a:ea typeface="League Spartan"/>
                <a:cs typeface="League Spartan"/>
                <a:sym typeface="League Spartan"/>
              </a:rPr>
              <a:t>Scatterplot: cost vs win</a:t>
            </a:r>
          </a:p>
        </p:txBody>
      </p:sp>
      <p:grpSp>
        <p:nvGrpSpPr>
          <p:cNvPr name="Group 15" id="15"/>
          <p:cNvGrpSpPr/>
          <p:nvPr/>
        </p:nvGrpSpPr>
        <p:grpSpPr>
          <a:xfrm rot="0">
            <a:off x="3078094" y="8037305"/>
            <a:ext cx="12131811" cy="1512413"/>
            <a:chOff x="0" y="0"/>
            <a:chExt cx="3195210" cy="398331"/>
          </a:xfrm>
        </p:grpSpPr>
        <p:sp>
          <p:nvSpPr>
            <p:cNvPr name="Freeform 16" id="16"/>
            <p:cNvSpPr/>
            <p:nvPr/>
          </p:nvSpPr>
          <p:spPr>
            <a:xfrm flipH="false" flipV="false" rot="0">
              <a:off x="0" y="0"/>
              <a:ext cx="3195210" cy="398331"/>
            </a:xfrm>
            <a:custGeom>
              <a:avLst/>
              <a:gdLst/>
              <a:ahLst/>
              <a:cxnLst/>
              <a:rect r="r" b="b" t="t" l="l"/>
              <a:pathLst>
                <a:path h="398331" w="3195210">
                  <a:moveTo>
                    <a:pt x="21697" y="0"/>
                  </a:moveTo>
                  <a:lnTo>
                    <a:pt x="3173512" y="0"/>
                  </a:lnTo>
                  <a:cubicBezTo>
                    <a:pt x="3185495" y="0"/>
                    <a:pt x="3195210" y="9714"/>
                    <a:pt x="3195210" y="21697"/>
                  </a:cubicBezTo>
                  <a:lnTo>
                    <a:pt x="3195210" y="376634"/>
                  </a:lnTo>
                  <a:cubicBezTo>
                    <a:pt x="3195210" y="382388"/>
                    <a:pt x="3192924" y="387907"/>
                    <a:pt x="3188855" y="391976"/>
                  </a:cubicBezTo>
                  <a:cubicBezTo>
                    <a:pt x="3184786" y="396045"/>
                    <a:pt x="3179267" y="398331"/>
                    <a:pt x="3173512" y="398331"/>
                  </a:cubicBezTo>
                  <a:lnTo>
                    <a:pt x="21697" y="398331"/>
                  </a:lnTo>
                  <a:cubicBezTo>
                    <a:pt x="9714" y="398331"/>
                    <a:pt x="0" y="388617"/>
                    <a:pt x="0" y="376634"/>
                  </a:cubicBezTo>
                  <a:lnTo>
                    <a:pt x="0" y="21697"/>
                  </a:lnTo>
                  <a:cubicBezTo>
                    <a:pt x="0" y="15943"/>
                    <a:pt x="2286" y="10424"/>
                    <a:pt x="6355" y="6355"/>
                  </a:cubicBezTo>
                  <a:cubicBezTo>
                    <a:pt x="10424" y="2286"/>
                    <a:pt x="15943" y="0"/>
                    <a:pt x="21697" y="0"/>
                  </a:cubicBezTo>
                  <a:close/>
                </a:path>
              </a:pathLst>
            </a:custGeom>
            <a:solidFill>
              <a:srgbClr val="1E3B50">
                <a:alpha val="65882"/>
              </a:srgbClr>
            </a:solidFill>
          </p:spPr>
        </p:sp>
        <p:sp>
          <p:nvSpPr>
            <p:cNvPr name="TextBox 17" id="17"/>
            <p:cNvSpPr txBox="true"/>
            <p:nvPr/>
          </p:nvSpPr>
          <p:spPr>
            <a:xfrm>
              <a:off x="0" y="-47625"/>
              <a:ext cx="3195210" cy="445956"/>
            </a:xfrm>
            <a:prstGeom prst="rect">
              <a:avLst/>
            </a:prstGeom>
          </p:spPr>
          <p:txBody>
            <a:bodyPr anchor="ctr" rtlCol="false" tIns="50800" lIns="50800" bIns="50800" rIns="50800"/>
            <a:lstStyle/>
            <a:p>
              <a:pPr algn="ctr">
                <a:lnSpc>
                  <a:spcPts val="3640"/>
                </a:lnSpc>
              </a:pPr>
            </a:p>
          </p:txBody>
        </p:sp>
      </p:grpSp>
      <p:sp>
        <p:nvSpPr>
          <p:cNvPr name="TextBox 18" id="18"/>
          <p:cNvSpPr txBox="true"/>
          <p:nvPr/>
        </p:nvSpPr>
        <p:spPr>
          <a:xfrm rot="0">
            <a:off x="3257000" y="8397875"/>
            <a:ext cx="11774001" cy="860425"/>
          </a:xfrm>
          <a:prstGeom prst="rect">
            <a:avLst/>
          </a:prstGeom>
        </p:spPr>
        <p:txBody>
          <a:bodyPr anchor="t" rtlCol="false" tIns="0" lIns="0" bIns="0" rIns="0">
            <a:spAutoFit/>
          </a:bodyPr>
          <a:lstStyle/>
          <a:p>
            <a:pPr algn="ctr">
              <a:lnSpc>
                <a:spcPts val="3499"/>
              </a:lnSpc>
            </a:pPr>
            <a:r>
              <a:rPr lang="en-US" sz="2499">
                <a:solidFill>
                  <a:srgbClr val="DCDDDD"/>
                </a:solidFill>
                <a:latin typeface="League Spartan"/>
                <a:ea typeface="League Spartan"/>
                <a:cs typeface="League Spartan"/>
                <a:sym typeface="League Spartan"/>
              </a:rPr>
              <a:t>Investment provides a marginal competitive edge, but represents only a minor factor in the final</a:t>
            </a:r>
            <a:r>
              <a:rPr lang="en-US" sz="2499">
                <a:solidFill>
                  <a:srgbClr val="DCDDDD"/>
                </a:solidFill>
                <a:latin typeface="League Spartan"/>
                <a:ea typeface="League Spartan"/>
                <a:cs typeface="League Spartan"/>
                <a:sym typeface="League Spartan"/>
              </a:rPr>
              <a:t> outcome.</a:t>
            </a:r>
          </a:p>
        </p:txBody>
      </p:sp>
      <p:sp>
        <p:nvSpPr>
          <p:cNvPr name="TextBox 19" id="19"/>
          <p:cNvSpPr txBox="true"/>
          <p:nvPr/>
        </p:nvSpPr>
        <p:spPr>
          <a:xfrm rot="0">
            <a:off x="1028700" y="7045646"/>
            <a:ext cx="7510654" cy="422275"/>
          </a:xfrm>
          <a:prstGeom prst="rect">
            <a:avLst/>
          </a:prstGeom>
        </p:spPr>
        <p:txBody>
          <a:bodyPr anchor="t" rtlCol="false" tIns="0" lIns="0" bIns="0" rIns="0">
            <a:spAutoFit/>
          </a:bodyPr>
          <a:lstStyle/>
          <a:p>
            <a:pPr algn="ctr">
              <a:lnSpc>
                <a:spcPts val="3499"/>
              </a:lnSpc>
            </a:pPr>
            <a:r>
              <a:rPr lang="en-US" sz="2499">
                <a:solidFill>
                  <a:srgbClr val="DCDDDD"/>
                </a:solidFill>
                <a:latin typeface="League Spartan"/>
                <a:ea typeface="League Spartan"/>
                <a:cs typeface="League Spartan"/>
                <a:sym typeface="League Spartan"/>
              </a:rPr>
              <a:t>Better rank with higher cost </a:t>
            </a:r>
          </a:p>
        </p:txBody>
      </p:sp>
      <p:sp>
        <p:nvSpPr>
          <p:cNvPr name="TextBox 20" id="20"/>
          <p:cNvSpPr txBox="true"/>
          <p:nvPr/>
        </p:nvSpPr>
        <p:spPr>
          <a:xfrm rot="0">
            <a:off x="9748646" y="7045646"/>
            <a:ext cx="7510654" cy="422275"/>
          </a:xfrm>
          <a:prstGeom prst="rect">
            <a:avLst/>
          </a:prstGeom>
        </p:spPr>
        <p:txBody>
          <a:bodyPr anchor="t" rtlCol="false" tIns="0" lIns="0" bIns="0" rIns="0">
            <a:spAutoFit/>
          </a:bodyPr>
          <a:lstStyle/>
          <a:p>
            <a:pPr algn="ctr">
              <a:lnSpc>
                <a:spcPts val="3499"/>
              </a:lnSpc>
            </a:pPr>
            <a:r>
              <a:rPr lang="en-US" sz="2499">
                <a:solidFill>
                  <a:srgbClr val="DCDDDD"/>
                </a:solidFill>
                <a:latin typeface="League Spartan"/>
                <a:ea typeface="League Spartan"/>
                <a:cs typeface="League Spartan"/>
                <a:sym typeface="League Spartan"/>
              </a:rPr>
              <a:t>More wins with higher cost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24A5B"/>
        </a:solidFill>
      </p:bgPr>
    </p:bg>
    <p:spTree>
      <p:nvGrpSpPr>
        <p:cNvPr id="1" name=""/>
        <p:cNvGrpSpPr/>
        <p:nvPr/>
      </p:nvGrpSpPr>
      <p:grpSpPr>
        <a:xfrm>
          <a:off x="0" y="0"/>
          <a:ext cx="0" cy="0"/>
          <a:chOff x="0" y="0"/>
          <a:chExt cx="0" cy="0"/>
        </a:xfrm>
      </p:grpSpPr>
      <p:sp>
        <p:nvSpPr>
          <p:cNvPr name="Freeform 2" id="2"/>
          <p:cNvSpPr/>
          <p:nvPr/>
        </p:nvSpPr>
        <p:spPr>
          <a:xfrm flipH="false" flipV="false" rot="0">
            <a:off x="19050" y="-667728"/>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39000"/>
            </a:blip>
            <a:stretch>
              <a:fillRect l="0" t="0" r="0" b="0"/>
            </a:stretch>
          </a:blipFill>
        </p:spPr>
      </p:sp>
      <p:sp>
        <p:nvSpPr>
          <p:cNvPr name="TextBox 3" id="3"/>
          <p:cNvSpPr txBox="true"/>
          <p:nvPr/>
        </p:nvSpPr>
        <p:spPr>
          <a:xfrm rot="0">
            <a:off x="926972" y="260914"/>
            <a:ext cx="16434056" cy="995680"/>
          </a:xfrm>
          <a:prstGeom prst="rect">
            <a:avLst/>
          </a:prstGeom>
        </p:spPr>
        <p:txBody>
          <a:bodyPr anchor="t" rtlCol="false" tIns="0" lIns="0" bIns="0" rIns="0">
            <a:spAutoFit/>
          </a:bodyPr>
          <a:lstStyle/>
          <a:p>
            <a:pPr algn="ctr">
              <a:lnSpc>
                <a:spcPts val="8119"/>
              </a:lnSpc>
              <a:spcBef>
                <a:spcPct val="0"/>
              </a:spcBef>
            </a:pPr>
            <a:r>
              <a:rPr lang="en-US" sz="5799">
                <a:solidFill>
                  <a:srgbClr val="DCDDDD"/>
                </a:solidFill>
                <a:latin typeface="Black Ops One"/>
                <a:ea typeface="Black Ops One"/>
                <a:cs typeface="Black Ops One"/>
                <a:sym typeface="Black Ops One"/>
              </a:rPr>
              <a:t>Economic Analysis  -  The "Elite" Barrier</a:t>
            </a:r>
          </a:p>
        </p:txBody>
      </p:sp>
      <p:sp>
        <p:nvSpPr>
          <p:cNvPr name="AutoShape 4" id="4"/>
          <p:cNvSpPr/>
          <p:nvPr/>
        </p:nvSpPr>
        <p:spPr>
          <a:xfrm flipV="true">
            <a:off x="5086350" y="1256594"/>
            <a:ext cx="8115300" cy="0"/>
          </a:xfrm>
          <a:prstGeom prst="line">
            <a:avLst/>
          </a:prstGeom>
          <a:ln cap="flat" w="38100">
            <a:solidFill>
              <a:srgbClr val="DCDDDD"/>
            </a:solidFill>
            <a:prstDash val="solid"/>
            <a:headEnd type="none" len="sm" w="sm"/>
            <a:tailEnd type="none" len="sm" w="sm"/>
          </a:ln>
        </p:spPr>
      </p:sp>
      <p:grpSp>
        <p:nvGrpSpPr>
          <p:cNvPr name="Group 5" id="5"/>
          <p:cNvGrpSpPr/>
          <p:nvPr/>
        </p:nvGrpSpPr>
        <p:grpSpPr>
          <a:xfrm rot="0">
            <a:off x="1028700" y="1640692"/>
            <a:ext cx="8115300" cy="6159868"/>
            <a:chOff x="0" y="0"/>
            <a:chExt cx="2137363" cy="1622352"/>
          </a:xfrm>
        </p:grpSpPr>
        <p:sp>
          <p:nvSpPr>
            <p:cNvPr name="Freeform 6" id="6"/>
            <p:cNvSpPr/>
            <p:nvPr/>
          </p:nvSpPr>
          <p:spPr>
            <a:xfrm flipH="false" flipV="false" rot="0">
              <a:off x="0" y="0"/>
              <a:ext cx="2137363" cy="1622352"/>
            </a:xfrm>
            <a:custGeom>
              <a:avLst/>
              <a:gdLst/>
              <a:ahLst/>
              <a:cxnLst/>
              <a:rect r="r" b="b" t="t" l="l"/>
              <a:pathLst>
                <a:path h="1622352" w="2137363">
                  <a:moveTo>
                    <a:pt x="32436" y="0"/>
                  </a:moveTo>
                  <a:lnTo>
                    <a:pt x="2104927" y="0"/>
                  </a:lnTo>
                  <a:cubicBezTo>
                    <a:pt x="2113530" y="0"/>
                    <a:pt x="2121780" y="3417"/>
                    <a:pt x="2127863" y="9500"/>
                  </a:cubicBezTo>
                  <a:cubicBezTo>
                    <a:pt x="2133946" y="15583"/>
                    <a:pt x="2137363" y="23833"/>
                    <a:pt x="2137363" y="32436"/>
                  </a:cubicBezTo>
                  <a:lnTo>
                    <a:pt x="2137363" y="1589916"/>
                  </a:lnTo>
                  <a:cubicBezTo>
                    <a:pt x="2137363" y="1598519"/>
                    <a:pt x="2133946" y="1606769"/>
                    <a:pt x="2127863" y="1612852"/>
                  </a:cubicBezTo>
                  <a:cubicBezTo>
                    <a:pt x="2121780" y="1618935"/>
                    <a:pt x="2113530" y="1622352"/>
                    <a:pt x="2104927" y="1622352"/>
                  </a:cubicBezTo>
                  <a:lnTo>
                    <a:pt x="32436" y="1622352"/>
                  </a:lnTo>
                  <a:cubicBezTo>
                    <a:pt x="23833" y="1622352"/>
                    <a:pt x="15583" y="1618935"/>
                    <a:pt x="9500" y="1612852"/>
                  </a:cubicBezTo>
                  <a:cubicBezTo>
                    <a:pt x="3417" y="1606769"/>
                    <a:pt x="0" y="1598519"/>
                    <a:pt x="0" y="1589916"/>
                  </a:cubicBezTo>
                  <a:lnTo>
                    <a:pt x="0" y="32436"/>
                  </a:lnTo>
                  <a:cubicBezTo>
                    <a:pt x="0" y="23833"/>
                    <a:pt x="3417" y="15583"/>
                    <a:pt x="9500" y="9500"/>
                  </a:cubicBezTo>
                  <a:cubicBezTo>
                    <a:pt x="15583" y="3417"/>
                    <a:pt x="23833" y="0"/>
                    <a:pt x="32436" y="0"/>
                  </a:cubicBezTo>
                  <a:close/>
                </a:path>
              </a:pathLst>
            </a:custGeom>
            <a:solidFill>
              <a:srgbClr val="1E3B50">
                <a:alpha val="65882"/>
              </a:srgbClr>
            </a:solidFill>
          </p:spPr>
        </p:sp>
        <p:sp>
          <p:nvSpPr>
            <p:cNvPr name="TextBox 7" id="7"/>
            <p:cNvSpPr txBox="true"/>
            <p:nvPr/>
          </p:nvSpPr>
          <p:spPr>
            <a:xfrm>
              <a:off x="0" y="-47625"/>
              <a:ext cx="2137363" cy="1669977"/>
            </a:xfrm>
            <a:prstGeom prst="rect">
              <a:avLst/>
            </a:prstGeom>
          </p:spPr>
          <p:txBody>
            <a:bodyPr anchor="ctr" rtlCol="false" tIns="50800" lIns="50800" bIns="50800" rIns="50800"/>
            <a:lstStyle/>
            <a:p>
              <a:pPr algn="ctr">
                <a:lnSpc>
                  <a:spcPts val="3640"/>
                </a:lnSpc>
              </a:pPr>
            </a:p>
          </p:txBody>
        </p:sp>
      </p:grpSp>
      <p:graphicFrame>
        <p:nvGraphicFramePr>
          <p:cNvPr name="Table 8" id="8"/>
          <p:cNvGraphicFramePr>
            <a:graphicFrameLocks noGrp="true"/>
          </p:cNvGraphicFramePr>
          <p:nvPr/>
        </p:nvGraphicFramePr>
        <p:xfrm>
          <a:off x="1357839" y="2339624"/>
          <a:ext cx="7457022" cy="5029200"/>
        </p:xfrm>
        <a:graphic>
          <a:graphicData uri="http://schemas.openxmlformats.org/drawingml/2006/table">
            <a:tbl>
              <a:tblPr/>
              <a:tblGrid>
                <a:gridCol w="2490938"/>
                <a:gridCol w="2285847"/>
                <a:gridCol w="2680236"/>
              </a:tblGrid>
              <a:tr h="1142127">
                <a:tc>
                  <a:txBody>
                    <a:bodyPr anchor="t" rtlCol="false"/>
                    <a:lstStyle/>
                    <a:p>
                      <a:pPr algn="ctr">
                        <a:lnSpc>
                          <a:spcPts val="2520"/>
                        </a:lnSpc>
                        <a:defRPr/>
                      </a:pPr>
                      <a:r>
                        <a:rPr lang="en-US" sz="1800">
                          <a:solidFill>
                            <a:srgbClr val="FFFFFF"/>
                          </a:solidFill>
                          <a:latin typeface="League Spartan"/>
                          <a:ea typeface="League Spartan"/>
                          <a:cs typeface="League Spartan"/>
                          <a:sym typeface="League Spartan"/>
                        </a:rPr>
                        <a:t>Metrics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19"/>
                        </a:lnSpc>
                        <a:defRPr/>
                      </a:pPr>
                      <a:r>
                        <a:rPr lang="en-US" sz="1799">
                          <a:solidFill>
                            <a:srgbClr val="FFFFFF"/>
                          </a:solidFill>
                          <a:latin typeface="League Spartan"/>
                          <a:ea typeface="League Spartan"/>
                          <a:cs typeface="League Spartan"/>
                          <a:sym typeface="League Spartan"/>
                        </a:rPr>
                        <a:t>Top 25 players (Rank 1-25)</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League Spartan"/>
                          <a:ea typeface="League Spartan"/>
                          <a:cs typeface="League Spartan"/>
                          <a:sym typeface="League Spartan"/>
                        </a:rPr>
                        <a:t>Bottom 25 players (Rank 377-402)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77415">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Average cost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968.43</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928.91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77415">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Median cost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963.00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955.85</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77415">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Standard deviation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155.94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111.79</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77415">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Minimum cost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723.00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739.00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77415">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Maximum cost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1291.50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1110.75</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grpSp>
        <p:nvGrpSpPr>
          <p:cNvPr name="Group 9" id="9"/>
          <p:cNvGrpSpPr/>
          <p:nvPr/>
        </p:nvGrpSpPr>
        <p:grpSpPr>
          <a:xfrm rot="0">
            <a:off x="2511071" y="8019635"/>
            <a:ext cx="13096572" cy="1606917"/>
            <a:chOff x="0" y="0"/>
            <a:chExt cx="3449303" cy="423221"/>
          </a:xfrm>
        </p:grpSpPr>
        <p:sp>
          <p:nvSpPr>
            <p:cNvPr name="Freeform 10" id="10"/>
            <p:cNvSpPr/>
            <p:nvPr/>
          </p:nvSpPr>
          <p:spPr>
            <a:xfrm flipH="false" flipV="false" rot="0">
              <a:off x="0" y="0"/>
              <a:ext cx="3449303" cy="423221"/>
            </a:xfrm>
            <a:custGeom>
              <a:avLst/>
              <a:gdLst/>
              <a:ahLst/>
              <a:cxnLst/>
              <a:rect r="r" b="b" t="t" l="l"/>
              <a:pathLst>
                <a:path h="423221" w="3449303">
                  <a:moveTo>
                    <a:pt x="20099" y="0"/>
                  </a:moveTo>
                  <a:lnTo>
                    <a:pt x="3429204" y="0"/>
                  </a:lnTo>
                  <a:cubicBezTo>
                    <a:pt x="3440304" y="0"/>
                    <a:pt x="3449303" y="8999"/>
                    <a:pt x="3449303" y="20099"/>
                  </a:cubicBezTo>
                  <a:lnTo>
                    <a:pt x="3449303" y="403122"/>
                  </a:lnTo>
                  <a:cubicBezTo>
                    <a:pt x="3449303" y="414222"/>
                    <a:pt x="3440304" y="423221"/>
                    <a:pt x="3429204" y="423221"/>
                  </a:cubicBezTo>
                  <a:lnTo>
                    <a:pt x="20099" y="423221"/>
                  </a:lnTo>
                  <a:cubicBezTo>
                    <a:pt x="8999" y="423221"/>
                    <a:pt x="0" y="414222"/>
                    <a:pt x="0" y="403122"/>
                  </a:cubicBezTo>
                  <a:lnTo>
                    <a:pt x="0" y="20099"/>
                  </a:lnTo>
                  <a:cubicBezTo>
                    <a:pt x="0" y="8999"/>
                    <a:pt x="8999" y="0"/>
                    <a:pt x="20099" y="0"/>
                  </a:cubicBezTo>
                  <a:close/>
                </a:path>
              </a:pathLst>
            </a:custGeom>
            <a:solidFill>
              <a:srgbClr val="1E3B50">
                <a:alpha val="65882"/>
              </a:srgbClr>
            </a:solidFill>
          </p:spPr>
        </p:sp>
        <p:sp>
          <p:nvSpPr>
            <p:cNvPr name="TextBox 11" id="11"/>
            <p:cNvSpPr txBox="true"/>
            <p:nvPr/>
          </p:nvSpPr>
          <p:spPr>
            <a:xfrm>
              <a:off x="0" y="-47625"/>
              <a:ext cx="3449303" cy="470846"/>
            </a:xfrm>
            <a:prstGeom prst="rect">
              <a:avLst/>
            </a:prstGeom>
          </p:spPr>
          <p:txBody>
            <a:bodyPr anchor="ctr" rtlCol="false" tIns="50800" lIns="50800" bIns="50800" rIns="50800"/>
            <a:lstStyle/>
            <a:p>
              <a:pPr algn="ctr">
                <a:lnSpc>
                  <a:spcPts val="3640"/>
                </a:lnSpc>
              </a:pPr>
            </a:p>
          </p:txBody>
        </p:sp>
      </p:grpSp>
      <p:grpSp>
        <p:nvGrpSpPr>
          <p:cNvPr name="Group 12" id="12"/>
          <p:cNvGrpSpPr/>
          <p:nvPr/>
        </p:nvGrpSpPr>
        <p:grpSpPr>
          <a:xfrm rot="0">
            <a:off x="9909519" y="2011423"/>
            <a:ext cx="7669973" cy="5357401"/>
            <a:chOff x="0" y="0"/>
            <a:chExt cx="2020075" cy="1411003"/>
          </a:xfrm>
        </p:grpSpPr>
        <p:sp>
          <p:nvSpPr>
            <p:cNvPr name="Freeform 13" id="13"/>
            <p:cNvSpPr/>
            <p:nvPr/>
          </p:nvSpPr>
          <p:spPr>
            <a:xfrm flipH="false" flipV="false" rot="0">
              <a:off x="0" y="0"/>
              <a:ext cx="2020075" cy="1411003"/>
            </a:xfrm>
            <a:custGeom>
              <a:avLst/>
              <a:gdLst/>
              <a:ahLst/>
              <a:cxnLst/>
              <a:rect r="r" b="b" t="t" l="l"/>
              <a:pathLst>
                <a:path h="1411003" w="2020075">
                  <a:moveTo>
                    <a:pt x="34319" y="0"/>
                  </a:moveTo>
                  <a:lnTo>
                    <a:pt x="1985756" y="0"/>
                  </a:lnTo>
                  <a:cubicBezTo>
                    <a:pt x="1994858" y="0"/>
                    <a:pt x="2003587" y="3616"/>
                    <a:pt x="2010023" y="10052"/>
                  </a:cubicBezTo>
                  <a:cubicBezTo>
                    <a:pt x="2016459" y="16488"/>
                    <a:pt x="2020075" y="25217"/>
                    <a:pt x="2020075" y="34319"/>
                  </a:cubicBezTo>
                  <a:lnTo>
                    <a:pt x="2020075" y="1376684"/>
                  </a:lnTo>
                  <a:cubicBezTo>
                    <a:pt x="2020075" y="1395637"/>
                    <a:pt x="2004710" y="1411003"/>
                    <a:pt x="1985756" y="1411003"/>
                  </a:cubicBezTo>
                  <a:lnTo>
                    <a:pt x="34319" y="1411003"/>
                  </a:lnTo>
                  <a:cubicBezTo>
                    <a:pt x="15365" y="1411003"/>
                    <a:pt x="0" y="1395637"/>
                    <a:pt x="0" y="1376684"/>
                  </a:cubicBezTo>
                  <a:lnTo>
                    <a:pt x="0" y="34319"/>
                  </a:lnTo>
                  <a:cubicBezTo>
                    <a:pt x="0" y="15365"/>
                    <a:pt x="15365" y="0"/>
                    <a:pt x="34319" y="0"/>
                  </a:cubicBezTo>
                  <a:close/>
                </a:path>
              </a:pathLst>
            </a:custGeom>
            <a:solidFill>
              <a:srgbClr val="1E3B50">
                <a:alpha val="65882"/>
              </a:srgbClr>
            </a:solidFill>
          </p:spPr>
        </p:sp>
        <p:sp>
          <p:nvSpPr>
            <p:cNvPr name="TextBox 14" id="14"/>
            <p:cNvSpPr txBox="true"/>
            <p:nvPr/>
          </p:nvSpPr>
          <p:spPr>
            <a:xfrm>
              <a:off x="0" y="-47625"/>
              <a:ext cx="2020075" cy="1458628"/>
            </a:xfrm>
            <a:prstGeom prst="rect">
              <a:avLst/>
            </a:prstGeom>
          </p:spPr>
          <p:txBody>
            <a:bodyPr anchor="ctr" rtlCol="false" tIns="50800" lIns="50800" bIns="50800" rIns="50800"/>
            <a:lstStyle/>
            <a:p>
              <a:pPr algn="ctr">
                <a:lnSpc>
                  <a:spcPts val="3640"/>
                </a:lnSpc>
              </a:pPr>
            </a:p>
          </p:txBody>
        </p:sp>
      </p:grpSp>
      <p:sp>
        <p:nvSpPr>
          <p:cNvPr name="Freeform 15" id="15"/>
          <p:cNvSpPr/>
          <p:nvPr/>
        </p:nvSpPr>
        <p:spPr>
          <a:xfrm flipH="false" flipV="false" rot="0">
            <a:off x="10249198" y="2751193"/>
            <a:ext cx="7010102" cy="4206061"/>
          </a:xfrm>
          <a:custGeom>
            <a:avLst/>
            <a:gdLst/>
            <a:ahLst/>
            <a:cxnLst/>
            <a:rect r="r" b="b" t="t" l="l"/>
            <a:pathLst>
              <a:path h="4206061" w="7010102">
                <a:moveTo>
                  <a:pt x="0" y="0"/>
                </a:moveTo>
                <a:lnTo>
                  <a:pt x="7010102" y="0"/>
                </a:lnTo>
                <a:lnTo>
                  <a:pt x="7010102" y="4206061"/>
                </a:lnTo>
                <a:lnTo>
                  <a:pt x="0" y="4206061"/>
                </a:lnTo>
                <a:lnTo>
                  <a:pt x="0" y="0"/>
                </a:lnTo>
                <a:close/>
              </a:path>
            </a:pathLst>
          </a:custGeom>
          <a:blipFill>
            <a:blip r:embed="rId3"/>
            <a:stretch>
              <a:fillRect l="0" t="0" r="0" b="0"/>
            </a:stretch>
          </a:blipFill>
        </p:spPr>
      </p:sp>
      <p:sp>
        <p:nvSpPr>
          <p:cNvPr name="TextBox 16" id="16"/>
          <p:cNvSpPr txBox="true"/>
          <p:nvPr/>
        </p:nvSpPr>
        <p:spPr>
          <a:xfrm rot="0">
            <a:off x="2511071" y="8117982"/>
            <a:ext cx="13096572" cy="1736725"/>
          </a:xfrm>
          <a:prstGeom prst="rect">
            <a:avLst/>
          </a:prstGeom>
        </p:spPr>
        <p:txBody>
          <a:bodyPr anchor="t" rtlCol="false" tIns="0" lIns="0" bIns="0" rIns="0">
            <a:spAutoFit/>
          </a:bodyPr>
          <a:lstStyle/>
          <a:p>
            <a:pPr algn="ctr">
              <a:lnSpc>
                <a:spcPts val="3499"/>
              </a:lnSpc>
            </a:pPr>
            <a:r>
              <a:rPr lang="en-US" sz="2499">
                <a:solidFill>
                  <a:srgbClr val="DCDDDD"/>
                </a:solidFill>
                <a:latin typeface="League Spartan"/>
                <a:ea typeface="League Spartan"/>
                <a:cs typeface="League Spartan"/>
                <a:sym typeface="League Spartan"/>
              </a:rPr>
              <a:t>In competitive tournaments, there is no statistical evidence that a higher budget is required to reach the top tier (p&gt;0.05). At this level, success is driven by Skill and Strategy, not inves</a:t>
            </a:r>
            <a:r>
              <a:rPr lang="en-US" sz="2499">
                <a:solidFill>
                  <a:srgbClr val="DCDDDD"/>
                </a:solidFill>
                <a:latin typeface="League Spartan"/>
                <a:ea typeface="League Spartan"/>
                <a:cs typeface="League Spartan"/>
                <a:sym typeface="League Spartan"/>
              </a:rPr>
              <a:t>tment.</a:t>
            </a:r>
          </a:p>
          <a:p>
            <a:pPr algn="ctr">
              <a:lnSpc>
                <a:spcPts val="3499"/>
              </a:lnSpc>
            </a:pPr>
          </a:p>
        </p:txBody>
      </p:sp>
      <p:sp>
        <p:nvSpPr>
          <p:cNvPr name="TextBox 17" id="17"/>
          <p:cNvSpPr txBox="true"/>
          <p:nvPr/>
        </p:nvSpPr>
        <p:spPr>
          <a:xfrm rot="0">
            <a:off x="2748723" y="1776473"/>
            <a:ext cx="4675255" cy="422275"/>
          </a:xfrm>
          <a:prstGeom prst="rect">
            <a:avLst/>
          </a:prstGeom>
        </p:spPr>
        <p:txBody>
          <a:bodyPr anchor="t" rtlCol="false" tIns="0" lIns="0" bIns="0" rIns="0">
            <a:spAutoFit/>
          </a:bodyPr>
          <a:lstStyle/>
          <a:p>
            <a:pPr algn="ctr">
              <a:lnSpc>
                <a:spcPts val="3499"/>
              </a:lnSpc>
            </a:pPr>
            <a:r>
              <a:rPr lang="en-US" sz="2499">
                <a:solidFill>
                  <a:srgbClr val="DCDDDD"/>
                </a:solidFill>
                <a:latin typeface="League Spartan"/>
                <a:ea typeface="League Spartan"/>
                <a:cs typeface="League Spartan"/>
                <a:sym typeface="League Spartan"/>
              </a:rPr>
              <a:t>Descriptive statistics</a:t>
            </a:r>
          </a:p>
        </p:txBody>
      </p:sp>
      <p:sp>
        <p:nvSpPr>
          <p:cNvPr name="TextBox 18" id="18"/>
          <p:cNvSpPr txBox="true"/>
          <p:nvPr/>
        </p:nvSpPr>
        <p:spPr>
          <a:xfrm rot="0">
            <a:off x="10828038" y="2151123"/>
            <a:ext cx="5852422" cy="422275"/>
          </a:xfrm>
          <a:prstGeom prst="rect">
            <a:avLst/>
          </a:prstGeom>
        </p:spPr>
        <p:txBody>
          <a:bodyPr anchor="t" rtlCol="false" tIns="0" lIns="0" bIns="0" rIns="0">
            <a:spAutoFit/>
          </a:bodyPr>
          <a:lstStyle/>
          <a:p>
            <a:pPr algn="ctr">
              <a:lnSpc>
                <a:spcPts val="3499"/>
              </a:lnSpc>
            </a:pPr>
            <a:r>
              <a:rPr lang="en-US" sz="2499">
                <a:solidFill>
                  <a:srgbClr val="DCDDDD"/>
                </a:solidFill>
                <a:latin typeface="League Spartan"/>
                <a:ea typeface="League Spartan"/>
                <a:cs typeface="League Spartan"/>
                <a:sym typeface="League Spartan"/>
              </a:rPr>
              <a:t>Performance vs cost overview</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24A5B"/>
        </a:solidFill>
      </p:bgPr>
    </p:bg>
    <p:spTree>
      <p:nvGrpSpPr>
        <p:cNvPr id="1" name=""/>
        <p:cNvGrpSpPr/>
        <p:nvPr/>
      </p:nvGrpSpPr>
      <p:grpSpPr>
        <a:xfrm>
          <a:off x="0" y="0"/>
          <a:ext cx="0" cy="0"/>
          <a:chOff x="0" y="0"/>
          <a:chExt cx="0" cy="0"/>
        </a:xfrm>
      </p:grpSpPr>
      <p:sp>
        <p:nvSpPr>
          <p:cNvPr name="Freeform 2" id="2"/>
          <p:cNvSpPr/>
          <p:nvPr/>
        </p:nvSpPr>
        <p:spPr>
          <a:xfrm flipH="false" flipV="false" rot="0">
            <a:off x="0" y="-667728"/>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39000"/>
            </a:blip>
            <a:stretch>
              <a:fillRect l="0" t="0" r="0" b="0"/>
            </a:stretch>
          </a:blipFill>
        </p:spPr>
      </p:sp>
      <p:sp>
        <p:nvSpPr>
          <p:cNvPr name="TextBox 3" id="3"/>
          <p:cNvSpPr txBox="true"/>
          <p:nvPr/>
        </p:nvSpPr>
        <p:spPr>
          <a:xfrm rot="0">
            <a:off x="412619" y="260914"/>
            <a:ext cx="17462762" cy="995680"/>
          </a:xfrm>
          <a:prstGeom prst="rect">
            <a:avLst/>
          </a:prstGeom>
        </p:spPr>
        <p:txBody>
          <a:bodyPr anchor="t" rtlCol="false" tIns="0" lIns="0" bIns="0" rIns="0">
            <a:spAutoFit/>
          </a:bodyPr>
          <a:lstStyle/>
          <a:p>
            <a:pPr algn="ctr">
              <a:lnSpc>
                <a:spcPts val="8119"/>
              </a:lnSpc>
              <a:spcBef>
                <a:spcPct val="0"/>
              </a:spcBef>
            </a:pPr>
            <a:r>
              <a:rPr lang="en-US" sz="5799">
                <a:solidFill>
                  <a:srgbClr val="DCDDDD"/>
                </a:solidFill>
                <a:latin typeface="Black Ops One"/>
                <a:ea typeface="Black Ops One"/>
                <a:cs typeface="Black Ops One"/>
                <a:sym typeface="Black Ops One"/>
              </a:rPr>
              <a:t>Meta Analysis – Popularity vs Performance</a:t>
            </a:r>
          </a:p>
        </p:txBody>
      </p:sp>
      <p:sp>
        <p:nvSpPr>
          <p:cNvPr name="AutoShape 4" id="4"/>
          <p:cNvSpPr/>
          <p:nvPr/>
        </p:nvSpPr>
        <p:spPr>
          <a:xfrm flipV="true">
            <a:off x="5086350" y="1256594"/>
            <a:ext cx="8115300" cy="0"/>
          </a:xfrm>
          <a:prstGeom prst="line">
            <a:avLst/>
          </a:prstGeom>
          <a:ln cap="flat" w="38100">
            <a:solidFill>
              <a:srgbClr val="DCDDDD"/>
            </a:solidFill>
            <a:prstDash val="solid"/>
            <a:headEnd type="none" len="sm" w="sm"/>
            <a:tailEnd type="none" len="sm" w="sm"/>
          </a:ln>
        </p:spPr>
      </p:sp>
      <p:grpSp>
        <p:nvGrpSpPr>
          <p:cNvPr name="Group 5" id="5"/>
          <p:cNvGrpSpPr/>
          <p:nvPr/>
        </p:nvGrpSpPr>
        <p:grpSpPr>
          <a:xfrm rot="0">
            <a:off x="859882" y="1550230"/>
            <a:ext cx="7742178" cy="7878438"/>
            <a:chOff x="0" y="0"/>
            <a:chExt cx="2039092" cy="2074980"/>
          </a:xfrm>
        </p:grpSpPr>
        <p:sp>
          <p:nvSpPr>
            <p:cNvPr name="Freeform 6" id="6"/>
            <p:cNvSpPr/>
            <p:nvPr/>
          </p:nvSpPr>
          <p:spPr>
            <a:xfrm flipH="false" flipV="false" rot="0">
              <a:off x="0" y="0"/>
              <a:ext cx="2039092" cy="2074980"/>
            </a:xfrm>
            <a:custGeom>
              <a:avLst/>
              <a:gdLst/>
              <a:ahLst/>
              <a:cxnLst/>
              <a:rect r="r" b="b" t="t" l="l"/>
              <a:pathLst>
                <a:path h="2074980" w="2039092">
                  <a:moveTo>
                    <a:pt x="33999" y="0"/>
                  </a:moveTo>
                  <a:lnTo>
                    <a:pt x="2005093" y="0"/>
                  </a:lnTo>
                  <a:cubicBezTo>
                    <a:pt x="2014110" y="0"/>
                    <a:pt x="2022758" y="3582"/>
                    <a:pt x="2029134" y="9958"/>
                  </a:cubicBezTo>
                  <a:cubicBezTo>
                    <a:pt x="2035510" y="16334"/>
                    <a:pt x="2039092" y="24982"/>
                    <a:pt x="2039092" y="33999"/>
                  </a:cubicBezTo>
                  <a:lnTo>
                    <a:pt x="2039092" y="2040981"/>
                  </a:lnTo>
                  <a:cubicBezTo>
                    <a:pt x="2039092" y="2049998"/>
                    <a:pt x="2035510" y="2058646"/>
                    <a:pt x="2029134" y="2065022"/>
                  </a:cubicBezTo>
                  <a:cubicBezTo>
                    <a:pt x="2022758" y="2071398"/>
                    <a:pt x="2014110" y="2074980"/>
                    <a:pt x="2005093" y="2074980"/>
                  </a:cubicBezTo>
                  <a:lnTo>
                    <a:pt x="33999" y="2074980"/>
                  </a:lnTo>
                  <a:cubicBezTo>
                    <a:pt x="24982" y="2074980"/>
                    <a:pt x="16334" y="2071398"/>
                    <a:pt x="9958" y="2065022"/>
                  </a:cubicBezTo>
                  <a:cubicBezTo>
                    <a:pt x="3582" y="2058646"/>
                    <a:pt x="0" y="2049998"/>
                    <a:pt x="0" y="2040981"/>
                  </a:cubicBezTo>
                  <a:lnTo>
                    <a:pt x="0" y="33999"/>
                  </a:lnTo>
                  <a:cubicBezTo>
                    <a:pt x="0" y="24982"/>
                    <a:pt x="3582" y="16334"/>
                    <a:pt x="9958" y="9958"/>
                  </a:cubicBezTo>
                  <a:cubicBezTo>
                    <a:pt x="16334" y="3582"/>
                    <a:pt x="24982" y="0"/>
                    <a:pt x="33999" y="0"/>
                  </a:cubicBezTo>
                  <a:close/>
                </a:path>
              </a:pathLst>
            </a:custGeom>
            <a:solidFill>
              <a:srgbClr val="1E3B50">
                <a:alpha val="65882"/>
              </a:srgbClr>
            </a:solidFill>
          </p:spPr>
        </p:sp>
        <p:sp>
          <p:nvSpPr>
            <p:cNvPr name="TextBox 7" id="7"/>
            <p:cNvSpPr txBox="true"/>
            <p:nvPr/>
          </p:nvSpPr>
          <p:spPr>
            <a:xfrm>
              <a:off x="0" y="-47625"/>
              <a:ext cx="2039092" cy="2122605"/>
            </a:xfrm>
            <a:prstGeom prst="rect">
              <a:avLst/>
            </a:prstGeom>
          </p:spPr>
          <p:txBody>
            <a:bodyPr anchor="ctr" rtlCol="false" tIns="50800" lIns="50800" bIns="50800" rIns="50800"/>
            <a:lstStyle/>
            <a:p>
              <a:pPr algn="ctr">
                <a:lnSpc>
                  <a:spcPts val="3640"/>
                </a:lnSpc>
              </a:pPr>
            </a:p>
          </p:txBody>
        </p:sp>
      </p:grpSp>
      <p:graphicFrame>
        <p:nvGraphicFramePr>
          <p:cNvPr name="Table 8" id="8"/>
          <p:cNvGraphicFramePr>
            <a:graphicFrameLocks noGrp="true"/>
          </p:cNvGraphicFramePr>
          <p:nvPr/>
        </p:nvGraphicFramePr>
        <p:xfrm>
          <a:off x="1065327" y="2508366"/>
          <a:ext cx="7315200" cy="3152775"/>
        </p:xfrm>
        <a:graphic>
          <a:graphicData uri="http://schemas.openxmlformats.org/drawingml/2006/table">
            <a:tbl>
              <a:tblPr/>
              <a:tblGrid>
                <a:gridCol w="3657600"/>
                <a:gridCol w="3657600"/>
              </a:tblGrid>
              <a:tr h="1031642">
                <a:tc>
                  <a:txBody>
                    <a:bodyPr anchor="t" rtlCol="false"/>
                    <a:lstStyle/>
                    <a:p>
                      <a:pPr algn="ctr">
                        <a:lnSpc>
                          <a:spcPts val="2520"/>
                        </a:lnSpc>
                        <a:defRPr/>
                      </a:pPr>
                      <a:r>
                        <a:rPr lang="en-US" sz="1800" b="true">
                          <a:solidFill>
                            <a:srgbClr val="FFFFFF"/>
                          </a:solidFill>
                          <a:latin typeface="League Spartan"/>
                          <a:ea typeface="League Spartan"/>
                          <a:cs typeface="League Spartan"/>
                          <a:sym typeface="League Spartan"/>
                        </a:rPr>
                        <a:t>Popularity vs win rate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League Spartan"/>
                          <a:ea typeface="League Spartan"/>
                          <a:cs typeface="League Spartan"/>
                          <a:sym typeface="League Spartan"/>
                        </a:rPr>
                        <a:t>Result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60567">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Pearson correlatio (r)</a:t>
                      </a:r>
                      <a:endParaRPr lang="en-US" sz="1100"/>
                    </a:p>
                    <a:p>
                      <a:pPr algn="ctr">
                        <a:lnSpc>
                          <a:spcPts val="2240"/>
                        </a:lnSpc>
                      </a:pPr>
                      <a:r>
                        <a:rPr lang="en-US" sz="1600">
                          <a:solidFill>
                            <a:srgbClr val="FFFFFF"/>
                          </a:solidFill>
                          <a:latin typeface="League Spartan"/>
                          <a:ea typeface="League Spartan"/>
                          <a:cs typeface="League Spartan"/>
                          <a:sym typeface="League Spartan"/>
                        </a:rPr>
                        <a:t>Pearson p-value</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0.0007</a:t>
                      </a:r>
                      <a:endParaRPr lang="en-US" sz="1100"/>
                    </a:p>
                    <a:p>
                      <a:pPr algn="ctr">
                        <a:lnSpc>
                          <a:spcPts val="2240"/>
                        </a:lnSpc>
                      </a:pPr>
                      <a:r>
                        <a:rPr lang="en-US" sz="1600">
                          <a:solidFill>
                            <a:srgbClr val="FFFFFF"/>
                          </a:solidFill>
                          <a:latin typeface="League Spartan"/>
                          <a:ea typeface="League Spartan"/>
                          <a:cs typeface="League Spartan"/>
                          <a:sym typeface="League Spartan"/>
                        </a:rPr>
                        <a:t>0.9974</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60567">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Spearman correlatio (ρ)</a:t>
                      </a:r>
                      <a:endParaRPr lang="en-US" sz="1100"/>
                    </a:p>
                    <a:p>
                      <a:pPr algn="ctr">
                        <a:lnSpc>
                          <a:spcPts val="2240"/>
                        </a:lnSpc>
                      </a:pPr>
                      <a:r>
                        <a:rPr lang="en-US" sz="1600">
                          <a:solidFill>
                            <a:srgbClr val="FFFFFF"/>
                          </a:solidFill>
                          <a:latin typeface="League Spartan"/>
                          <a:ea typeface="League Spartan"/>
                          <a:cs typeface="League Spartan"/>
                          <a:sym typeface="League Spartan"/>
                        </a:rPr>
                        <a:t>Spearman p-value</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-0.0538</a:t>
                      </a:r>
                      <a:endParaRPr lang="en-US" sz="1100"/>
                    </a:p>
                    <a:p>
                      <a:pPr algn="ctr">
                        <a:lnSpc>
                          <a:spcPts val="2240"/>
                        </a:lnSpc>
                      </a:pPr>
                      <a:r>
                        <a:rPr lang="en-US" sz="1600">
                          <a:solidFill>
                            <a:srgbClr val="FFFFFF"/>
                          </a:solidFill>
                          <a:latin typeface="League Spartan"/>
                          <a:ea typeface="League Spartan"/>
                          <a:cs typeface="League Spartan"/>
                          <a:sym typeface="League Spartan"/>
                        </a:rPr>
                        <a:t>0.7898</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graphicFrame>
        <p:nvGraphicFramePr>
          <p:cNvPr name="Table 9" id="9"/>
          <p:cNvGraphicFramePr>
            <a:graphicFrameLocks noGrp="true"/>
          </p:cNvGraphicFramePr>
          <p:nvPr/>
        </p:nvGraphicFramePr>
        <p:xfrm>
          <a:off x="1065327" y="5992749"/>
          <a:ext cx="7315200" cy="3152775"/>
        </p:xfrm>
        <a:graphic>
          <a:graphicData uri="http://schemas.openxmlformats.org/drawingml/2006/table">
            <a:tbl>
              <a:tblPr/>
              <a:tblGrid>
                <a:gridCol w="3657600"/>
                <a:gridCol w="3657600"/>
              </a:tblGrid>
              <a:tr h="1031642">
                <a:tc>
                  <a:txBody>
                    <a:bodyPr anchor="t" rtlCol="false"/>
                    <a:lstStyle/>
                    <a:p>
                      <a:pPr algn="ctr">
                        <a:lnSpc>
                          <a:spcPts val="2520"/>
                        </a:lnSpc>
                        <a:defRPr/>
                      </a:pPr>
                      <a:r>
                        <a:rPr lang="en-US" sz="1800" b="true">
                          <a:solidFill>
                            <a:srgbClr val="FFFFFF"/>
                          </a:solidFill>
                          <a:latin typeface="League Spartan"/>
                          <a:ea typeface="League Spartan"/>
                          <a:cs typeface="League Spartan"/>
                          <a:sym typeface="League Spartan"/>
                        </a:rPr>
                        <a:t>Popularity vs rank</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DCDDDD"/>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League Spartan"/>
                          <a:ea typeface="League Spartan"/>
                          <a:cs typeface="League Spartan"/>
                          <a:sym typeface="League Spartan"/>
                        </a:rPr>
                        <a:t>Result</a:t>
                      </a:r>
                      <a:endParaRPr lang="en-US" sz="1100"/>
                    </a:p>
                  </a:txBody>
                  <a:tcPr marL="190500" marR="190500" marT="190500" marB="190500" anchor="ctr">
                    <a:lnL cmpd="sng" algn="ctr" cap="flat" w="38100">
                      <a:solidFill>
                        <a:srgbClr val="DCDDDD"/>
                      </a:solidFill>
                      <a:prstDash val="solid"/>
                      <a:round/>
                      <a:headEnd type="none" w="med" len="med"/>
                      <a:tailEnd type="none" w="med" len="med"/>
                    </a:lnL>
                    <a:lnR cmpd="sng" algn="ctr" cap="flat" w="38100">
                      <a:solidFill>
                        <a:srgbClr val="DCDDDD"/>
                      </a:solidFill>
                      <a:prstDash val="solid"/>
                      <a:round/>
                      <a:headEnd type="none" w="med" len="med"/>
                      <a:tailEnd type="none" w="med" len="med"/>
                    </a:lnR>
                    <a:lnT cmpd="sng" algn="ctr" cap="flat" w="38100">
                      <a:solidFill>
                        <a:srgbClr val="DCDDDD"/>
                      </a:solidFill>
                      <a:prstDash val="solid"/>
                      <a:round/>
                      <a:headEnd type="none" w="med" len="med"/>
                      <a:tailEnd type="none" w="med" len="med"/>
                    </a:lnT>
                    <a:lnB cmpd="sng" algn="ctr" cap="flat" w="38100">
                      <a:solidFill>
                        <a:srgbClr val="DCDDDD"/>
                      </a:solidFill>
                      <a:prstDash val="solid"/>
                      <a:round/>
                      <a:headEnd type="none" w="med" len="med"/>
                      <a:tailEnd type="none" w="med" len="med"/>
                    </a:lnB>
                  </a:tcPr>
                </a:tc>
              </a:tr>
              <a:tr h="1060567">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Pearson correlatio (r)</a:t>
                      </a:r>
                      <a:endParaRPr lang="en-US" sz="1100"/>
                    </a:p>
                    <a:p>
                      <a:pPr algn="ctr">
                        <a:lnSpc>
                          <a:spcPts val="2240"/>
                        </a:lnSpc>
                      </a:pPr>
                      <a:r>
                        <a:rPr lang="en-US" sz="1600">
                          <a:solidFill>
                            <a:srgbClr val="FFFFFF"/>
                          </a:solidFill>
                          <a:latin typeface="League Spartan"/>
                          <a:ea typeface="League Spartan"/>
                          <a:cs typeface="League Spartan"/>
                          <a:sym typeface="League Spartan"/>
                        </a:rPr>
                        <a:t>Pearson p-value</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0.0138</a:t>
                      </a:r>
                      <a:endParaRPr lang="en-US" sz="1100"/>
                    </a:p>
                    <a:p>
                      <a:pPr algn="ctr">
                        <a:lnSpc>
                          <a:spcPts val="2240"/>
                        </a:lnSpc>
                      </a:pPr>
                      <a:r>
                        <a:rPr lang="en-US" sz="1600">
                          <a:solidFill>
                            <a:srgbClr val="FFFFFF"/>
                          </a:solidFill>
                          <a:latin typeface="League Spartan"/>
                          <a:ea typeface="League Spartan"/>
                          <a:cs typeface="League Spartan"/>
                          <a:sym typeface="League Spartan"/>
                        </a:rPr>
                        <a:t>0.9454</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DCDDDD"/>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60567">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Spearman correlatio (ρ)</a:t>
                      </a:r>
                      <a:endParaRPr lang="en-US" sz="1100"/>
                    </a:p>
                    <a:p>
                      <a:pPr algn="ctr">
                        <a:lnSpc>
                          <a:spcPts val="2240"/>
                        </a:lnSpc>
                      </a:pPr>
                      <a:r>
                        <a:rPr lang="en-US" sz="1600">
                          <a:solidFill>
                            <a:srgbClr val="FFFFFF"/>
                          </a:solidFill>
                          <a:latin typeface="League Spartan"/>
                          <a:ea typeface="League Spartan"/>
                          <a:cs typeface="League Spartan"/>
                          <a:sym typeface="League Spartan"/>
                        </a:rPr>
                        <a:t>Spearman p-value</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0.1666</a:t>
                      </a:r>
                      <a:endParaRPr lang="en-US" sz="1100"/>
                    </a:p>
                    <a:p>
                      <a:pPr algn="ctr">
                        <a:lnSpc>
                          <a:spcPts val="2240"/>
                        </a:lnSpc>
                      </a:pPr>
                      <a:r>
                        <a:rPr lang="en-US" sz="1600">
                          <a:solidFill>
                            <a:srgbClr val="FFFFFF"/>
                          </a:solidFill>
                          <a:latin typeface="League Spartan"/>
                          <a:ea typeface="League Spartan"/>
                          <a:cs typeface="League Spartan"/>
                          <a:sym typeface="League Spartan"/>
                        </a:rPr>
                        <a:t>0.4062</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grpSp>
        <p:nvGrpSpPr>
          <p:cNvPr name="Group 10" id="10"/>
          <p:cNvGrpSpPr/>
          <p:nvPr/>
        </p:nvGrpSpPr>
        <p:grpSpPr>
          <a:xfrm rot="0">
            <a:off x="10910133" y="1622947"/>
            <a:ext cx="4754079" cy="4442519"/>
            <a:chOff x="0" y="0"/>
            <a:chExt cx="1252103" cy="1170046"/>
          </a:xfrm>
        </p:grpSpPr>
        <p:sp>
          <p:nvSpPr>
            <p:cNvPr name="Freeform 11" id="11"/>
            <p:cNvSpPr/>
            <p:nvPr/>
          </p:nvSpPr>
          <p:spPr>
            <a:xfrm flipH="false" flipV="false" rot="0">
              <a:off x="0" y="0"/>
              <a:ext cx="1252103" cy="1170046"/>
            </a:xfrm>
            <a:custGeom>
              <a:avLst/>
              <a:gdLst/>
              <a:ahLst/>
              <a:cxnLst/>
              <a:rect r="r" b="b" t="t" l="l"/>
              <a:pathLst>
                <a:path h="1170046" w="1252103">
                  <a:moveTo>
                    <a:pt x="55368" y="0"/>
                  </a:moveTo>
                  <a:lnTo>
                    <a:pt x="1196735" y="0"/>
                  </a:lnTo>
                  <a:cubicBezTo>
                    <a:pt x="1227314" y="0"/>
                    <a:pt x="1252103" y="24789"/>
                    <a:pt x="1252103" y="55368"/>
                  </a:cubicBezTo>
                  <a:lnTo>
                    <a:pt x="1252103" y="1114678"/>
                  </a:lnTo>
                  <a:cubicBezTo>
                    <a:pt x="1252103" y="1145257"/>
                    <a:pt x="1227314" y="1170046"/>
                    <a:pt x="1196735" y="1170046"/>
                  </a:cubicBezTo>
                  <a:lnTo>
                    <a:pt x="55368" y="1170046"/>
                  </a:lnTo>
                  <a:cubicBezTo>
                    <a:pt x="24789" y="1170046"/>
                    <a:pt x="0" y="1145257"/>
                    <a:pt x="0" y="1114678"/>
                  </a:cubicBezTo>
                  <a:lnTo>
                    <a:pt x="0" y="55368"/>
                  </a:lnTo>
                  <a:cubicBezTo>
                    <a:pt x="0" y="24789"/>
                    <a:pt x="24789" y="0"/>
                    <a:pt x="55368" y="0"/>
                  </a:cubicBezTo>
                  <a:close/>
                </a:path>
              </a:pathLst>
            </a:custGeom>
            <a:solidFill>
              <a:srgbClr val="1E3B50">
                <a:alpha val="65882"/>
              </a:srgbClr>
            </a:solidFill>
          </p:spPr>
        </p:sp>
        <p:sp>
          <p:nvSpPr>
            <p:cNvPr name="TextBox 12" id="12"/>
            <p:cNvSpPr txBox="true"/>
            <p:nvPr/>
          </p:nvSpPr>
          <p:spPr>
            <a:xfrm>
              <a:off x="0" y="-47625"/>
              <a:ext cx="1252103" cy="1217671"/>
            </a:xfrm>
            <a:prstGeom prst="rect">
              <a:avLst/>
            </a:prstGeom>
          </p:spPr>
          <p:txBody>
            <a:bodyPr anchor="ctr" rtlCol="false" tIns="50800" lIns="50800" bIns="50800" rIns="50800"/>
            <a:lstStyle/>
            <a:p>
              <a:pPr algn="ctr">
                <a:lnSpc>
                  <a:spcPts val="3640"/>
                </a:lnSpc>
              </a:pPr>
            </a:p>
          </p:txBody>
        </p:sp>
      </p:grpSp>
      <p:grpSp>
        <p:nvGrpSpPr>
          <p:cNvPr name="Group 13" id="13"/>
          <p:cNvGrpSpPr/>
          <p:nvPr/>
        </p:nvGrpSpPr>
        <p:grpSpPr>
          <a:xfrm rot="0">
            <a:off x="9315044" y="6412768"/>
            <a:ext cx="7944256" cy="3015900"/>
            <a:chOff x="0" y="0"/>
            <a:chExt cx="2092314" cy="794311"/>
          </a:xfrm>
        </p:grpSpPr>
        <p:sp>
          <p:nvSpPr>
            <p:cNvPr name="Freeform 14" id="14"/>
            <p:cNvSpPr/>
            <p:nvPr/>
          </p:nvSpPr>
          <p:spPr>
            <a:xfrm flipH="false" flipV="false" rot="0">
              <a:off x="0" y="0"/>
              <a:ext cx="2092314" cy="794311"/>
            </a:xfrm>
            <a:custGeom>
              <a:avLst/>
              <a:gdLst/>
              <a:ahLst/>
              <a:cxnLst/>
              <a:rect r="r" b="b" t="t" l="l"/>
              <a:pathLst>
                <a:path h="794311" w="2092314">
                  <a:moveTo>
                    <a:pt x="33134" y="0"/>
                  </a:moveTo>
                  <a:lnTo>
                    <a:pt x="2059180" y="0"/>
                  </a:lnTo>
                  <a:cubicBezTo>
                    <a:pt x="2067968" y="0"/>
                    <a:pt x="2076396" y="3491"/>
                    <a:pt x="2082610" y="9705"/>
                  </a:cubicBezTo>
                  <a:cubicBezTo>
                    <a:pt x="2088823" y="15919"/>
                    <a:pt x="2092314" y="24346"/>
                    <a:pt x="2092314" y="33134"/>
                  </a:cubicBezTo>
                  <a:lnTo>
                    <a:pt x="2092314" y="761177"/>
                  </a:lnTo>
                  <a:cubicBezTo>
                    <a:pt x="2092314" y="769965"/>
                    <a:pt x="2088823" y="778393"/>
                    <a:pt x="2082610" y="784606"/>
                  </a:cubicBezTo>
                  <a:cubicBezTo>
                    <a:pt x="2076396" y="790820"/>
                    <a:pt x="2067968" y="794311"/>
                    <a:pt x="2059180" y="794311"/>
                  </a:cubicBezTo>
                  <a:lnTo>
                    <a:pt x="33134" y="794311"/>
                  </a:lnTo>
                  <a:cubicBezTo>
                    <a:pt x="24346" y="794311"/>
                    <a:pt x="15919" y="790820"/>
                    <a:pt x="9705" y="784606"/>
                  </a:cubicBezTo>
                  <a:cubicBezTo>
                    <a:pt x="3491" y="778393"/>
                    <a:pt x="0" y="769965"/>
                    <a:pt x="0" y="761177"/>
                  </a:cubicBezTo>
                  <a:lnTo>
                    <a:pt x="0" y="33134"/>
                  </a:lnTo>
                  <a:cubicBezTo>
                    <a:pt x="0" y="24346"/>
                    <a:pt x="3491" y="15919"/>
                    <a:pt x="9705" y="9705"/>
                  </a:cubicBezTo>
                  <a:cubicBezTo>
                    <a:pt x="15919" y="3491"/>
                    <a:pt x="24346" y="0"/>
                    <a:pt x="33134" y="0"/>
                  </a:cubicBezTo>
                  <a:close/>
                </a:path>
              </a:pathLst>
            </a:custGeom>
            <a:solidFill>
              <a:srgbClr val="1E3B50">
                <a:alpha val="65882"/>
              </a:srgbClr>
            </a:solidFill>
          </p:spPr>
        </p:sp>
        <p:sp>
          <p:nvSpPr>
            <p:cNvPr name="TextBox 15" id="15"/>
            <p:cNvSpPr txBox="true"/>
            <p:nvPr/>
          </p:nvSpPr>
          <p:spPr>
            <a:xfrm>
              <a:off x="0" y="-47625"/>
              <a:ext cx="2092314" cy="841936"/>
            </a:xfrm>
            <a:prstGeom prst="rect">
              <a:avLst/>
            </a:prstGeom>
          </p:spPr>
          <p:txBody>
            <a:bodyPr anchor="ctr" rtlCol="false" tIns="50800" lIns="50800" bIns="50800" rIns="50800"/>
            <a:lstStyle/>
            <a:p>
              <a:pPr algn="ctr">
                <a:lnSpc>
                  <a:spcPts val="3640"/>
                </a:lnSpc>
              </a:pPr>
            </a:p>
          </p:txBody>
        </p:sp>
      </p:grpSp>
      <p:sp>
        <p:nvSpPr>
          <p:cNvPr name="Freeform 16" id="16"/>
          <p:cNvSpPr/>
          <p:nvPr/>
        </p:nvSpPr>
        <p:spPr>
          <a:xfrm flipH="false" flipV="false" rot="0">
            <a:off x="11105446" y="1748002"/>
            <a:ext cx="4192408" cy="4192408"/>
          </a:xfrm>
          <a:custGeom>
            <a:avLst/>
            <a:gdLst/>
            <a:ahLst/>
            <a:cxnLst/>
            <a:rect r="r" b="b" t="t" l="l"/>
            <a:pathLst>
              <a:path h="4192408" w="4192408">
                <a:moveTo>
                  <a:pt x="0" y="0"/>
                </a:moveTo>
                <a:lnTo>
                  <a:pt x="4192408" y="0"/>
                </a:lnTo>
                <a:lnTo>
                  <a:pt x="4192408" y="4192408"/>
                </a:lnTo>
                <a:lnTo>
                  <a:pt x="0" y="4192408"/>
                </a:lnTo>
                <a:lnTo>
                  <a:pt x="0" y="0"/>
                </a:lnTo>
                <a:close/>
              </a:path>
            </a:pathLst>
          </a:custGeom>
          <a:blipFill>
            <a:blip r:embed="rId3"/>
            <a:stretch>
              <a:fillRect l="0" t="0" r="0" b="0"/>
            </a:stretch>
          </a:blipFill>
        </p:spPr>
      </p:sp>
      <p:sp>
        <p:nvSpPr>
          <p:cNvPr name="TextBox 17" id="17"/>
          <p:cNvSpPr txBox="true"/>
          <p:nvPr/>
        </p:nvSpPr>
        <p:spPr>
          <a:xfrm rot="0">
            <a:off x="2385300" y="1752716"/>
            <a:ext cx="4675255" cy="422275"/>
          </a:xfrm>
          <a:prstGeom prst="rect">
            <a:avLst/>
          </a:prstGeom>
        </p:spPr>
        <p:txBody>
          <a:bodyPr anchor="t" rtlCol="false" tIns="0" lIns="0" bIns="0" rIns="0">
            <a:spAutoFit/>
          </a:bodyPr>
          <a:lstStyle/>
          <a:p>
            <a:pPr algn="ctr">
              <a:lnSpc>
                <a:spcPts val="3499"/>
              </a:lnSpc>
            </a:pPr>
            <a:r>
              <a:rPr lang="en-US" sz="2499">
                <a:solidFill>
                  <a:srgbClr val="DCDDDD"/>
                </a:solidFill>
                <a:latin typeface="League Spartan"/>
                <a:ea typeface="League Spartan"/>
                <a:cs typeface="League Spartan"/>
                <a:sym typeface="League Spartan"/>
              </a:rPr>
              <a:t>Correlation analysis</a:t>
            </a:r>
          </a:p>
        </p:txBody>
      </p:sp>
      <p:sp>
        <p:nvSpPr>
          <p:cNvPr name="TextBox 18" id="18"/>
          <p:cNvSpPr txBox="true"/>
          <p:nvPr/>
        </p:nvSpPr>
        <p:spPr>
          <a:xfrm rot="0">
            <a:off x="9629572" y="6590393"/>
            <a:ext cx="7315200" cy="2613025"/>
          </a:xfrm>
          <a:prstGeom prst="rect">
            <a:avLst/>
          </a:prstGeom>
        </p:spPr>
        <p:txBody>
          <a:bodyPr anchor="t" rtlCol="false" tIns="0" lIns="0" bIns="0" rIns="0">
            <a:spAutoFit/>
          </a:bodyPr>
          <a:lstStyle/>
          <a:p>
            <a:pPr algn="ctr">
              <a:lnSpc>
                <a:spcPts val="3499"/>
              </a:lnSpc>
            </a:pPr>
            <a:r>
              <a:rPr lang="en-US" sz="2499">
                <a:solidFill>
                  <a:srgbClr val="DCDDDD"/>
                </a:solidFill>
                <a:latin typeface="League Spartan"/>
                <a:ea typeface="League Spartan"/>
                <a:cs typeface="League Spartan"/>
                <a:sym typeface="League Spartan"/>
              </a:rPr>
              <a:t>The sample size for "Niche" factions is small (&lt; 15 players). This high variance means results could be skewed by individual player skill. A larger dataset (</a:t>
            </a:r>
            <a:r>
              <a:rPr lang="en-US" sz="2499">
                <a:solidFill>
                  <a:srgbClr val="DCDDDD"/>
                </a:solidFill>
                <a:latin typeface="League Spartan"/>
                <a:ea typeface="League Spartan"/>
                <a:cs typeface="League Spartan"/>
                <a:sym typeface="League Spartan"/>
              </a:rPr>
              <a:t>N</a:t>
            </a:r>
            <a:r>
              <a:rPr lang="en-US" sz="2499">
                <a:solidFill>
                  <a:srgbClr val="DCDDDD"/>
                </a:solidFill>
                <a:latin typeface="League Spartan"/>
                <a:ea typeface="League Spartan"/>
                <a:cs typeface="League Spartan"/>
                <a:sym typeface="League Spartan"/>
              </a:rPr>
              <a:t>&gt;30 per faction) is required for definitive confirmation.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324A5B"/>
        </a:solidFill>
      </p:bgPr>
    </p:bg>
    <p:spTree>
      <p:nvGrpSpPr>
        <p:cNvPr id="1" name=""/>
        <p:cNvGrpSpPr/>
        <p:nvPr/>
      </p:nvGrpSpPr>
      <p:grpSpPr>
        <a:xfrm>
          <a:off x="0" y="0"/>
          <a:ext cx="0" cy="0"/>
          <a:chOff x="0" y="0"/>
          <a:chExt cx="0" cy="0"/>
        </a:xfrm>
      </p:grpSpPr>
      <p:sp>
        <p:nvSpPr>
          <p:cNvPr name="Freeform 2" id="2"/>
          <p:cNvSpPr/>
          <p:nvPr/>
        </p:nvSpPr>
        <p:spPr>
          <a:xfrm flipH="false" flipV="false" rot="0">
            <a:off x="0" y="-665956"/>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39000"/>
            </a:blip>
            <a:stretch>
              <a:fillRect l="0" t="0" r="0" b="0"/>
            </a:stretch>
          </a:blipFill>
        </p:spPr>
      </p:sp>
      <p:sp>
        <p:nvSpPr>
          <p:cNvPr name="TextBox 3" id="3"/>
          <p:cNvSpPr txBox="true"/>
          <p:nvPr/>
        </p:nvSpPr>
        <p:spPr>
          <a:xfrm rot="0">
            <a:off x="412619" y="260914"/>
            <a:ext cx="17462762" cy="995680"/>
          </a:xfrm>
          <a:prstGeom prst="rect">
            <a:avLst/>
          </a:prstGeom>
        </p:spPr>
        <p:txBody>
          <a:bodyPr anchor="t" rtlCol="false" tIns="0" lIns="0" bIns="0" rIns="0">
            <a:spAutoFit/>
          </a:bodyPr>
          <a:lstStyle/>
          <a:p>
            <a:pPr algn="ctr">
              <a:lnSpc>
                <a:spcPts val="8119"/>
              </a:lnSpc>
              <a:spcBef>
                <a:spcPct val="0"/>
              </a:spcBef>
            </a:pPr>
            <a:r>
              <a:rPr lang="en-US" sz="5799">
                <a:solidFill>
                  <a:srgbClr val="DCDDDD"/>
                </a:solidFill>
                <a:latin typeface="Black Ops One"/>
                <a:ea typeface="Black Ops One"/>
                <a:cs typeface="Black Ops One"/>
                <a:sym typeface="Black Ops One"/>
              </a:rPr>
              <a:t>Meta Analysis – The Micro Level</a:t>
            </a:r>
          </a:p>
        </p:txBody>
      </p:sp>
      <p:sp>
        <p:nvSpPr>
          <p:cNvPr name="AutoShape 4" id="4"/>
          <p:cNvSpPr/>
          <p:nvPr/>
        </p:nvSpPr>
        <p:spPr>
          <a:xfrm flipV="true">
            <a:off x="5086350" y="1256594"/>
            <a:ext cx="8115300" cy="0"/>
          </a:xfrm>
          <a:prstGeom prst="line">
            <a:avLst/>
          </a:prstGeom>
          <a:ln cap="flat" w="38100">
            <a:solidFill>
              <a:srgbClr val="DCDDDD"/>
            </a:solidFill>
            <a:prstDash val="solid"/>
            <a:headEnd type="none" len="sm" w="sm"/>
            <a:tailEnd type="none" len="sm" w="sm"/>
          </a:ln>
        </p:spPr>
      </p:sp>
      <p:grpSp>
        <p:nvGrpSpPr>
          <p:cNvPr name="Group 5" id="5"/>
          <p:cNvGrpSpPr/>
          <p:nvPr/>
        </p:nvGrpSpPr>
        <p:grpSpPr>
          <a:xfrm rot="0">
            <a:off x="412619" y="1594167"/>
            <a:ext cx="8166155" cy="7664133"/>
            <a:chOff x="0" y="0"/>
            <a:chExt cx="2150757" cy="2018537"/>
          </a:xfrm>
        </p:grpSpPr>
        <p:sp>
          <p:nvSpPr>
            <p:cNvPr name="Freeform 6" id="6"/>
            <p:cNvSpPr/>
            <p:nvPr/>
          </p:nvSpPr>
          <p:spPr>
            <a:xfrm flipH="false" flipV="false" rot="0">
              <a:off x="0" y="0"/>
              <a:ext cx="2150757" cy="2018537"/>
            </a:xfrm>
            <a:custGeom>
              <a:avLst/>
              <a:gdLst/>
              <a:ahLst/>
              <a:cxnLst/>
              <a:rect r="r" b="b" t="t" l="l"/>
              <a:pathLst>
                <a:path h="2018537" w="2150757">
                  <a:moveTo>
                    <a:pt x="32234" y="0"/>
                  </a:moveTo>
                  <a:lnTo>
                    <a:pt x="2118523" y="0"/>
                  </a:lnTo>
                  <a:cubicBezTo>
                    <a:pt x="2127072" y="0"/>
                    <a:pt x="2135271" y="3396"/>
                    <a:pt x="2141316" y="9441"/>
                  </a:cubicBezTo>
                  <a:cubicBezTo>
                    <a:pt x="2147361" y="15486"/>
                    <a:pt x="2150757" y="23685"/>
                    <a:pt x="2150757" y="32234"/>
                  </a:cubicBezTo>
                  <a:lnTo>
                    <a:pt x="2150757" y="1986303"/>
                  </a:lnTo>
                  <a:cubicBezTo>
                    <a:pt x="2150757" y="1994852"/>
                    <a:pt x="2147361" y="2003051"/>
                    <a:pt x="2141316" y="2009096"/>
                  </a:cubicBezTo>
                  <a:cubicBezTo>
                    <a:pt x="2135271" y="2015141"/>
                    <a:pt x="2127072" y="2018537"/>
                    <a:pt x="2118523" y="2018537"/>
                  </a:cubicBezTo>
                  <a:lnTo>
                    <a:pt x="32234" y="2018537"/>
                  </a:lnTo>
                  <a:cubicBezTo>
                    <a:pt x="23685" y="2018537"/>
                    <a:pt x="15486" y="2015141"/>
                    <a:pt x="9441" y="2009096"/>
                  </a:cubicBezTo>
                  <a:cubicBezTo>
                    <a:pt x="3396" y="2003051"/>
                    <a:pt x="0" y="1994852"/>
                    <a:pt x="0" y="1986303"/>
                  </a:cubicBezTo>
                  <a:lnTo>
                    <a:pt x="0" y="32234"/>
                  </a:lnTo>
                  <a:cubicBezTo>
                    <a:pt x="0" y="23685"/>
                    <a:pt x="3396" y="15486"/>
                    <a:pt x="9441" y="9441"/>
                  </a:cubicBezTo>
                  <a:cubicBezTo>
                    <a:pt x="15486" y="3396"/>
                    <a:pt x="23685" y="0"/>
                    <a:pt x="32234" y="0"/>
                  </a:cubicBezTo>
                  <a:close/>
                </a:path>
              </a:pathLst>
            </a:custGeom>
            <a:solidFill>
              <a:srgbClr val="1E3B50">
                <a:alpha val="65882"/>
              </a:srgbClr>
            </a:solidFill>
          </p:spPr>
        </p:sp>
        <p:sp>
          <p:nvSpPr>
            <p:cNvPr name="TextBox 7" id="7"/>
            <p:cNvSpPr txBox="true"/>
            <p:nvPr/>
          </p:nvSpPr>
          <p:spPr>
            <a:xfrm>
              <a:off x="0" y="-47625"/>
              <a:ext cx="2150757" cy="2066162"/>
            </a:xfrm>
            <a:prstGeom prst="rect">
              <a:avLst/>
            </a:prstGeom>
          </p:spPr>
          <p:txBody>
            <a:bodyPr anchor="ctr" rtlCol="false" tIns="50800" lIns="50800" bIns="50800" rIns="50800"/>
            <a:lstStyle/>
            <a:p>
              <a:pPr algn="ctr">
                <a:lnSpc>
                  <a:spcPts val="3640"/>
                </a:lnSpc>
              </a:pPr>
            </a:p>
          </p:txBody>
        </p:sp>
      </p:grpSp>
      <p:graphicFrame>
        <p:nvGraphicFramePr>
          <p:cNvPr name="Table 8" id="8"/>
          <p:cNvGraphicFramePr>
            <a:graphicFrameLocks noGrp="true"/>
          </p:cNvGraphicFramePr>
          <p:nvPr/>
        </p:nvGraphicFramePr>
        <p:xfrm>
          <a:off x="628605" y="2344816"/>
          <a:ext cx="7712753" cy="1905000"/>
        </p:xfrm>
        <a:graphic>
          <a:graphicData uri="http://schemas.openxmlformats.org/drawingml/2006/table">
            <a:tbl>
              <a:tblPr/>
              <a:tblGrid>
                <a:gridCol w="2971821"/>
                <a:gridCol w="2303190"/>
                <a:gridCol w="2437742"/>
              </a:tblGrid>
              <a:tr h="835867">
                <a:tc>
                  <a:txBody>
                    <a:bodyPr anchor="t" rtlCol="false"/>
                    <a:lstStyle/>
                    <a:p>
                      <a:pPr algn="ctr">
                        <a:lnSpc>
                          <a:spcPts val="2520"/>
                        </a:lnSpc>
                        <a:defRPr/>
                      </a:pPr>
                      <a:r>
                        <a:rPr lang="en-US" sz="1800" b="true">
                          <a:solidFill>
                            <a:srgbClr val="FFFFFF"/>
                          </a:solidFill>
                          <a:latin typeface="League Spartan"/>
                          <a:ea typeface="League Spartan"/>
                          <a:cs typeface="League Spartan"/>
                          <a:sym typeface="League Spartan"/>
                        </a:rPr>
                        <a:t>Adeptus Mechanicus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League Spartan"/>
                          <a:ea typeface="League Spartan"/>
                          <a:cs typeface="League Spartan"/>
                          <a:sym typeface="League Spartan"/>
                        </a:rPr>
                        <a:t>Win rate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League Spartan"/>
                          <a:ea typeface="League Spartan"/>
                          <a:cs typeface="League Spartan"/>
                          <a:sym typeface="League Spartan"/>
                        </a:rPr>
                        <a:t>95% CI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69133">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Skitarii Hunter Cohort</a:t>
                      </a:r>
                      <a:endParaRPr lang="en-US" sz="1100"/>
                    </a:p>
                    <a:p>
                      <a:pPr algn="ctr">
                        <a:lnSpc>
                          <a:spcPts val="2240"/>
                        </a:lnSpc>
                      </a:pPr>
                      <a:r>
                        <a:rPr lang="en-US" sz="1600">
                          <a:solidFill>
                            <a:srgbClr val="FFFFFF"/>
                          </a:solidFill>
                          <a:latin typeface="League Spartan"/>
                          <a:ea typeface="League Spartan"/>
                          <a:cs typeface="League Spartan"/>
                          <a:sym typeface="League Spartan"/>
                        </a:rPr>
                        <a:t>Haloscreed Battle Clade</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61.25%</a:t>
                      </a:r>
                      <a:endParaRPr lang="en-US" sz="1100"/>
                    </a:p>
                    <a:p>
                      <a:pPr algn="ctr">
                        <a:lnSpc>
                          <a:spcPts val="2240"/>
                        </a:lnSpc>
                      </a:pPr>
                      <a:r>
                        <a:rPr lang="en-US" sz="1600">
                          <a:solidFill>
                            <a:srgbClr val="FFFFFF"/>
                          </a:solidFill>
                          <a:latin typeface="League Spartan"/>
                          <a:ea typeface="League Spartan"/>
                          <a:cs typeface="League Spartan"/>
                          <a:sym typeface="League Spartan"/>
                        </a:rPr>
                        <a:t>56.47%</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±10.62%</a:t>
                      </a:r>
                      <a:endParaRPr lang="en-US" sz="1100"/>
                    </a:p>
                    <a:p>
                      <a:pPr algn="ctr">
                        <a:lnSpc>
                          <a:spcPts val="2240"/>
                        </a:lnSpc>
                      </a:pPr>
                      <a:r>
                        <a:rPr lang="en-US" sz="1600">
                          <a:solidFill>
                            <a:srgbClr val="FFFFFF"/>
                          </a:solidFill>
                          <a:latin typeface="League Spartan"/>
                          <a:ea typeface="League Spartan"/>
                          <a:cs typeface="League Spartan"/>
                          <a:sym typeface="League Spartan"/>
                        </a:rPr>
                        <a:t>±7.53%</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graphicFrame>
        <p:nvGraphicFramePr>
          <p:cNvPr name="Table 9" id="9"/>
          <p:cNvGraphicFramePr>
            <a:graphicFrameLocks noGrp="true"/>
          </p:cNvGraphicFramePr>
          <p:nvPr/>
        </p:nvGraphicFramePr>
        <p:xfrm>
          <a:off x="628605" y="4621291"/>
          <a:ext cx="7712753" cy="2181225"/>
        </p:xfrm>
        <a:graphic>
          <a:graphicData uri="http://schemas.openxmlformats.org/drawingml/2006/table">
            <a:tbl>
              <a:tblPr/>
              <a:tblGrid>
                <a:gridCol w="2971821"/>
                <a:gridCol w="2303190"/>
                <a:gridCol w="2437742"/>
              </a:tblGrid>
              <a:tr h="833713">
                <a:tc>
                  <a:txBody>
                    <a:bodyPr anchor="t" rtlCol="false"/>
                    <a:lstStyle/>
                    <a:p>
                      <a:pPr algn="ctr">
                        <a:lnSpc>
                          <a:spcPts val="2520"/>
                        </a:lnSpc>
                        <a:defRPr/>
                      </a:pPr>
                      <a:r>
                        <a:rPr lang="en-US" sz="1800" b="true">
                          <a:solidFill>
                            <a:srgbClr val="FFFFFF"/>
                          </a:solidFill>
                          <a:latin typeface="League Spartan"/>
                          <a:ea typeface="League Spartan"/>
                          <a:cs typeface="League Spartan"/>
                          <a:sym typeface="League Spartan"/>
                        </a:rPr>
                        <a:t>Imperial Knights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League Spartan"/>
                          <a:ea typeface="League Spartan"/>
                          <a:cs typeface="League Spartan"/>
                          <a:sym typeface="League Spartan"/>
                        </a:rPr>
                        <a:t>Win rate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League Spartan"/>
                          <a:ea typeface="League Spartan"/>
                          <a:cs typeface="League Spartan"/>
                          <a:sym typeface="League Spartan"/>
                        </a:rPr>
                        <a:t>95% CI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347512">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Spearhead at arms</a:t>
                      </a:r>
                      <a:endParaRPr lang="en-US" sz="1100"/>
                    </a:p>
                    <a:p>
                      <a:pPr algn="ctr">
                        <a:lnSpc>
                          <a:spcPts val="2240"/>
                        </a:lnSpc>
                      </a:pPr>
                      <a:r>
                        <a:rPr lang="en-US" sz="1600">
                          <a:solidFill>
                            <a:srgbClr val="FFFFFF"/>
                          </a:solidFill>
                          <a:latin typeface="League Spartan"/>
                          <a:ea typeface="League Spartan"/>
                          <a:cs typeface="League Spartan"/>
                          <a:sym typeface="League Spartan"/>
                        </a:rPr>
                        <a:t>Questoris Companions</a:t>
                      </a:r>
                    </a:p>
                    <a:p>
                      <a:pPr algn="ctr">
                        <a:lnSpc>
                          <a:spcPts val="2240"/>
                        </a:lnSpc>
                      </a:pPr>
                      <a:r>
                        <a:rPr lang="en-US" sz="1600">
                          <a:solidFill>
                            <a:srgbClr val="FFFFFF"/>
                          </a:solidFill>
                          <a:latin typeface="League Spartan"/>
                          <a:ea typeface="League Spartan"/>
                          <a:cs typeface="League Spartan"/>
                          <a:sym typeface="League Spartan"/>
                        </a:rPr>
                        <a:t>Valourstrike Lance</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48.44%</a:t>
                      </a:r>
                      <a:endParaRPr lang="en-US" sz="1100"/>
                    </a:p>
                    <a:p>
                      <a:pPr algn="ctr">
                        <a:lnSpc>
                          <a:spcPts val="2240"/>
                        </a:lnSpc>
                      </a:pPr>
                      <a:r>
                        <a:rPr lang="en-US" sz="1600">
                          <a:solidFill>
                            <a:srgbClr val="FFFFFF"/>
                          </a:solidFill>
                          <a:latin typeface="League Spartan"/>
                          <a:ea typeface="League Spartan"/>
                          <a:cs typeface="League Spartan"/>
                          <a:sym typeface="League Spartan"/>
                        </a:rPr>
                        <a:t>35.42%</a:t>
                      </a:r>
                    </a:p>
                    <a:p>
                      <a:pPr algn="ctr">
                        <a:lnSpc>
                          <a:spcPts val="2240"/>
                        </a:lnSpc>
                      </a:pPr>
                      <a:r>
                        <a:rPr lang="en-US" sz="1600">
                          <a:solidFill>
                            <a:srgbClr val="FFFFFF"/>
                          </a:solidFill>
                          <a:latin typeface="League Spartan"/>
                          <a:ea typeface="League Spartan"/>
                          <a:cs typeface="League Spartan"/>
                          <a:sym typeface="League Spartan"/>
                        </a:rPr>
                        <a:t>31.25%</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±14.96%</a:t>
                      </a:r>
                      <a:endParaRPr lang="en-US" sz="1100"/>
                    </a:p>
                    <a:p>
                      <a:pPr algn="ctr">
                        <a:lnSpc>
                          <a:spcPts val="2240"/>
                        </a:lnSpc>
                      </a:pPr>
                      <a:r>
                        <a:rPr lang="en-US" sz="1600">
                          <a:solidFill>
                            <a:srgbClr val="FFFFFF"/>
                          </a:solidFill>
                          <a:latin typeface="League Spartan"/>
                          <a:ea typeface="League Spartan"/>
                          <a:cs typeface="League Spartan"/>
                          <a:sym typeface="League Spartan"/>
                        </a:rPr>
                        <a:t>±17.23%</a:t>
                      </a:r>
                    </a:p>
                    <a:p>
                      <a:pPr algn="ctr">
                        <a:lnSpc>
                          <a:spcPts val="2240"/>
                        </a:lnSpc>
                      </a:pPr>
                      <a:r>
                        <a:rPr lang="en-US" sz="1600">
                          <a:solidFill>
                            <a:srgbClr val="FFFFFF"/>
                          </a:solidFill>
                          <a:latin typeface="League Spartan"/>
                          <a:ea typeface="League Spartan"/>
                          <a:cs typeface="League Spartan"/>
                          <a:sym typeface="League Spartan"/>
                        </a:rPr>
                        <a:t>±5.48%</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graphicFrame>
        <p:nvGraphicFramePr>
          <p:cNvPr name="Table 10" id="10"/>
          <p:cNvGraphicFramePr>
            <a:graphicFrameLocks noGrp="true"/>
          </p:cNvGraphicFramePr>
          <p:nvPr/>
        </p:nvGraphicFramePr>
        <p:xfrm>
          <a:off x="609555" y="7174784"/>
          <a:ext cx="7712753" cy="1905000"/>
        </p:xfrm>
        <a:graphic>
          <a:graphicData uri="http://schemas.openxmlformats.org/drawingml/2006/table">
            <a:tbl>
              <a:tblPr/>
              <a:tblGrid>
                <a:gridCol w="2971821"/>
                <a:gridCol w="2303190"/>
                <a:gridCol w="2437742"/>
              </a:tblGrid>
              <a:tr h="835867">
                <a:tc>
                  <a:txBody>
                    <a:bodyPr anchor="t" rtlCol="false"/>
                    <a:lstStyle/>
                    <a:p>
                      <a:pPr algn="ctr">
                        <a:lnSpc>
                          <a:spcPts val="2520"/>
                        </a:lnSpc>
                        <a:defRPr/>
                      </a:pPr>
                      <a:r>
                        <a:rPr lang="en-US" sz="1800" b="true">
                          <a:solidFill>
                            <a:srgbClr val="FFFFFF"/>
                          </a:solidFill>
                          <a:latin typeface="League Spartan"/>
                          <a:ea typeface="League Spartan"/>
                          <a:cs typeface="League Spartan"/>
                          <a:sym typeface="League Spartan"/>
                        </a:rPr>
                        <a:t>Aeldari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League Spartan"/>
                          <a:ea typeface="League Spartan"/>
                          <a:cs typeface="League Spartan"/>
                          <a:sym typeface="League Spartan"/>
                        </a:rPr>
                        <a:t>Win rate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League Spartan"/>
                          <a:ea typeface="League Spartan"/>
                          <a:cs typeface="League Spartan"/>
                          <a:sym typeface="League Spartan"/>
                        </a:rPr>
                        <a:t>95% CI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69133">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Aspect Host</a:t>
                      </a:r>
                      <a:endParaRPr lang="en-US" sz="1100"/>
                    </a:p>
                    <a:p>
                      <a:pPr algn="ctr">
                        <a:lnSpc>
                          <a:spcPts val="2240"/>
                        </a:lnSpc>
                      </a:pPr>
                      <a:r>
                        <a:rPr lang="en-US" sz="1600">
                          <a:solidFill>
                            <a:srgbClr val="FFFFFF"/>
                          </a:solidFill>
                          <a:latin typeface="League Spartan"/>
                          <a:ea typeface="League Spartan"/>
                          <a:cs typeface="League Spartan"/>
                          <a:sym typeface="League Spartan"/>
                        </a:rPr>
                        <a:t>Warhost</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57.24%</a:t>
                      </a:r>
                      <a:endParaRPr lang="en-US" sz="1100"/>
                    </a:p>
                    <a:p>
                      <a:pPr algn="ctr">
                        <a:lnSpc>
                          <a:spcPts val="2240"/>
                        </a:lnSpc>
                      </a:pPr>
                      <a:r>
                        <a:rPr lang="en-US" sz="1600">
                          <a:solidFill>
                            <a:srgbClr val="FFFFFF"/>
                          </a:solidFill>
                          <a:latin typeface="League Spartan"/>
                          <a:ea typeface="League Spartan"/>
                          <a:cs typeface="League Spartan"/>
                          <a:sym typeface="League Spartan"/>
                        </a:rPr>
                        <a:t>47.22%</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League Spartan"/>
                          <a:ea typeface="League Spartan"/>
                          <a:cs typeface="League Spartan"/>
                          <a:sym typeface="League Spartan"/>
                        </a:rPr>
                        <a:t>±7.09%</a:t>
                      </a:r>
                      <a:endParaRPr lang="en-US" sz="1100"/>
                    </a:p>
                    <a:p>
                      <a:pPr algn="ctr">
                        <a:lnSpc>
                          <a:spcPts val="2240"/>
                        </a:lnSpc>
                      </a:pPr>
                      <a:r>
                        <a:rPr lang="en-US" sz="1600">
                          <a:solidFill>
                            <a:srgbClr val="FFFFFF"/>
                          </a:solidFill>
                          <a:latin typeface="League Spartan"/>
                          <a:ea typeface="League Spartan"/>
                          <a:cs typeface="League Spartan"/>
                          <a:sym typeface="League Spartan"/>
                        </a:rPr>
                        <a:t>±15.70%%</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grpSp>
        <p:nvGrpSpPr>
          <p:cNvPr name="Group 11" id="11"/>
          <p:cNvGrpSpPr/>
          <p:nvPr/>
        </p:nvGrpSpPr>
        <p:grpSpPr>
          <a:xfrm rot="0">
            <a:off x="8982761" y="1594167"/>
            <a:ext cx="4692600" cy="7664133"/>
            <a:chOff x="0" y="0"/>
            <a:chExt cx="1235911" cy="2018537"/>
          </a:xfrm>
        </p:grpSpPr>
        <p:sp>
          <p:nvSpPr>
            <p:cNvPr name="Freeform 12" id="12"/>
            <p:cNvSpPr/>
            <p:nvPr/>
          </p:nvSpPr>
          <p:spPr>
            <a:xfrm flipH="false" flipV="false" rot="0">
              <a:off x="0" y="0"/>
              <a:ext cx="1235911" cy="2018537"/>
            </a:xfrm>
            <a:custGeom>
              <a:avLst/>
              <a:gdLst/>
              <a:ahLst/>
              <a:cxnLst/>
              <a:rect r="r" b="b" t="t" l="l"/>
              <a:pathLst>
                <a:path h="2018537" w="1235911">
                  <a:moveTo>
                    <a:pt x="56094" y="0"/>
                  </a:moveTo>
                  <a:lnTo>
                    <a:pt x="1179818" y="0"/>
                  </a:lnTo>
                  <a:cubicBezTo>
                    <a:pt x="1210797" y="0"/>
                    <a:pt x="1235911" y="25114"/>
                    <a:pt x="1235911" y="56094"/>
                  </a:cubicBezTo>
                  <a:lnTo>
                    <a:pt x="1235911" y="1962443"/>
                  </a:lnTo>
                  <a:cubicBezTo>
                    <a:pt x="1235911" y="1993423"/>
                    <a:pt x="1210797" y="2018537"/>
                    <a:pt x="1179818" y="2018537"/>
                  </a:cubicBezTo>
                  <a:lnTo>
                    <a:pt x="56094" y="2018537"/>
                  </a:lnTo>
                  <a:cubicBezTo>
                    <a:pt x="25114" y="2018537"/>
                    <a:pt x="0" y="1993423"/>
                    <a:pt x="0" y="1962443"/>
                  </a:cubicBezTo>
                  <a:lnTo>
                    <a:pt x="0" y="56094"/>
                  </a:lnTo>
                  <a:cubicBezTo>
                    <a:pt x="0" y="25114"/>
                    <a:pt x="25114" y="0"/>
                    <a:pt x="56094" y="0"/>
                  </a:cubicBezTo>
                  <a:close/>
                </a:path>
              </a:pathLst>
            </a:custGeom>
            <a:solidFill>
              <a:srgbClr val="1E3B50">
                <a:alpha val="65882"/>
              </a:srgbClr>
            </a:solidFill>
          </p:spPr>
        </p:sp>
        <p:sp>
          <p:nvSpPr>
            <p:cNvPr name="TextBox 13" id="13"/>
            <p:cNvSpPr txBox="true"/>
            <p:nvPr/>
          </p:nvSpPr>
          <p:spPr>
            <a:xfrm>
              <a:off x="0" y="-47625"/>
              <a:ext cx="1235911" cy="2066162"/>
            </a:xfrm>
            <a:prstGeom prst="rect">
              <a:avLst/>
            </a:prstGeom>
          </p:spPr>
          <p:txBody>
            <a:bodyPr anchor="ctr" rtlCol="false" tIns="50800" lIns="50800" bIns="50800" rIns="50800"/>
            <a:lstStyle/>
            <a:p>
              <a:pPr algn="ctr">
                <a:lnSpc>
                  <a:spcPts val="3640"/>
                </a:lnSpc>
              </a:pPr>
            </a:p>
          </p:txBody>
        </p:sp>
      </p:grpSp>
      <p:sp>
        <p:nvSpPr>
          <p:cNvPr name="Freeform 14" id="14"/>
          <p:cNvSpPr/>
          <p:nvPr/>
        </p:nvSpPr>
        <p:spPr>
          <a:xfrm flipH="false" flipV="false" rot="0">
            <a:off x="9424061" y="2344816"/>
            <a:ext cx="3810000" cy="1905000"/>
          </a:xfrm>
          <a:custGeom>
            <a:avLst/>
            <a:gdLst/>
            <a:ahLst/>
            <a:cxnLst/>
            <a:rect r="r" b="b" t="t" l="l"/>
            <a:pathLst>
              <a:path h="1905000" w="3810000">
                <a:moveTo>
                  <a:pt x="0" y="0"/>
                </a:moveTo>
                <a:lnTo>
                  <a:pt x="3810000" y="0"/>
                </a:lnTo>
                <a:lnTo>
                  <a:pt x="3810000" y="1905000"/>
                </a:lnTo>
                <a:lnTo>
                  <a:pt x="0" y="1905000"/>
                </a:lnTo>
                <a:lnTo>
                  <a:pt x="0" y="0"/>
                </a:lnTo>
                <a:close/>
              </a:path>
            </a:pathLst>
          </a:custGeom>
          <a:blipFill>
            <a:blip r:embed="rId3"/>
            <a:stretch>
              <a:fillRect l="0" t="0" r="0" b="0"/>
            </a:stretch>
          </a:blipFill>
        </p:spPr>
      </p:sp>
      <p:sp>
        <p:nvSpPr>
          <p:cNvPr name="Freeform 15" id="15"/>
          <p:cNvSpPr/>
          <p:nvPr/>
        </p:nvSpPr>
        <p:spPr>
          <a:xfrm flipH="false" flipV="false" rot="0">
            <a:off x="9424061" y="4759403"/>
            <a:ext cx="3810000" cy="1905000"/>
          </a:xfrm>
          <a:custGeom>
            <a:avLst/>
            <a:gdLst/>
            <a:ahLst/>
            <a:cxnLst/>
            <a:rect r="r" b="b" t="t" l="l"/>
            <a:pathLst>
              <a:path h="1905000" w="3810000">
                <a:moveTo>
                  <a:pt x="0" y="0"/>
                </a:moveTo>
                <a:lnTo>
                  <a:pt x="3810000" y="0"/>
                </a:lnTo>
                <a:lnTo>
                  <a:pt x="3810000" y="1905000"/>
                </a:lnTo>
                <a:lnTo>
                  <a:pt x="0" y="1905000"/>
                </a:lnTo>
                <a:lnTo>
                  <a:pt x="0" y="0"/>
                </a:lnTo>
                <a:close/>
              </a:path>
            </a:pathLst>
          </a:custGeom>
          <a:blipFill>
            <a:blip r:embed="rId4"/>
            <a:stretch>
              <a:fillRect l="0" t="0" r="0" b="0"/>
            </a:stretch>
          </a:blipFill>
        </p:spPr>
      </p:sp>
      <p:sp>
        <p:nvSpPr>
          <p:cNvPr name="Freeform 16" id="16"/>
          <p:cNvSpPr/>
          <p:nvPr/>
        </p:nvSpPr>
        <p:spPr>
          <a:xfrm flipH="false" flipV="false" rot="0">
            <a:off x="9424061" y="7178753"/>
            <a:ext cx="3810000" cy="1905000"/>
          </a:xfrm>
          <a:custGeom>
            <a:avLst/>
            <a:gdLst/>
            <a:ahLst/>
            <a:cxnLst/>
            <a:rect r="r" b="b" t="t" l="l"/>
            <a:pathLst>
              <a:path h="1905000" w="3810000">
                <a:moveTo>
                  <a:pt x="0" y="0"/>
                </a:moveTo>
                <a:lnTo>
                  <a:pt x="3810000" y="0"/>
                </a:lnTo>
                <a:lnTo>
                  <a:pt x="3810000" y="1905000"/>
                </a:lnTo>
                <a:lnTo>
                  <a:pt x="0" y="1905000"/>
                </a:lnTo>
                <a:lnTo>
                  <a:pt x="0" y="0"/>
                </a:lnTo>
                <a:close/>
              </a:path>
            </a:pathLst>
          </a:custGeom>
          <a:blipFill>
            <a:blip r:embed="rId5"/>
            <a:stretch>
              <a:fillRect l="0" t="0" r="0" b="0"/>
            </a:stretch>
          </a:blipFill>
        </p:spPr>
      </p:sp>
      <p:sp>
        <p:nvSpPr>
          <p:cNvPr name="TextBox 17" id="17"/>
          <p:cNvSpPr txBox="true"/>
          <p:nvPr/>
        </p:nvSpPr>
        <p:spPr>
          <a:xfrm rot="0">
            <a:off x="2147354" y="1744024"/>
            <a:ext cx="4675255" cy="422275"/>
          </a:xfrm>
          <a:prstGeom prst="rect">
            <a:avLst/>
          </a:prstGeom>
        </p:spPr>
        <p:txBody>
          <a:bodyPr anchor="t" rtlCol="false" tIns="0" lIns="0" bIns="0" rIns="0">
            <a:spAutoFit/>
          </a:bodyPr>
          <a:lstStyle/>
          <a:p>
            <a:pPr algn="ctr">
              <a:lnSpc>
                <a:spcPts val="3499"/>
              </a:lnSpc>
            </a:pPr>
            <a:r>
              <a:rPr lang="en-US" sz="2499">
                <a:solidFill>
                  <a:srgbClr val="DCDDDD"/>
                </a:solidFill>
                <a:latin typeface="League Spartan"/>
                <a:ea typeface="League Spartan"/>
                <a:cs typeface="League Spartan"/>
                <a:sym typeface="League Spartan"/>
              </a:rPr>
              <a:t>Detachment analysis</a:t>
            </a:r>
          </a:p>
        </p:txBody>
      </p:sp>
      <p:grpSp>
        <p:nvGrpSpPr>
          <p:cNvPr name="Group 18" id="18"/>
          <p:cNvGrpSpPr/>
          <p:nvPr/>
        </p:nvGrpSpPr>
        <p:grpSpPr>
          <a:xfrm rot="0">
            <a:off x="14075411" y="3128733"/>
            <a:ext cx="3799969" cy="4595001"/>
            <a:chOff x="0" y="0"/>
            <a:chExt cx="1000815" cy="1210206"/>
          </a:xfrm>
        </p:grpSpPr>
        <p:sp>
          <p:nvSpPr>
            <p:cNvPr name="Freeform 19" id="19"/>
            <p:cNvSpPr/>
            <p:nvPr/>
          </p:nvSpPr>
          <p:spPr>
            <a:xfrm flipH="false" flipV="false" rot="0">
              <a:off x="0" y="0"/>
              <a:ext cx="1000815" cy="1210206"/>
            </a:xfrm>
            <a:custGeom>
              <a:avLst/>
              <a:gdLst/>
              <a:ahLst/>
              <a:cxnLst/>
              <a:rect r="r" b="b" t="t" l="l"/>
              <a:pathLst>
                <a:path h="1210206" w="1000815">
                  <a:moveTo>
                    <a:pt x="69270" y="0"/>
                  </a:moveTo>
                  <a:lnTo>
                    <a:pt x="931545" y="0"/>
                  </a:lnTo>
                  <a:cubicBezTo>
                    <a:pt x="949916" y="0"/>
                    <a:pt x="967535" y="7298"/>
                    <a:pt x="980526" y="20289"/>
                  </a:cubicBezTo>
                  <a:cubicBezTo>
                    <a:pt x="993517" y="33280"/>
                    <a:pt x="1000815" y="50899"/>
                    <a:pt x="1000815" y="69270"/>
                  </a:cubicBezTo>
                  <a:lnTo>
                    <a:pt x="1000815" y="1140936"/>
                  </a:lnTo>
                  <a:cubicBezTo>
                    <a:pt x="1000815" y="1179193"/>
                    <a:pt x="969802" y="1210206"/>
                    <a:pt x="931545" y="1210206"/>
                  </a:cubicBezTo>
                  <a:lnTo>
                    <a:pt x="69270" y="1210206"/>
                  </a:lnTo>
                  <a:cubicBezTo>
                    <a:pt x="50899" y="1210206"/>
                    <a:pt x="33280" y="1202908"/>
                    <a:pt x="20289" y="1189917"/>
                  </a:cubicBezTo>
                  <a:cubicBezTo>
                    <a:pt x="7298" y="1176927"/>
                    <a:pt x="0" y="1159307"/>
                    <a:pt x="0" y="1140936"/>
                  </a:cubicBezTo>
                  <a:lnTo>
                    <a:pt x="0" y="69270"/>
                  </a:lnTo>
                  <a:cubicBezTo>
                    <a:pt x="0" y="31013"/>
                    <a:pt x="31013" y="0"/>
                    <a:pt x="69270" y="0"/>
                  </a:cubicBezTo>
                  <a:close/>
                </a:path>
              </a:pathLst>
            </a:custGeom>
            <a:solidFill>
              <a:srgbClr val="1E3B50">
                <a:alpha val="65882"/>
              </a:srgbClr>
            </a:solidFill>
          </p:spPr>
        </p:sp>
        <p:sp>
          <p:nvSpPr>
            <p:cNvPr name="TextBox 20" id="20"/>
            <p:cNvSpPr txBox="true"/>
            <p:nvPr/>
          </p:nvSpPr>
          <p:spPr>
            <a:xfrm>
              <a:off x="0" y="-47625"/>
              <a:ext cx="1000815" cy="1257831"/>
            </a:xfrm>
            <a:prstGeom prst="rect">
              <a:avLst/>
            </a:prstGeom>
          </p:spPr>
          <p:txBody>
            <a:bodyPr anchor="ctr" rtlCol="false" tIns="50800" lIns="50800" bIns="50800" rIns="50800"/>
            <a:lstStyle/>
            <a:p>
              <a:pPr algn="ctr">
                <a:lnSpc>
                  <a:spcPts val="3640"/>
                </a:lnSpc>
              </a:pPr>
            </a:p>
          </p:txBody>
        </p:sp>
      </p:grpSp>
      <p:sp>
        <p:nvSpPr>
          <p:cNvPr name="TextBox 21" id="21"/>
          <p:cNvSpPr txBox="true"/>
          <p:nvPr/>
        </p:nvSpPr>
        <p:spPr>
          <a:xfrm rot="0">
            <a:off x="14075411" y="3389462"/>
            <a:ext cx="3799969" cy="4025919"/>
          </a:xfrm>
          <a:prstGeom prst="rect">
            <a:avLst/>
          </a:prstGeom>
        </p:spPr>
        <p:txBody>
          <a:bodyPr anchor="t" rtlCol="false" tIns="0" lIns="0" bIns="0" rIns="0">
            <a:spAutoFit/>
          </a:bodyPr>
          <a:lstStyle/>
          <a:p>
            <a:pPr algn="ctr">
              <a:lnSpc>
                <a:spcPts val="3588"/>
              </a:lnSpc>
            </a:pPr>
            <a:r>
              <a:rPr lang="en-US" sz="2563">
                <a:solidFill>
                  <a:srgbClr val="DCDDDD"/>
                </a:solidFill>
                <a:latin typeface="League Spartan"/>
                <a:ea typeface="League Spartan"/>
                <a:cs typeface="League Spartan"/>
                <a:sym typeface="League Spartan"/>
              </a:rPr>
              <a:t>The real competitive edge is found at the 'Micro' level. Optimizing the sub-faction offers a structural advantage of +10% to +17%, making it mandatory for success.</a:t>
            </a:r>
          </a:p>
        </p:txBody>
      </p:sp>
      <p:sp>
        <p:nvSpPr>
          <p:cNvPr name="TextBox 22" id="22"/>
          <p:cNvSpPr txBox="true"/>
          <p:nvPr/>
        </p:nvSpPr>
        <p:spPr>
          <a:xfrm rot="0">
            <a:off x="8982761" y="1744024"/>
            <a:ext cx="4692600" cy="422275"/>
          </a:xfrm>
          <a:prstGeom prst="rect">
            <a:avLst/>
          </a:prstGeom>
        </p:spPr>
        <p:txBody>
          <a:bodyPr anchor="t" rtlCol="false" tIns="0" lIns="0" bIns="0" rIns="0">
            <a:spAutoFit/>
          </a:bodyPr>
          <a:lstStyle/>
          <a:p>
            <a:pPr algn="ctr">
              <a:lnSpc>
                <a:spcPts val="3499"/>
              </a:lnSpc>
            </a:pPr>
            <a:r>
              <a:rPr lang="en-US" sz="2499">
                <a:solidFill>
                  <a:srgbClr val="DCDDDD"/>
                </a:solidFill>
                <a:latin typeface="League Spartan"/>
                <a:ea typeface="League Spartan"/>
                <a:cs typeface="League Spartan"/>
                <a:sym typeface="League Spartan"/>
              </a:rPr>
              <a:t>Detachment overview</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324A5B"/>
        </a:solidFill>
      </p:bgPr>
    </p:bg>
    <p:spTree>
      <p:nvGrpSpPr>
        <p:cNvPr id="1" name=""/>
        <p:cNvGrpSpPr/>
        <p:nvPr/>
      </p:nvGrpSpPr>
      <p:grpSpPr>
        <a:xfrm>
          <a:off x="0" y="0"/>
          <a:ext cx="0" cy="0"/>
          <a:chOff x="0" y="0"/>
          <a:chExt cx="0" cy="0"/>
        </a:xfrm>
      </p:grpSpPr>
      <p:sp>
        <p:nvSpPr>
          <p:cNvPr name="Freeform 2" id="2"/>
          <p:cNvSpPr/>
          <p:nvPr/>
        </p:nvSpPr>
        <p:spPr>
          <a:xfrm flipH="false" flipV="false" rot="0">
            <a:off x="-19050" y="-667728"/>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39000"/>
            </a:blip>
            <a:stretch>
              <a:fillRect l="0" t="0" r="0" b="0"/>
            </a:stretch>
          </a:blipFill>
        </p:spPr>
      </p:sp>
      <p:sp>
        <p:nvSpPr>
          <p:cNvPr name="TextBox 3" id="3"/>
          <p:cNvSpPr txBox="true"/>
          <p:nvPr/>
        </p:nvSpPr>
        <p:spPr>
          <a:xfrm rot="0">
            <a:off x="412619" y="260914"/>
            <a:ext cx="17462762" cy="995680"/>
          </a:xfrm>
          <a:prstGeom prst="rect">
            <a:avLst/>
          </a:prstGeom>
        </p:spPr>
        <p:txBody>
          <a:bodyPr anchor="t" rtlCol="false" tIns="0" lIns="0" bIns="0" rIns="0">
            <a:spAutoFit/>
          </a:bodyPr>
          <a:lstStyle/>
          <a:p>
            <a:pPr algn="ctr">
              <a:lnSpc>
                <a:spcPts val="8119"/>
              </a:lnSpc>
              <a:spcBef>
                <a:spcPct val="0"/>
              </a:spcBef>
            </a:pPr>
            <a:r>
              <a:rPr lang="en-US" sz="5799">
                <a:solidFill>
                  <a:srgbClr val="DCDDDD"/>
                </a:solidFill>
                <a:latin typeface="Black Ops One"/>
                <a:ea typeface="Black Ops One"/>
                <a:cs typeface="Black Ops One"/>
                <a:sym typeface="Black Ops One"/>
              </a:rPr>
              <a:t>Unit Analysis – The "Core" Units</a:t>
            </a:r>
          </a:p>
        </p:txBody>
      </p:sp>
      <p:sp>
        <p:nvSpPr>
          <p:cNvPr name="AutoShape 4" id="4"/>
          <p:cNvSpPr/>
          <p:nvPr/>
        </p:nvSpPr>
        <p:spPr>
          <a:xfrm flipV="true">
            <a:off x="5086350" y="1256594"/>
            <a:ext cx="8115300" cy="0"/>
          </a:xfrm>
          <a:prstGeom prst="line">
            <a:avLst/>
          </a:prstGeom>
          <a:ln cap="flat" w="38100">
            <a:solidFill>
              <a:srgbClr val="DCDDDD"/>
            </a:solidFill>
            <a:prstDash val="solid"/>
            <a:headEnd type="none" len="sm" w="sm"/>
            <a:tailEnd type="none" len="sm" w="sm"/>
          </a:ln>
        </p:spPr>
      </p:sp>
      <p:grpSp>
        <p:nvGrpSpPr>
          <p:cNvPr name="Group 5" id="5"/>
          <p:cNvGrpSpPr/>
          <p:nvPr/>
        </p:nvGrpSpPr>
        <p:grpSpPr>
          <a:xfrm rot="0">
            <a:off x="1252332" y="1688718"/>
            <a:ext cx="15632636" cy="4854794"/>
            <a:chOff x="0" y="0"/>
            <a:chExt cx="4117237" cy="1278629"/>
          </a:xfrm>
        </p:grpSpPr>
        <p:sp>
          <p:nvSpPr>
            <p:cNvPr name="Freeform 6" id="6"/>
            <p:cNvSpPr/>
            <p:nvPr/>
          </p:nvSpPr>
          <p:spPr>
            <a:xfrm flipH="false" flipV="false" rot="0">
              <a:off x="0" y="0"/>
              <a:ext cx="4117237" cy="1278629"/>
            </a:xfrm>
            <a:custGeom>
              <a:avLst/>
              <a:gdLst/>
              <a:ahLst/>
              <a:cxnLst/>
              <a:rect r="r" b="b" t="t" l="l"/>
              <a:pathLst>
                <a:path h="1278629" w="4117237">
                  <a:moveTo>
                    <a:pt x="16838" y="0"/>
                  </a:moveTo>
                  <a:lnTo>
                    <a:pt x="4100399" y="0"/>
                  </a:lnTo>
                  <a:cubicBezTo>
                    <a:pt x="4109699" y="0"/>
                    <a:pt x="4117237" y="7539"/>
                    <a:pt x="4117237" y="16838"/>
                  </a:cubicBezTo>
                  <a:lnTo>
                    <a:pt x="4117237" y="1261791"/>
                  </a:lnTo>
                  <a:cubicBezTo>
                    <a:pt x="4117237" y="1271090"/>
                    <a:pt x="4109699" y="1278629"/>
                    <a:pt x="4100399" y="1278629"/>
                  </a:cubicBezTo>
                  <a:lnTo>
                    <a:pt x="16838" y="1278629"/>
                  </a:lnTo>
                  <a:cubicBezTo>
                    <a:pt x="7539" y="1278629"/>
                    <a:pt x="0" y="1271090"/>
                    <a:pt x="0" y="1261791"/>
                  </a:cubicBezTo>
                  <a:lnTo>
                    <a:pt x="0" y="16838"/>
                  </a:lnTo>
                  <a:cubicBezTo>
                    <a:pt x="0" y="7539"/>
                    <a:pt x="7539" y="0"/>
                    <a:pt x="16838" y="0"/>
                  </a:cubicBezTo>
                  <a:close/>
                </a:path>
              </a:pathLst>
            </a:custGeom>
            <a:solidFill>
              <a:srgbClr val="1E3B50">
                <a:alpha val="65882"/>
              </a:srgbClr>
            </a:solidFill>
          </p:spPr>
        </p:sp>
        <p:sp>
          <p:nvSpPr>
            <p:cNvPr name="TextBox 7" id="7"/>
            <p:cNvSpPr txBox="true"/>
            <p:nvPr/>
          </p:nvSpPr>
          <p:spPr>
            <a:xfrm>
              <a:off x="0" y="-47625"/>
              <a:ext cx="4117237" cy="1326254"/>
            </a:xfrm>
            <a:prstGeom prst="rect">
              <a:avLst/>
            </a:prstGeom>
          </p:spPr>
          <p:txBody>
            <a:bodyPr anchor="ctr" rtlCol="false" tIns="50800" lIns="50800" bIns="50800" rIns="50800"/>
            <a:lstStyle/>
            <a:p>
              <a:pPr algn="ctr">
                <a:lnSpc>
                  <a:spcPts val="3640"/>
                </a:lnSpc>
              </a:pPr>
            </a:p>
          </p:txBody>
        </p:sp>
      </p:grpSp>
      <p:sp>
        <p:nvSpPr>
          <p:cNvPr name="Freeform 8" id="8"/>
          <p:cNvSpPr/>
          <p:nvPr/>
        </p:nvSpPr>
        <p:spPr>
          <a:xfrm flipH="false" flipV="false" rot="0">
            <a:off x="10125407" y="2482392"/>
            <a:ext cx="6152487" cy="3588951"/>
          </a:xfrm>
          <a:custGeom>
            <a:avLst/>
            <a:gdLst/>
            <a:ahLst/>
            <a:cxnLst/>
            <a:rect r="r" b="b" t="t" l="l"/>
            <a:pathLst>
              <a:path h="3588951" w="6152487">
                <a:moveTo>
                  <a:pt x="0" y="0"/>
                </a:moveTo>
                <a:lnTo>
                  <a:pt x="6152486" y="0"/>
                </a:lnTo>
                <a:lnTo>
                  <a:pt x="6152486" y="3588951"/>
                </a:lnTo>
                <a:lnTo>
                  <a:pt x="0" y="3588951"/>
                </a:lnTo>
                <a:lnTo>
                  <a:pt x="0" y="0"/>
                </a:lnTo>
                <a:close/>
              </a:path>
            </a:pathLst>
          </a:custGeom>
          <a:blipFill>
            <a:blip r:embed="rId3"/>
            <a:stretch>
              <a:fillRect l="0" t="0" r="0" b="0"/>
            </a:stretch>
          </a:blipFill>
        </p:spPr>
      </p:sp>
      <p:sp>
        <p:nvSpPr>
          <p:cNvPr name="Freeform 9" id="9"/>
          <p:cNvSpPr/>
          <p:nvPr/>
        </p:nvSpPr>
        <p:spPr>
          <a:xfrm flipH="false" flipV="false" rot="0">
            <a:off x="1850343" y="2482392"/>
            <a:ext cx="7177901" cy="3588951"/>
          </a:xfrm>
          <a:custGeom>
            <a:avLst/>
            <a:gdLst/>
            <a:ahLst/>
            <a:cxnLst/>
            <a:rect r="r" b="b" t="t" l="l"/>
            <a:pathLst>
              <a:path h="3588951" w="7177901">
                <a:moveTo>
                  <a:pt x="0" y="0"/>
                </a:moveTo>
                <a:lnTo>
                  <a:pt x="7177901" y="0"/>
                </a:lnTo>
                <a:lnTo>
                  <a:pt x="7177901" y="3588951"/>
                </a:lnTo>
                <a:lnTo>
                  <a:pt x="0" y="3588951"/>
                </a:lnTo>
                <a:lnTo>
                  <a:pt x="0" y="0"/>
                </a:lnTo>
                <a:close/>
              </a:path>
            </a:pathLst>
          </a:custGeom>
          <a:blipFill>
            <a:blip r:embed="rId4"/>
            <a:stretch>
              <a:fillRect l="0" t="0" r="0" b="0"/>
            </a:stretch>
          </a:blipFill>
        </p:spPr>
      </p:sp>
      <p:sp>
        <p:nvSpPr>
          <p:cNvPr name="TextBox 10" id="10"/>
          <p:cNvSpPr txBox="true"/>
          <p:nvPr/>
        </p:nvSpPr>
        <p:spPr>
          <a:xfrm rot="0">
            <a:off x="1499056" y="1775272"/>
            <a:ext cx="15058377" cy="422275"/>
          </a:xfrm>
          <a:prstGeom prst="rect">
            <a:avLst/>
          </a:prstGeom>
        </p:spPr>
        <p:txBody>
          <a:bodyPr anchor="t" rtlCol="false" tIns="0" lIns="0" bIns="0" rIns="0">
            <a:spAutoFit/>
          </a:bodyPr>
          <a:lstStyle/>
          <a:p>
            <a:pPr algn="ctr">
              <a:lnSpc>
                <a:spcPts val="3499"/>
              </a:lnSpc>
            </a:pPr>
            <a:r>
              <a:rPr lang="en-US" sz="2499">
                <a:solidFill>
                  <a:srgbClr val="DCDDDD"/>
                </a:solidFill>
                <a:latin typeface="League Spartan"/>
                <a:ea typeface="League Spartan"/>
                <a:cs typeface="League Spartan"/>
                <a:sym typeface="League Spartan"/>
              </a:rPr>
              <a:t>UNIT IMPACT: POPULARITY, WIN RATE WITH, WIN RATE WITHOUT</a:t>
            </a:r>
          </a:p>
        </p:txBody>
      </p:sp>
      <p:grpSp>
        <p:nvGrpSpPr>
          <p:cNvPr name="Group 11" id="11"/>
          <p:cNvGrpSpPr/>
          <p:nvPr/>
        </p:nvGrpSpPr>
        <p:grpSpPr>
          <a:xfrm rot="0">
            <a:off x="1211927" y="6900643"/>
            <a:ext cx="15632636" cy="2141647"/>
            <a:chOff x="0" y="0"/>
            <a:chExt cx="4117237" cy="564055"/>
          </a:xfrm>
        </p:grpSpPr>
        <p:sp>
          <p:nvSpPr>
            <p:cNvPr name="Freeform 12" id="12"/>
            <p:cNvSpPr/>
            <p:nvPr/>
          </p:nvSpPr>
          <p:spPr>
            <a:xfrm flipH="false" flipV="false" rot="0">
              <a:off x="0" y="0"/>
              <a:ext cx="4117237" cy="564055"/>
            </a:xfrm>
            <a:custGeom>
              <a:avLst/>
              <a:gdLst/>
              <a:ahLst/>
              <a:cxnLst/>
              <a:rect r="r" b="b" t="t" l="l"/>
              <a:pathLst>
                <a:path h="564055" w="4117237">
                  <a:moveTo>
                    <a:pt x="16838" y="0"/>
                  </a:moveTo>
                  <a:lnTo>
                    <a:pt x="4100399" y="0"/>
                  </a:lnTo>
                  <a:cubicBezTo>
                    <a:pt x="4109699" y="0"/>
                    <a:pt x="4117237" y="7539"/>
                    <a:pt x="4117237" y="16838"/>
                  </a:cubicBezTo>
                  <a:lnTo>
                    <a:pt x="4117237" y="547217"/>
                  </a:lnTo>
                  <a:cubicBezTo>
                    <a:pt x="4117237" y="556516"/>
                    <a:pt x="4109699" y="564055"/>
                    <a:pt x="4100399" y="564055"/>
                  </a:cubicBezTo>
                  <a:lnTo>
                    <a:pt x="16838" y="564055"/>
                  </a:lnTo>
                  <a:cubicBezTo>
                    <a:pt x="7539" y="564055"/>
                    <a:pt x="0" y="556516"/>
                    <a:pt x="0" y="547217"/>
                  </a:cubicBezTo>
                  <a:lnTo>
                    <a:pt x="0" y="16838"/>
                  </a:lnTo>
                  <a:cubicBezTo>
                    <a:pt x="0" y="7539"/>
                    <a:pt x="7539" y="0"/>
                    <a:pt x="16838" y="0"/>
                  </a:cubicBezTo>
                  <a:close/>
                </a:path>
              </a:pathLst>
            </a:custGeom>
            <a:solidFill>
              <a:srgbClr val="1E3B50">
                <a:alpha val="65882"/>
              </a:srgbClr>
            </a:solidFill>
          </p:spPr>
        </p:sp>
        <p:sp>
          <p:nvSpPr>
            <p:cNvPr name="TextBox 13" id="13"/>
            <p:cNvSpPr txBox="true"/>
            <p:nvPr/>
          </p:nvSpPr>
          <p:spPr>
            <a:xfrm>
              <a:off x="0" y="-47625"/>
              <a:ext cx="4117237" cy="611680"/>
            </a:xfrm>
            <a:prstGeom prst="rect">
              <a:avLst/>
            </a:prstGeom>
          </p:spPr>
          <p:txBody>
            <a:bodyPr anchor="ctr" rtlCol="false" tIns="50800" lIns="50800" bIns="50800" rIns="50800"/>
            <a:lstStyle/>
            <a:p>
              <a:pPr algn="ctr">
                <a:lnSpc>
                  <a:spcPts val="3640"/>
                </a:lnSpc>
              </a:pPr>
            </a:p>
          </p:txBody>
        </p:sp>
      </p:grpSp>
      <p:sp>
        <p:nvSpPr>
          <p:cNvPr name="TextBox 14" id="14"/>
          <p:cNvSpPr txBox="true"/>
          <p:nvPr/>
        </p:nvSpPr>
        <p:spPr>
          <a:xfrm rot="0">
            <a:off x="1499056" y="7057862"/>
            <a:ext cx="15058377" cy="1779583"/>
          </a:xfrm>
          <a:prstGeom prst="rect">
            <a:avLst/>
          </a:prstGeom>
        </p:spPr>
        <p:txBody>
          <a:bodyPr anchor="t" rtlCol="false" tIns="0" lIns="0" bIns="0" rIns="0">
            <a:spAutoFit/>
          </a:bodyPr>
          <a:lstStyle/>
          <a:p>
            <a:pPr algn="ctr">
              <a:lnSpc>
                <a:spcPts val="3588"/>
              </a:lnSpc>
            </a:pPr>
            <a:r>
              <a:rPr lang="en-US" sz="2563">
                <a:solidFill>
                  <a:srgbClr val="DCDDDD"/>
                </a:solidFill>
                <a:latin typeface="League Spartan"/>
                <a:ea typeface="League Spartan"/>
                <a:cs typeface="League Spartan"/>
                <a:sym typeface="League Spartan"/>
              </a:rPr>
              <a:t>The lack of relevance is due to the sample: units such as Jakhals (100% usage) are used by all players, both tournament winners and participants with the lowest scores. For this reason, their performance naturally converges towards the faction average. However, such extensive use confirms their status as “indispensable elements” for army building.</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324A5B"/>
        </a:solidFill>
      </p:bgPr>
    </p:bg>
    <p:spTree>
      <p:nvGrpSpPr>
        <p:cNvPr id="1" name=""/>
        <p:cNvGrpSpPr/>
        <p:nvPr/>
      </p:nvGrpSpPr>
      <p:grpSpPr>
        <a:xfrm>
          <a:off x="0" y="0"/>
          <a:ext cx="0" cy="0"/>
          <a:chOff x="0" y="0"/>
          <a:chExt cx="0" cy="0"/>
        </a:xfrm>
      </p:grpSpPr>
      <p:sp>
        <p:nvSpPr>
          <p:cNvPr name="Freeform 2" id="2"/>
          <p:cNvSpPr/>
          <p:nvPr/>
        </p:nvSpPr>
        <p:spPr>
          <a:xfrm flipH="false" flipV="false" rot="0">
            <a:off x="9525" y="-667728"/>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39000"/>
            </a:blip>
            <a:stretch>
              <a:fillRect l="0" t="0" r="0" b="0"/>
            </a:stretch>
          </a:blipFill>
        </p:spPr>
      </p:sp>
      <p:sp>
        <p:nvSpPr>
          <p:cNvPr name="TextBox 3" id="3"/>
          <p:cNvSpPr txBox="true"/>
          <p:nvPr/>
        </p:nvSpPr>
        <p:spPr>
          <a:xfrm rot="0">
            <a:off x="412619" y="260914"/>
            <a:ext cx="17462762" cy="995680"/>
          </a:xfrm>
          <a:prstGeom prst="rect">
            <a:avLst/>
          </a:prstGeom>
        </p:spPr>
        <p:txBody>
          <a:bodyPr anchor="t" rtlCol="false" tIns="0" lIns="0" bIns="0" rIns="0">
            <a:spAutoFit/>
          </a:bodyPr>
          <a:lstStyle/>
          <a:p>
            <a:pPr algn="ctr">
              <a:lnSpc>
                <a:spcPts val="8119"/>
              </a:lnSpc>
              <a:spcBef>
                <a:spcPct val="0"/>
              </a:spcBef>
            </a:pPr>
            <a:r>
              <a:rPr lang="en-US" sz="5799">
                <a:solidFill>
                  <a:srgbClr val="DCDDDD"/>
                </a:solidFill>
                <a:latin typeface="Black Ops One"/>
                <a:ea typeface="Black Ops One"/>
                <a:cs typeface="Black Ops One"/>
                <a:sym typeface="Black Ops One"/>
              </a:rPr>
              <a:t>Unit Analysis –  Quality vs Quantity</a:t>
            </a:r>
          </a:p>
        </p:txBody>
      </p:sp>
      <p:sp>
        <p:nvSpPr>
          <p:cNvPr name="AutoShape 4" id="4"/>
          <p:cNvSpPr/>
          <p:nvPr/>
        </p:nvSpPr>
        <p:spPr>
          <a:xfrm flipV="true">
            <a:off x="5086350" y="1256594"/>
            <a:ext cx="8115300" cy="0"/>
          </a:xfrm>
          <a:prstGeom prst="line">
            <a:avLst/>
          </a:prstGeom>
          <a:ln cap="flat" w="38100">
            <a:solidFill>
              <a:srgbClr val="DCDDDD"/>
            </a:solidFill>
            <a:prstDash val="solid"/>
            <a:headEnd type="none" len="sm" w="sm"/>
            <a:tailEnd type="none" len="sm" w="sm"/>
          </a:ln>
        </p:spPr>
      </p:sp>
      <p:grpSp>
        <p:nvGrpSpPr>
          <p:cNvPr name="Group 5" id="5"/>
          <p:cNvGrpSpPr/>
          <p:nvPr/>
        </p:nvGrpSpPr>
        <p:grpSpPr>
          <a:xfrm rot="0">
            <a:off x="1028700" y="1707377"/>
            <a:ext cx="7742178" cy="6927752"/>
            <a:chOff x="0" y="0"/>
            <a:chExt cx="2039092" cy="1824593"/>
          </a:xfrm>
        </p:grpSpPr>
        <p:sp>
          <p:nvSpPr>
            <p:cNvPr name="Freeform 6" id="6"/>
            <p:cNvSpPr/>
            <p:nvPr/>
          </p:nvSpPr>
          <p:spPr>
            <a:xfrm flipH="false" flipV="false" rot="0">
              <a:off x="0" y="0"/>
              <a:ext cx="2039092" cy="1824593"/>
            </a:xfrm>
            <a:custGeom>
              <a:avLst/>
              <a:gdLst/>
              <a:ahLst/>
              <a:cxnLst/>
              <a:rect r="r" b="b" t="t" l="l"/>
              <a:pathLst>
                <a:path h="1824593" w="2039092">
                  <a:moveTo>
                    <a:pt x="33999" y="0"/>
                  </a:moveTo>
                  <a:lnTo>
                    <a:pt x="2005093" y="0"/>
                  </a:lnTo>
                  <a:cubicBezTo>
                    <a:pt x="2014110" y="0"/>
                    <a:pt x="2022758" y="3582"/>
                    <a:pt x="2029134" y="9958"/>
                  </a:cubicBezTo>
                  <a:cubicBezTo>
                    <a:pt x="2035510" y="16334"/>
                    <a:pt x="2039092" y="24982"/>
                    <a:pt x="2039092" y="33999"/>
                  </a:cubicBezTo>
                  <a:lnTo>
                    <a:pt x="2039092" y="1790594"/>
                  </a:lnTo>
                  <a:cubicBezTo>
                    <a:pt x="2039092" y="1799611"/>
                    <a:pt x="2035510" y="1808259"/>
                    <a:pt x="2029134" y="1814635"/>
                  </a:cubicBezTo>
                  <a:cubicBezTo>
                    <a:pt x="2022758" y="1821011"/>
                    <a:pt x="2014110" y="1824593"/>
                    <a:pt x="2005093" y="1824593"/>
                  </a:cubicBezTo>
                  <a:lnTo>
                    <a:pt x="33999" y="1824593"/>
                  </a:lnTo>
                  <a:cubicBezTo>
                    <a:pt x="24982" y="1824593"/>
                    <a:pt x="16334" y="1821011"/>
                    <a:pt x="9958" y="1814635"/>
                  </a:cubicBezTo>
                  <a:cubicBezTo>
                    <a:pt x="3582" y="1808259"/>
                    <a:pt x="0" y="1799611"/>
                    <a:pt x="0" y="1790594"/>
                  </a:cubicBezTo>
                  <a:lnTo>
                    <a:pt x="0" y="33999"/>
                  </a:lnTo>
                  <a:cubicBezTo>
                    <a:pt x="0" y="24982"/>
                    <a:pt x="3582" y="16334"/>
                    <a:pt x="9958" y="9958"/>
                  </a:cubicBezTo>
                  <a:cubicBezTo>
                    <a:pt x="16334" y="3582"/>
                    <a:pt x="24982" y="0"/>
                    <a:pt x="33999" y="0"/>
                  </a:cubicBezTo>
                  <a:close/>
                </a:path>
              </a:pathLst>
            </a:custGeom>
            <a:solidFill>
              <a:srgbClr val="1E3B50">
                <a:alpha val="65882"/>
              </a:srgbClr>
            </a:solidFill>
          </p:spPr>
        </p:sp>
        <p:sp>
          <p:nvSpPr>
            <p:cNvPr name="TextBox 7" id="7"/>
            <p:cNvSpPr txBox="true"/>
            <p:nvPr/>
          </p:nvSpPr>
          <p:spPr>
            <a:xfrm>
              <a:off x="0" y="-47625"/>
              <a:ext cx="2039092" cy="1872218"/>
            </a:xfrm>
            <a:prstGeom prst="rect">
              <a:avLst/>
            </a:prstGeom>
          </p:spPr>
          <p:txBody>
            <a:bodyPr anchor="ctr" rtlCol="false" tIns="50800" lIns="50800" bIns="50800" rIns="50800"/>
            <a:lstStyle/>
            <a:p>
              <a:pPr algn="ctr">
                <a:lnSpc>
                  <a:spcPts val="3640"/>
                </a:lnSpc>
              </a:pPr>
            </a:p>
          </p:txBody>
        </p:sp>
      </p:grpSp>
      <p:graphicFrame>
        <p:nvGraphicFramePr>
          <p:cNvPr name="Table 8" id="8"/>
          <p:cNvGraphicFramePr>
            <a:graphicFrameLocks noGrp="true"/>
          </p:cNvGraphicFramePr>
          <p:nvPr/>
        </p:nvGraphicFramePr>
        <p:xfrm>
          <a:off x="1256459" y="2531997"/>
          <a:ext cx="7315200" cy="5743575"/>
        </p:xfrm>
        <a:graphic>
          <a:graphicData uri="http://schemas.openxmlformats.org/drawingml/2006/table">
            <a:tbl>
              <a:tblPr/>
              <a:tblGrid>
                <a:gridCol w="2438400"/>
                <a:gridCol w="2438400"/>
                <a:gridCol w="2438400"/>
              </a:tblGrid>
              <a:tr h="757500">
                <a:tc>
                  <a:txBody>
                    <a:bodyPr anchor="t" rtlCol="false"/>
                    <a:lstStyle/>
                    <a:p>
                      <a:pPr algn="ctr">
                        <a:lnSpc>
                          <a:spcPts val="2520"/>
                        </a:lnSpc>
                        <a:defRPr/>
                      </a:pPr>
                      <a:r>
                        <a:rPr lang="en-US" sz="1800">
                          <a:solidFill>
                            <a:srgbClr val="FFFFFF"/>
                          </a:solidFill>
                          <a:latin typeface="Black Ops One"/>
                          <a:ea typeface="Black Ops One"/>
                          <a:cs typeface="Black Ops One"/>
                          <a:sym typeface="Black Ops One"/>
                        </a:rPr>
                        <a:t>ARMY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Black Ops One"/>
                          <a:ea typeface="Black Ops One"/>
                          <a:cs typeface="Black Ops One"/>
                          <a:sym typeface="Black Ops One"/>
                        </a:rPr>
                        <a:t>STRATEGY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Black Ops One"/>
                          <a:ea typeface="Black Ops One"/>
                          <a:cs typeface="Black Ops One"/>
                          <a:sym typeface="Black Ops One"/>
                        </a:rPr>
                        <a:t>WIN RATE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97215">
                <a:tc>
                  <a:txBody>
                    <a:bodyPr anchor="t" rtlCol="false"/>
                    <a:lstStyle/>
                    <a:p>
                      <a:pPr algn="ctr">
                        <a:lnSpc>
                          <a:spcPts val="2240"/>
                        </a:lnSpc>
                        <a:defRPr/>
                      </a:pPr>
                      <a:r>
                        <a:rPr lang="en-US" sz="1600">
                          <a:solidFill>
                            <a:srgbClr val="FFFFFF"/>
                          </a:solidFill>
                          <a:latin typeface="Black Ops One"/>
                          <a:ea typeface="Black Ops One"/>
                          <a:cs typeface="Black Ops One"/>
                          <a:sym typeface="Black Ops One"/>
                        </a:rPr>
                        <a:t>Space marines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Black Ops One"/>
                          <a:ea typeface="Black Ops One"/>
                          <a:cs typeface="Black Ops One"/>
                          <a:sym typeface="Black Ops One"/>
                        </a:rPr>
                        <a:t>QUALITY</a:t>
                      </a:r>
                      <a:endParaRPr lang="en-US" sz="1100"/>
                    </a:p>
                    <a:p>
                      <a:pPr algn="ctr">
                        <a:lnSpc>
                          <a:spcPts val="2240"/>
                        </a:lnSpc>
                      </a:pPr>
                      <a:r>
                        <a:rPr lang="en-US" sz="1600">
                          <a:solidFill>
                            <a:srgbClr val="FFFFFF"/>
                          </a:solidFill>
                          <a:latin typeface="Black Ops One"/>
                          <a:ea typeface="Black Ops One"/>
                          <a:cs typeface="Black Ops One"/>
                          <a:sym typeface="Black Ops One"/>
                        </a:rPr>
                        <a:t>QUANTITY</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Black Ops One"/>
                          <a:ea typeface="Black Ops One"/>
                          <a:cs typeface="Black Ops One"/>
                          <a:sym typeface="Black Ops One"/>
                        </a:rPr>
                        <a:t>50.00%</a:t>
                      </a:r>
                      <a:endParaRPr lang="en-US" sz="1100"/>
                    </a:p>
                    <a:p>
                      <a:pPr algn="ctr">
                        <a:lnSpc>
                          <a:spcPts val="2240"/>
                        </a:lnSpc>
                      </a:pPr>
                      <a:r>
                        <a:rPr lang="en-US" sz="1600">
                          <a:solidFill>
                            <a:srgbClr val="FFFFFF"/>
                          </a:solidFill>
                          <a:latin typeface="Black Ops One"/>
                          <a:ea typeface="Black Ops One"/>
                          <a:cs typeface="Black Ops One"/>
                          <a:sym typeface="Black Ops One"/>
                        </a:rPr>
                        <a:t>51.00%</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97215">
                <a:tc>
                  <a:txBody>
                    <a:bodyPr anchor="t" rtlCol="false"/>
                    <a:lstStyle/>
                    <a:p>
                      <a:pPr algn="ctr">
                        <a:lnSpc>
                          <a:spcPts val="2240"/>
                        </a:lnSpc>
                        <a:defRPr/>
                      </a:pPr>
                      <a:r>
                        <a:rPr lang="en-US" sz="1600">
                          <a:solidFill>
                            <a:srgbClr val="FFFFFF"/>
                          </a:solidFill>
                          <a:latin typeface="Black Ops One"/>
                          <a:ea typeface="Black Ops One"/>
                          <a:cs typeface="Black Ops One"/>
                          <a:sym typeface="Black Ops One"/>
                        </a:rPr>
                        <a:t>Aeldari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Black Ops One"/>
                          <a:ea typeface="Black Ops One"/>
                          <a:cs typeface="Black Ops One"/>
                          <a:sym typeface="Black Ops One"/>
                        </a:rPr>
                        <a:t>QUALITY</a:t>
                      </a:r>
                      <a:endParaRPr lang="en-US" sz="1100"/>
                    </a:p>
                    <a:p>
                      <a:pPr algn="ctr">
                        <a:lnSpc>
                          <a:spcPts val="2240"/>
                        </a:lnSpc>
                      </a:pPr>
                      <a:r>
                        <a:rPr lang="en-US" sz="1600">
                          <a:solidFill>
                            <a:srgbClr val="FFFFFF"/>
                          </a:solidFill>
                          <a:latin typeface="Black Ops One"/>
                          <a:ea typeface="Black Ops One"/>
                          <a:cs typeface="Black Ops One"/>
                          <a:sym typeface="Black Ops One"/>
                        </a:rPr>
                        <a:t>QUANTITY</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Black Ops One"/>
                          <a:ea typeface="Black Ops One"/>
                          <a:cs typeface="Black Ops One"/>
                          <a:sym typeface="Black Ops One"/>
                        </a:rPr>
                        <a:t>60.83%</a:t>
                      </a:r>
                      <a:endParaRPr lang="en-US" sz="1100"/>
                    </a:p>
                    <a:p>
                      <a:pPr algn="ctr">
                        <a:lnSpc>
                          <a:spcPts val="2240"/>
                        </a:lnSpc>
                      </a:pPr>
                      <a:r>
                        <a:rPr lang="en-US" sz="1600">
                          <a:solidFill>
                            <a:srgbClr val="FFFFFF"/>
                          </a:solidFill>
                          <a:latin typeface="Black Ops One"/>
                          <a:ea typeface="Black Ops One"/>
                          <a:cs typeface="Black Ops One"/>
                          <a:sym typeface="Black Ops One"/>
                        </a:rPr>
                        <a:t>45.98%</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97215">
                <a:tc>
                  <a:txBody>
                    <a:bodyPr anchor="t" rtlCol="false"/>
                    <a:lstStyle/>
                    <a:p>
                      <a:pPr algn="ctr">
                        <a:lnSpc>
                          <a:spcPts val="2240"/>
                        </a:lnSpc>
                        <a:defRPr/>
                      </a:pPr>
                      <a:r>
                        <a:rPr lang="en-US" sz="1600">
                          <a:solidFill>
                            <a:srgbClr val="FFFFFF"/>
                          </a:solidFill>
                          <a:latin typeface="Black Ops One"/>
                          <a:ea typeface="Black Ops One"/>
                          <a:cs typeface="Black Ops One"/>
                          <a:sym typeface="Black Ops One"/>
                        </a:rPr>
                        <a:t>Adeptus mechanicus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Black Ops One"/>
                          <a:ea typeface="Black Ops One"/>
                          <a:cs typeface="Black Ops One"/>
                          <a:sym typeface="Black Ops One"/>
                        </a:rPr>
                        <a:t>QUALITY</a:t>
                      </a:r>
                      <a:endParaRPr lang="en-US" sz="1100"/>
                    </a:p>
                    <a:p>
                      <a:pPr algn="ctr">
                        <a:lnSpc>
                          <a:spcPts val="2240"/>
                        </a:lnSpc>
                      </a:pPr>
                      <a:r>
                        <a:rPr lang="en-US" sz="1600">
                          <a:solidFill>
                            <a:srgbClr val="FFFFFF"/>
                          </a:solidFill>
                          <a:latin typeface="Black Ops One"/>
                          <a:ea typeface="Black Ops One"/>
                          <a:cs typeface="Black Ops One"/>
                          <a:sym typeface="Black Ops One"/>
                        </a:rPr>
                        <a:t>QUANTITY</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Black Ops One"/>
                          <a:ea typeface="Black Ops One"/>
                          <a:cs typeface="Black Ops One"/>
                          <a:sym typeface="Black Ops One"/>
                        </a:rPr>
                        <a:t>58.29%</a:t>
                      </a:r>
                      <a:endParaRPr lang="en-US" sz="1100"/>
                    </a:p>
                    <a:p>
                      <a:pPr algn="ctr">
                        <a:lnSpc>
                          <a:spcPts val="2240"/>
                        </a:lnSpc>
                      </a:pPr>
                      <a:r>
                        <a:rPr lang="en-US" sz="1600">
                          <a:solidFill>
                            <a:srgbClr val="FFFFFF"/>
                          </a:solidFill>
                          <a:latin typeface="Black Ops One"/>
                          <a:ea typeface="Black Ops One"/>
                          <a:cs typeface="Black Ops One"/>
                          <a:sym typeface="Black Ops One"/>
                        </a:rPr>
                        <a:t>58.93%</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97215">
                <a:tc>
                  <a:txBody>
                    <a:bodyPr anchor="t" rtlCol="false"/>
                    <a:lstStyle/>
                    <a:p>
                      <a:pPr algn="ctr">
                        <a:lnSpc>
                          <a:spcPts val="2240"/>
                        </a:lnSpc>
                        <a:defRPr/>
                      </a:pPr>
                      <a:r>
                        <a:rPr lang="en-US" sz="1600">
                          <a:solidFill>
                            <a:srgbClr val="FFFFFF"/>
                          </a:solidFill>
                          <a:latin typeface="Black Ops One"/>
                          <a:ea typeface="Black Ops One"/>
                          <a:cs typeface="Black Ops One"/>
                          <a:sym typeface="Black Ops One"/>
                        </a:rPr>
                        <a:t>World Eaters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Black Ops One"/>
                          <a:ea typeface="Black Ops One"/>
                          <a:cs typeface="Black Ops One"/>
                          <a:sym typeface="Black Ops One"/>
                        </a:rPr>
                        <a:t>QUALITY</a:t>
                      </a:r>
                      <a:endParaRPr lang="en-US" sz="1100"/>
                    </a:p>
                    <a:p>
                      <a:pPr algn="ctr">
                        <a:lnSpc>
                          <a:spcPts val="2240"/>
                        </a:lnSpc>
                      </a:pPr>
                      <a:r>
                        <a:rPr lang="en-US" sz="1600">
                          <a:solidFill>
                            <a:srgbClr val="FFFFFF"/>
                          </a:solidFill>
                          <a:latin typeface="Black Ops One"/>
                          <a:ea typeface="Black Ops One"/>
                          <a:cs typeface="Black Ops One"/>
                          <a:sym typeface="Black Ops One"/>
                        </a:rPr>
                        <a:t>QUANTITY</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Black Ops One"/>
                          <a:ea typeface="Black Ops One"/>
                          <a:cs typeface="Black Ops One"/>
                          <a:sym typeface="Black Ops One"/>
                        </a:rPr>
                        <a:t>51.25%</a:t>
                      </a:r>
                      <a:endParaRPr lang="en-US" sz="1100"/>
                    </a:p>
                    <a:p>
                      <a:pPr algn="ctr">
                        <a:lnSpc>
                          <a:spcPts val="2240"/>
                        </a:lnSpc>
                      </a:pPr>
                      <a:r>
                        <a:rPr lang="en-US" sz="1600">
                          <a:solidFill>
                            <a:srgbClr val="FFFFFF"/>
                          </a:solidFill>
                          <a:latin typeface="Black Ops One"/>
                          <a:ea typeface="Black Ops One"/>
                          <a:cs typeface="Black Ops One"/>
                          <a:sym typeface="Black Ops One"/>
                        </a:rPr>
                        <a:t>49.04%</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97215">
                <a:tc>
                  <a:txBody>
                    <a:bodyPr anchor="t" rtlCol="false"/>
                    <a:lstStyle/>
                    <a:p>
                      <a:pPr algn="ctr">
                        <a:lnSpc>
                          <a:spcPts val="2240"/>
                        </a:lnSpc>
                        <a:defRPr/>
                      </a:pPr>
                      <a:r>
                        <a:rPr lang="en-US" sz="1600">
                          <a:solidFill>
                            <a:srgbClr val="FFFFFF"/>
                          </a:solidFill>
                          <a:latin typeface="Black Ops One"/>
                          <a:ea typeface="Black Ops One"/>
                          <a:cs typeface="Black Ops One"/>
                          <a:sym typeface="Black Ops One"/>
                        </a:rPr>
                        <a:t>Death Guard</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Black Ops One"/>
                          <a:ea typeface="Black Ops One"/>
                          <a:cs typeface="Black Ops One"/>
                          <a:sym typeface="Black Ops One"/>
                        </a:rPr>
                        <a:t>QUALITY</a:t>
                      </a:r>
                      <a:endParaRPr lang="en-US" sz="1100"/>
                    </a:p>
                    <a:p>
                      <a:pPr algn="ctr">
                        <a:lnSpc>
                          <a:spcPts val="2240"/>
                        </a:lnSpc>
                      </a:pPr>
                      <a:r>
                        <a:rPr lang="en-US" sz="1600">
                          <a:solidFill>
                            <a:srgbClr val="FFFFFF"/>
                          </a:solidFill>
                          <a:latin typeface="Black Ops One"/>
                          <a:ea typeface="Black Ops One"/>
                          <a:cs typeface="Black Ops One"/>
                          <a:sym typeface="Black Ops One"/>
                        </a:rPr>
                        <a:t>QUANTITY</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40"/>
                        </a:lnSpc>
                        <a:defRPr/>
                      </a:pPr>
                      <a:r>
                        <a:rPr lang="en-US" sz="1600">
                          <a:solidFill>
                            <a:srgbClr val="FFFFFF"/>
                          </a:solidFill>
                          <a:latin typeface="Black Ops One"/>
                          <a:ea typeface="Black Ops One"/>
                          <a:cs typeface="Black Ops One"/>
                          <a:sym typeface="Black Ops One"/>
                        </a:rPr>
                        <a:t>42.05%</a:t>
                      </a:r>
                      <a:endParaRPr lang="en-US" sz="1100"/>
                    </a:p>
                    <a:p>
                      <a:pPr algn="ctr">
                        <a:lnSpc>
                          <a:spcPts val="2240"/>
                        </a:lnSpc>
                      </a:pPr>
                      <a:r>
                        <a:rPr lang="en-US" sz="1600">
                          <a:solidFill>
                            <a:srgbClr val="FFFFFF"/>
                          </a:solidFill>
                          <a:latin typeface="Black Ops One"/>
                          <a:ea typeface="Black Ops One"/>
                          <a:cs typeface="Black Ops One"/>
                          <a:sym typeface="Black Ops One"/>
                        </a:rPr>
                        <a:t>42.11%</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grpSp>
        <p:nvGrpSpPr>
          <p:cNvPr name="Group 9" id="9"/>
          <p:cNvGrpSpPr/>
          <p:nvPr/>
        </p:nvGrpSpPr>
        <p:grpSpPr>
          <a:xfrm rot="0">
            <a:off x="11400913" y="1707377"/>
            <a:ext cx="3988940" cy="4100756"/>
            <a:chOff x="0" y="0"/>
            <a:chExt cx="1050585" cy="1080035"/>
          </a:xfrm>
        </p:grpSpPr>
        <p:sp>
          <p:nvSpPr>
            <p:cNvPr name="Freeform 10" id="10"/>
            <p:cNvSpPr/>
            <p:nvPr/>
          </p:nvSpPr>
          <p:spPr>
            <a:xfrm flipH="false" flipV="false" rot="0">
              <a:off x="0" y="0"/>
              <a:ext cx="1050585" cy="1080034"/>
            </a:xfrm>
            <a:custGeom>
              <a:avLst/>
              <a:gdLst/>
              <a:ahLst/>
              <a:cxnLst/>
              <a:rect r="r" b="b" t="t" l="l"/>
              <a:pathLst>
                <a:path h="1080034" w="1050585">
                  <a:moveTo>
                    <a:pt x="65989" y="0"/>
                  </a:moveTo>
                  <a:lnTo>
                    <a:pt x="984596" y="0"/>
                  </a:lnTo>
                  <a:cubicBezTo>
                    <a:pt x="1021041" y="0"/>
                    <a:pt x="1050585" y="29544"/>
                    <a:pt x="1050585" y="65989"/>
                  </a:cubicBezTo>
                  <a:lnTo>
                    <a:pt x="1050585" y="1014046"/>
                  </a:lnTo>
                  <a:cubicBezTo>
                    <a:pt x="1050585" y="1031547"/>
                    <a:pt x="1043633" y="1048331"/>
                    <a:pt x="1031257" y="1060707"/>
                  </a:cubicBezTo>
                  <a:cubicBezTo>
                    <a:pt x="1018882" y="1073082"/>
                    <a:pt x="1002098" y="1080034"/>
                    <a:pt x="984596" y="1080034"/>
                  </a:cubicBezTo>
                  <a:lnTo>
                    <a:pt x="65989" y="1080034"/>
                  </a:lnTo>
                  <a:cubicBezTo>
                    <a:pt x="29544" y="1080034"/>
                    <a:pt x="0" y="1050490"/>
                    <a:pt x="0" y="1014046"/>
                  </a:cubicBezTo>
                  <a:lnTo>
                    <a:pt x="0" y="65989"/>
                  </a:lnTo>
                  <a:cubicBezTo>
                    <a:pt x="0" y="29544"/>
                    <a:pt x="29544" y="0"/>
                    <a:pt x="65989" y="0"/>
                  </a:cubicBezTo>
                  <a:close/>
                </a:path>
              </a:pathLst>
            </a:custGeom>
            <a:solidFill>
              <a:srgbClr val="1E3B50">
                <a:alpha val="65882"/>
              </a:srgbClr>
            </a:solidFill>
          </p:spPr>
        </p:sp>
        <p:sp>
          <p:nvSpPr>
            <p:cNvPr name="TextBox 11" id="11"/>
            <p:cNvSpPr txBox="true"/>
            <p:nvPr/>
          </p:nvSpPr>
          <p:spPr>
            <a:xfrm>
              <a:off x="0" y="-47625"/>
              <a:ext cx="1050585" cy="1127660"/>
            </a:xfrm>
            <a:prstGeom prst="rect">
              <a:avLst/>
            </a:prstGeom>
          </p:spPr>
          <p:txBody>
            <a:bodyPr anchor="ctr" rtlCol="false" tIns="50800" lIns="50800" bIns="50800" rIns="50800"/>
            <a:lstStyle/>
            <a:p>
              <a:pPr algn="ctr">
                <a:lnSpc>
                  <a:spcPts val="3640"/>
                </a:lnSpc>
              </a:pPr>
            </a:p>
          </p:txBody>
        </p:sp>
      </p:grpSp>
      <p:grpSp>
        <p:nvGrpSpPr>
          <p:cNvPr name="Group 12" id="12"/>
          <p:cNvGrpSpPr/>
          <p:nvPr/>
        </p:nvGrpSpPr>
        <p:grpSpPr>
          <a:xfrm rot="0">
            <a:off x="9494807" y="6281861"/>
            <a:ext cx="7764493" cy="2353268"/>
            <a:chOff x="0" y="0"/>
            <a:chExt cx="2044969" cy="619791"/>
          </a:xfrm>
        </p:grpSpPr>
        <p:sp>
          <p:nvSpPr>
            <p:cNvPr name="Freeform 13" id="13"/>
            <p:cNvSpPr/>
            <p:nvPr/>
          </p:nvSpPr>
          <p:spPr>
            <a:xfrm flipH="false" flipV="false" rot="0">
              <a:off x="0" y="0"/>
              <a:ext cx="2044969" cy="619791"/>
            </a:xfrm>
            <a:custGeom>
              <a:avLst/>
              <a:gdLst/>
              <a:ahLst/>
              <a:cxnLst/>
              <a:rect r="r" b="b" t="t" l="l"/>
              <a:pathLst>
                <a:path h="619791" w="2044969">
                  <a:moveTo>
                    <a:pt x="33901" y="0"/>
                  </a:moveTo>
                  <a:lnTo>
                    <a:pt x="2011068" y="0"/>
                  </a:lnTo>
                  <a:cubicBezTo>
                    <a:pt x="2020059" y="0"/>
                    <a:pt x="2028682" y="3572"/>
                    <a:pt x="2035040" y="9929"/>
                  </a:cubicBezTo>
                  <a:cubicBezTo>
                    <a:pt x="2041398" y="16287"/>
                    <a:pt x="2044969" y="24910"/>
                    <a:pt x="2044969" y="33901"/>
                  </a:cubicBezTo>
                  <a:lnTo>
                    <a:pt x="2044969" y="585890"/>
                  </a:lnTo>
                  <a:cubicBezTo>
                    <a:pt x="2044969" y="594881"/>
                    <a:pt x="2041398" y="603504"/>
                    <a:pt x="2035040" y="609861"/>
                  </a:cubicBezTo>
                  <a:cubicBezTo>
                    <a:pt x="2028682" y="616219"/>
                    <a:pt x="2020059" y="619791"/>
                    <a:pt x="2011068" y="619791"/>
                  </a:cubicBezTo>
                  <a:lnTo>
                    <a:pt x="33901" y="619791"/>
                  </a:lnTo>
                  <a:cubicBezTo>
                    <a:pt x="24910" y="619791"/>
                    <a:pt x="16287" y="616219"/>
                    <a:pt x="9929" y="609861"/>
                  </a:cubicBezTo>
                  <a:cubicBezTo>
                    <a:pt x="3572" y="603504"/>
                    <a:pt x="0" y="594881"/>
                    <a:pt x="0" y="585890"/>
                  </a:cubicBezTo>
                  <a:lnTo>
                    <a:pt x="0" y="33901"/>
                  </a:lnTo>
                  <a:cubicBezTo>
                    <a:pt x="0" y="24910"/>
                    <a:pt x="3572" y="16287"/>
                    <a:pt x="9929" y="9929"/>
                  </a:cubicBezTo>
                  <a:cubicBezTo>
                    <a:pt x="16287" y="3572"/>
                    <a:pt x="24910" y="0"/>
                    <a:pt x="33901" y="0"/>
                  </a:cubicBezTo>
                  <a:close/>
                </a:path>
              </a:pathLst>
            </a:custGeom>
            <a:solidFill>
              <a:srgbClr val="1E3B50">
                <a:alpha val="65882"/>
              </a:srgbClr>
            </a:solidFill>
          </p:spPr>
        </p:sp>
        <p:sp>
          <p:nvSpPr>
            <p:cNvPr name="TextBox 14" id="14"/>
            <p:cNvSpPr txBox="true"/>
            <p:nvPr/>
          </p:nvSpPr>
          <p:spPr>
            <a:xfrm>
              <a:off x="0" y="-47625"/>
              <a:ext cx="2044969" cy="667416"/>
            </a:xfrm>
            <a:prstGeom prst="rect">
              <a:avLst/>
            </a:prstGeom>
          </p:spPr>
          <p:txBody>
            <a:bodyPr anchor="ctr" rtlCol="false" tIns="50800" lIns="50800" bIns="50800" rIns="50800"/>
            <a:lstStyle/>
            <a:p>
              <a:pPr algn="ctr">
                <a:lnSpc>
                  <a:spcPts val="3640"/>
                </a:lnSpc>
              </a:pPr>
            </a:p>
          </p:txBody>
        </p:sp>
      </p:grpSp>
      <p:sp>
        <p:nvSpPr>
          <p:cNvPr name="Freeform 15" id="15"/>
          <p:cNvSpPr/>
          <p:nvPr/>
        </p:nvSpPr>
        <p:spPr>
          <a:xfrm flipH="false" flipV="false" rot="0">
            <a:off x="11400913" y="1859251"/>
            <a:ext cx="4100756" cy="4100756"/>
          </a:xfrm>
          <a:custGeom>
            <a:avLst/>
            <a:gdLst/>
            <a:ahLst/>
            <a:cxnLst/>
            <a:rect r="r" b="b" t="t" l="l"/>
            <a:pathLst>
              <a:path h="4100756" w="4100756">
                <a:moveTo>
                  <a:pt x="0" y="0"/>
                </a:moveTo>
                <a:lnTo>
                  <a:pt x="4100756" y="0"/>
                </a:lnTo>
                <a:lnTo>
                  <a:pt x="4100756" y="4100756"/>
                </a:lnTo>
                <a:lnTo>
                  <a:pt x="0" y="4100756"/>
                </a:lnTo>
                <a:lnTo>
                  <a:pt x="0" y="0"/>
                </a:lnTo>
                <a:close/>
              </a:path>
            </a:pathLst>
          </a:custGeom>
          <a:blipFill>
            <a:blip r:embed="rId3"/>
            <a:stretch>
              <a:fillRect l="0" t="0" r="0" b="0"/>
            </a:stretch>
          </a:blipFill>
        </p:spPr>
      </p:sp>
      <p:sp>
        <p:nvSpPr>
          <p:cNvPr name="TextBox 16" id="16"/>
          <p:cNvSpPr txBox="true"/>
          <p:nvPr/>
        </p:nvSpPr>
        <p:spPr>
          <a:xfrm rot="0">
            <a:off x="1256459" y="1853432"/>
            <a:ext cx="7315200" cy="422275"/>
          </a:xfrm>
          <a:prstGeom prst="rect">
            <a:avLst/>
          </a:prstGeom>
        </p:spPr>
        <p:txBody>
          <a:bodyPr anchor="t" rtlCol="false" tIns="0" lIns="0" bIns="0" rIns="0">
            <a:spAutoFit/>
          </a:bodyPr>
          <a:lstStyle/>
          <a:p>
            <a:pPr algn="ctr">
              <a:lnSpc>
                <a:spcPts val="3499"/>
              </a:lnSpc>
            </a:pPr>
            <a:r>
              <a:rPr lang="en-US" sz="2499">
                <a:solidFill>
                  <a:srgbClr val="DCDDDD"/>
                </a:solidFill>
                <a:latin typeface="League Spartan"/>
                <a:ea typeface="League Spartan"/>
                <a:cs typeface="League Spartan"/>
                <a:sym typeface="League Spartan"/>
              </a:rPr>
              <a:t>Strategy comparison for factions</a:t>
            </a:r>
          </a:p>
        </p:txBody>
      </p:sp>
      <p:sp>
        <p:nvSpPr>
          <p:cNvPr name="TextBox 17" id="17"/>
          <p:cNvSpPr txBox="true"/>
          <p:nvPr/>
        </p:nvSpPr>
        <p:spPr>
          <a:xfrm rot="0">
            <a:off x="9681368" y="6495989"/>
            <a:ext cx="7539846" cy="1779583"/>
          </a:xfrm>
          <a:prstGeom prst="rect">
            <a:avLst/>
          </a:prstGeom>
        </p:spPr>
        <p:txBody>
          <a:bodyPr anchor="t" rtlCol="false" tIns="0" lIns="0" bIns="0" rIns="0">
            <a:spAutoFit/>
          </a:bodyPr>
          <a:lstStyle/>
          <a:p>
            <a:pPr algn="ctr">
              <a:lnSpc>
                <a:spcPts val="3588"/>
              </a:lnSpc>
            </a:pPr>
            <a:r>
              <a:rPr lang="en-US" sz="2563">
                <a:solidFill>
                  <a:srgbClr val="DCDDDD"/>
                </a:solidFill>
                <a:latin typeface="League Spartan"/>
                <a:ea typeface="League Spartan"/>
                <a:cs typeface="League Spartan"/>
                <a:sym typeface="League Spartan"/>
              </a:rPr>
              <a:t>Overall, the game does not favor elite over horde. However, specific factions (like Aeldari) have strict playstyle preferences that must be respected to be competitive.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324A5B"/>
        </a:solidFill>
      </p:bgPr>
    </p:bg>
    <p:spTree>
      <p:nvGrpSpPr>
        <p:cNvPr id="1" name=""/>
        <p:cNvGrpSpPr/>
        <p:nvPr/>
      </p:nvGrpSpPr>
      <p:grpSpPr>
        <a:xfrm>
          <a:off x="0" y="0"/>
          <a:ext cx="0" cy="0"/>
          <a:chOff x="0" y="0"/>
          <a:chExt cx="0" cy="0"/>
        </a:xfrm>
      </p:grpSpPr>
      <p:sp>
        <p:nvSpPr>
          <p:cNvPr name="Freeform 2" id="2"/>
          <p:cNvSpPr/>
          <p:nvPr/>
        </p:nvSpPr>
        <p:spPr>
          <a:xfrm flipH="false" flipV="false" rot="0">
            <a:off x="-19050" y="-667728"/>
            <a:ext cx="18288000" cy="11230431"/>
          </a:xfrm>
          <a:custGeom>
            <a:avLst/>
            <a:gdLst/>
            <a:ahLst/>
            <a:cxnLst/>
            <a:rect r="r" b="b" t="t" l="l"/>
            <a:pathLst>
              <a:path h="11230431" w="18288000">
                <a:moveTo>
                  <a:pt x="0" y="0"/>
                </a:moveTo>
                <a:lnTo>
                  <a:pt x="18288000" y="0"/>
                </a:lnTo>
                <a:lnTo>
                  <a:pt x="18288000" y="11230431"/>
                </a:lnTo>
                <a:lnTo>
                  <a:pt x="0" y="11230431"/>
                </a:lnTo>
                <a:lnTo>
                  <a:pt x="0" y="0"/>
                </a:lnTo>
                <a:close/>
              </a:path>
            </a:pathLst>
          </a:custGeom>
          <a:blipFill>
            <a:blip r:embed="rId2">
              <a:alphaModFix amt="39000"/>
            </a:blip>
            <a:stretch>
              <a:fillRect l="0" t="0" r="0" b="-8494"/>
            </a:stretch>
          </a:blipFill>
        </p:spPr>
      </p:sp>
      <p:sp>
        <p:nvSpPr>
          <p:cNvPr name="TextBox 3" id="3"/>
          <p:cNvSpPr txBox="true"/>
          <p:nvPr/>
        </p:nvSpPr>
        <p:spPr>
          <a:xfrm rot="0">
            <a:off x="1426721" y="384255"/>
            <a:ext cx="15396458" cy="872340"/>
          </a:xfrm>
          <a:prstGeom prst="rect">
            <a:avLst/>
          </a:prstGeom>
        </p:spPr>
        <p:txBody>
          <a:bodyPr anchor="t" rtlCol="false" tIns="0" lIns="0" bIns="0" rIns="0">
            <a:spAutoFit/>
          </a:bodyPr>
          <a:lstStyle/>
          <a:p>
            <a:pPr algn="ctr">
              <a:lnSpc>
                <a:spcPts val="7159"/>
              </a:lnSpc>
              <a:spcBef>
                <a:spcPct val="0"/>
              </a:spcBef>
            </a:pPr>
            <a:r>
              <a:rPr lang="en-US" sz="5113">
                <a:solidFill>
                  <a:srgbClr val="DCDDDD"/>
                </a:solidFill>
                <a:latin typeface="Black Ops One"/>
                <a:ea typeface="Black Ops One"/>
                <a:cs typeface="Black Ops One"/>
                <a:sym typeface="Black Ops One"/>
              </a:rPr>
              <a:t>Faction Dynamics – Matchup Analysis</a:t>
            </a:r>
          </a:p>
        </p:txBody>
      </p:sp>
      <p:sp>
        <p:nvSpPr>
          <p:cNvPr name="AutoShape 4" id="4"/>
          <p:cNvSpPr/>
          <p:nvPr/>
        </p:nvSpPr>
        <p:spPr>
          <a:xfrm flipV="true">
            <a:off x="5086350" y="1256594"/>
            <a:ext cx="8115300" cy="0"/>
          </a:xfrm>
          <a:prstGeom prst="line">
            <a:avLst/>
          </a:prstGeom>
          <a:ln cap="flat" w="38100">
            <a:solidFill>
              <a:srgbClr val="DCDDDD"/>
            </a:solidFill>
            <a:prstDash val="solid"/>
            <a:headEnd type="none" len="sm" w="sm"/>
            <a:tailEnd type="none" len="sm" w="sm"/>
          </a:ln>
        </p:spPr>
      </p:sp>
      <p:grpSp>
        <p:nvGrpSpPr>
          <p:cNvPr name="Group 5" id="5"/>
          <p:cNvGrpSpPr/>
          <p:nvPr/>
        </p:nvGrpSpPr>
        <p:grpSpPr>
          <a:xfrm rot="0">
            <a:off x="1668130" y="2788876"/>
            <a:ext cx="8027540" cy="6736119"/>
            <a:chOff x="0" y="0"/>
            <a:chExt cx="2114249" cy="1774122"/>
          </a:xfrm>
        </p:grpSpPr>
        <p:sp>
          <p:nvSpPr>
            <p:cNvPr name="Freeform 6" id="6"/>
            <p:cNvSpPr/>
            <p:nvPr/>
          </p:nvSpPr>
          <p:spPr>
            <a:xfrm flipH="false" flipV="false" rot="0">
              <a:off x="0" y="0"/>
              <a:ext cx="2114249" cy="1774122"/>
            </a:xfrm>
            <a:custGeom>
              <a:avLst/>
              <a:gdLst/>
              <a:ahLst/>
              <a:cxnLst/>
              <a:rect r="r" b="b" t="t" l="l"/>
              <a:pathLst>
                <a:path h="1774122" w="2114249">
                  <a:moveTo>
                    <a:pt x="32790" y="0"/>
                  </a:moveTo>
                  <a:lnTo>
                    <a:pt x="2081459" y="0"/>
                  </a:lnTo>
                  <a:cubicBezTo>
                    <a:pt x="2090156" y="0"/>
                    <a:pt x="2098496" y="3455"/>
                    <a:pt x="2104645" y="9604"/>
                  </a:cubicBezTo>
                  <a:cubicBezTo>
                    <a:pt x="2110795" y="15753"/>
                    <a:pt x="2114249" y="24094"/>
                    <a:pt x="2114249" y="32790"/>
                  </a:cubicBezTo>
                  <a:lnTo>
                    <a:pt x="2114249" y="1741332"/>
                  </a:lnTo>
                  <a:cubicBezTo>
                    <a:pt x="2114249" y="1750028"/>
                    <a:pt x="2110795" y="1758368"/>
                    <a:pt x="2104645" y="1764518"/>
                  </a:cubicBezTo>
                  <a:cubicBezTo>
                    <a:pt x="2098496" y="1770667"/>
                    <a:pt x="2090156" y="1774122"/>
                    <a:pt x="2081459" y="1774122"/>
                  </a:cubicBezTo>
                  <a:lnTo>
                    <a:pt x="32790" y="1774122"/>
                  </a:lnTo>
                  <a:cubicBezTo>
                    <a:pt x="24094" y="1774122"/>
                    <a:pt x="15753" y="1770667"/>
                    <a:pt x="9604" y="1764518"/>
                  </a:cubicBezTo>
                  <a:cubicBezTo>
                    <a:pt x="3455" y="1758368"/>
                    <a:pt x="0" y="1750028"/>
                    <a:pt x="0" y="1741332"/>
                  </a:cubicBezTo>
                  <a:lnTo>
                    <a:pt x="0" y="32790"/>
                  </a:lnTo>
                  <a:cubicBezTo>
                    <a:pt x="0" y="24094"/>
                    <a:pt x="3455" y="15753"/>
                    <a:pt x="9604" y="9604"/>
                  </a:cubicBezTo>
                  <a:cubicBezTo>
                    <a:pt x="15753" y="3455"/>
                    <a:pt x="24094" y="0"/>
                    <a:pt x="32790" y="0"/>
                  </a:cubicBezTo>
                  <a:close/>
                </a:path>
              </a:pathLst>
            </a:custGeom>
            <a:solidFill>
              <a:srgbClr val="1E3B50">
                <a:alpha val="65882"/>
              </a:srgbClr>
            </a:solidFill>
          </p:spPr>
        </p:sp>
        <p:sp>
          <p:nvSpPr>
            <p:cNvPr name="TextBox 7" id="7"/>
            <p:cNvSpPr txBox="true"/>
            <p:nvPr/>
          </p:nvSpPr>
          <p:spPr>
            <a:xfrm>
              <a:off x="0" y="-47625"/>
              <a:ext cx="2114249" cy="1821747"/>
            </a:xfrm>
            <a:prstGeom prst="rect">
              <a:avLst/>
            </a:prstGeom>
          </p:spPr>
          <p:txBody>
            <a:bodyPr anchor="ctr" rtlCol="false" tIns="50800" lIns="50800" bIns="50800" rIns="50800"/>
            <a:lstStyle/>
            <a:p>
              <a:pPr algn="ctr">
                <a:lnSpc>
                  <a:spcPts val="3640"/>
                </a:lnSpc>
              </a:pPr>
            </a:p>
          </p:txBody>
        </p:sp>
      </p:grpSp>
      <p:sp>
        <p:nvSpPr>
          <p:cNvPr name="Freeform 8" id="8"/>
          <p:cNvSpPr/>
          <p:nvPr/>
        </p:nvSpPr>
        <p:spPr>
          <a:xfrm flipH="false" flipV="false" rot="0">
            <a:off x="1426721" y="2514925"/>
            <a:ext cx="7956815" cy="6743375"/>
          </a:xfrm>
          <a:custGeom>
            <a:avLst/>
            <a:gdLst/>
            <a:ahLst/>
            <a:cxnLst/>
            <a:rect r="r" b="b" t="t" l="l"/>
            <a:pathLst>
              <a:path h="6743375" w="7956815">
                <a:moveTo>
                  <a:pt x="0" y="0"/>
                </a:moveTo>
                <a:lnTo>
                  <a:pt x="7956815" y="0"/>
                </a:lnTo>
                <a:lnTo>
                  <a:pt x="7956815" y="6743375"/>
                </a:lnTo>
                <a:lnTo>
                  <a:pt x="0" y="6743375"/>
                </a:lnTo>
                <a:lnTo>
                  <a:pt x="0" y="0"/>
                </a:lnTo>
                <a:close/>
              </a:path>
            </a:pathLst>
          </a:custGeom>
          <a:blipFill>
            <a:blip r:embed="rId3"/>
            <a:stretch>
              <a:fillRect l="-2335" t="-5939" r="0" b="-3037"/>
            </a:stretch>
          </a:blipFill>
        </p:spPr>
      </p:sp>
      <p:grpSp>
        <p:nvGrpSpPr>
          <p:cNvPr name="Group 9" id="9"/>
          <p:cNvGrpSpPr/>
          <p:nvPr/>
        </p:nvGrpSpPr>
        <p:grpSpPr>
          <a:xfrm rot="0">
            <a:off x="2095327" y="1756115"/>
            <a:ext cx="6703470" cy="533240"/>
            <a:chOff x="0" y="0"/>
            <a:chExt cx="1765523" cy="140442"/>
          </a:xfrm>
        </p:grpSpPr>
        <p:sp>
          <p:nvSpPr>
            <p:cNvPr name="Freeform 10" id="10"/>
            <p:cNvSpPr/>
            <p:nvPr/>
          </p:nvSpPr>
          <p:spPr>
            <a:xfrm flipH="false" flipV="false" rot="0">
              <a:off x="0" y="0"/>
              <a:ext cx="1765523" cy="140442"/>
            </a:xfrm>
            <a:custGeom>
              <a:avLst/>
              <a:gdLst/>
              <a:ahLst/>
              <a:cxnLst/>
              <a:rect r="r" b="b" t="t" l="l"/>
              <a:pathLst>
                <a:path h="140442" w="1765523">
                  <a:moveTo>
                    <a:pt x="39267" y="0"/>
                  </a:moveTo>
                  <a:lnTo>
                    <a:pt x="1726256" y="0"/>
                  </a:lnTo>
                  <a:cubicBezTo>
                    <a:pt x="1736670" y="0"/>
                    <a:pt x="1746658" y="4137"/>
                    <a:pt x="1754022" y="11501"/>
                  </a:cubicBezTo>
                  <a:cubicBezTo>
                    <a:pt x="1761386" y="18865"/>
                    <a:pt x="1765523" y="28853"/>
                    <a:pt x="1765523" y="39267"/>
                  </a:cubicBezTo>
                  <a:lnTo>
                    <a:pt x="1765523" y="101175"/>
                  </a:lnTo>
                  <a:cubicBezTo>
                    <a:pt x="1765523" y="122861"/>
                    <a:pt x="1747943" y="140442"/>
                    <a:pt x="1726256" y="140442"/>
                  </a:cubicBezTo>
                  <a:lnTo>
                    <a:pt x="39267" y="140442"/>
                  </a:lnTo>
                  <a:cubicBezTo>
                    <a:pt x="17580" y="140442"/>
                    <a:pt x="0" y="122861"/>
                    <a:pt x="0" y="101175"/>
                  </a:cubicBezTo>
                  <a:lnTo>
                    <a:pt x="0" y="39267"/>
                  </a:lnTo>
                  <a:cubicBezTo>
                    <a:pt x="0" y="17580"/>
                    <a:pt x="17580" y="0"/>
                    <a:pt x="39267" y="0"/>
                  </a:cubicBezTo>
                  <a:close/>
                </a:path>
              </a:pathLst>
            </a:custGeom>
            <a:solidFill>
              <a:srgbClr val="1E3B50">
                <a:alpha val="65882"/>
              </a:srgbClr>
            </a:solidFill>
          </p:spPr>
        </p:sp>
        <p:sp>
          <p:nvSpPr>
            <p:cNvPr name="TextBox 11" id="11"/>
            <p:cNvSpPr txBox="true"/>
            <p:nvPr/>
          </p:nvSpPr>
          <p:spPr>
            <a:xfrm>
              <a:off x="0" y="-47625"/>
              <a:ext cx="1765523" cy="188067"/>
            </a:xfrm>
            <a:prstGeom prst="rect">
              <a:avLst/>
            </a:prstGeom>
          </p:spPr>
          <p:txBody>
            <a:bodyPr anchor="ctr" rtlCol="false" tIns="50800" lIns="50800" bIns="50800" rIns="50800"/>
            <a:lstStyle/>
            <a:p>
              <a:pPr algn="ctr">
                <a:lnSpc>
                  <a:spcPts val="3640"/>
                </a:lnSpc>
              </a:pPr>
            </a:p>
          </p:txBody>
        </p:sp>
      </p:grpSp>
      <p:grpSp>
        <p:nvGrpSpPr>
          <p:cNvPr name="Group 12" id="12"/>
          <p:cNvGrpSpPr/>
          <p:nvPr/>
        </p:nvGrpSpPr>
        <p:grpSpPr>
          <a:xfrm rot="0">
            <a:off x="10084551" y="2514925"/>
            <a:ext cx="7000245" cy="2377459"/>
            <a:chOff x="0" y="0"/>
            <a:chExt cx="1843686" cy="626162"/>
          </a:xfrm>
        </p:grpSpPr>
        <p:sp>
          <p:nvSpPr>
            <p:cNvPr name="Freeform 13" id="13"/>
            <p:cNvSpPr/>
            <p:nvPr/>
          </p:nvSpPr>
          <p:spPr>
            <a:xfrm flipH="false" flipV="false" rot="0">
              <a:off x="0" y="0"/>
              <a:ext cx="1843686" cy="626162"/>
            </a:xfrm>
            <a:custGeom>
              <a:avLst/>
              <a:gdLst/>
              <a:ahLst/>
              <a:cxnLst/>
              <a:rect r="r" b="b" t="t" l="l"/>
              <a:pathLst>
                <a:path h="626162" w="1843686">
                  <a:moveTo>
                    <a:pt x="37602" y="0"/>
                  </a:moveTo>
                  <a:lnTo>
                    <a:pt x="1806084" y="0"/>
                  </a:lnTo>
                  <a:cubicBezTo>
                    <a:pt x="1816056" y="0"/>
                    <a:pt x="1825621" y="3962"/>
                    <a:pt x="1832672" y="11013"/>
                  </a:cubicBezTo>
                  <a:cubicBezTo>
                    <a:pt x="1839724" y="18065"/>
                    <a:pt x="1843686" y="27630"/>
                    <a:pt x="1843686" y="37602"/>
                  </a:cubicBezTo>
                  <a:lnTo>
                    <a:pt x="1843686" y="588560"/>
                  </a:lnTo>
                  <a:cubicBezTo>
                    <a:pt x="1843686" y="598532"/>
                    <a:pt x="1839724" y="608097"/>
                    <a:pt x="1832672" y="615148"/>
                  </a:cubicBezTo>
                  <a:cubicBezTo>
                    <a:pt x="1825621" y="622200"/>
                    <a:pt x="1816056" y="626162"/>
                    <a:pt x="1806084" y="626162"/>
                  </a:cubicBezTo>
                  <a:lnTo>
                    <a:pt x="37602" y="626162"/>
                  </a:lnTo>
                  <a:cubicBezTo>
                    <a:pt x="27630" y="626162"/>
                    <a:pt x="18065" y="622200"/>
                    <a:pt x="11013" y="615148"/>
                  </a:cubicBezTo>
                  <a:cubicBezTo>
                    <a:pt x="3962" y="608097"/>
                    <a:pt x="0" y="598532"/>
                    <a:pt x="0" y="588560"/>
                  </a:cubicBezTo>
                  <a:lnTo>
                    <a:pt x="0" y="37602"/>
                  </a:lnTo>
                  <a:cubicBezTo>
                    <a:pt x="0" y="27630"/>
                    <a:pt x="3962" y="18065"/>
                    <a:pt x="11013" y="11013"/>
                  </a:cubicBezTo>
                  <a:cubicBezTo>
                    <a:pt x="18065" y="3962"/>
                    <a:pt x="27630" y="0"/>
                    <a:pt x="37602" y="0"/>
                  </a:cubicBezTo>
                  <a:close/>
                </a:path>
              </a:pathLst>
            </a:custGeom>
            <a:solidFill>
              <a:srgbClr val="1E3B50">
                <a:alpha val="65882"/>
              </a:srgbClr>
            </a:solidFill>
          </p:spPr>
        </p:sp>
        <p:sp>
          <p:nvSpPr>
            <p:cNvPr name="TextBox 14" id="14"/>
            <p:cNvSpPr txBox="true"/>
            <p:nvPr/>
          </p:nvSpPr>
          <p:spPr>
            <a:xfrm>
              <a:off x="0" y="-47625"/>
              <a:ext cx="1843686" cy="673787"/>
            </a:xfrm>
            <a:prstGeom prst="rect">
              <a:avLst/>
            </a:prstGeom>
          </p:spPr>
          <p:txBody>
            <a:bodyPr anchor="ctr" rtlCol="false" tIns="50800" lIns="50800" bIns="50800" rIns="50800"/>
            <a:lstStyle/>
            <a:p>
              <a:pPr algn="ctr">
                <a:lnSpc>
                  <a:spcPts val="3640"/>
                </a:lnSpc>
              </a:pPr>
            </a:p>
          </p:txBody>
        </p:sp>
      </p:grpSp>
      <p:grpSp>
        <p:nvGrpSpPr>
          <p:cNvPr name="Group 15" id="15"/>
          <p:cNvGrpSpPr/>
          <p:nvPr/>
        </p:nvGrpSpPr>
        <p:grpSpPr>
          <a:xfrm rot="0">
            <a:off x="10527997" y="5424462"/>
            <a:ext cx="6113353" cy="3833838"/>
            <a:chOff x="0" y="0"/>
            <a:chExt cx="1610101" cy="1009735"/>
          </a:xfrm>
        </p:grpSpPr>
        <p:sp>
          <p:nvSpPr>
            <p:cNvPr name="Freeform 16" id="16"/>
            <p:cNvSpPr/>
            <p:nvPr/>
          </p:nvSpPr>
          <p:spPr>
            <a:xfrm flipH="false" flipV="false" rot="0">
              <a:off x="0" y="0"/>
              <a:ext cx="1610101" cy="1009735"/>
            </a:xfrm>
            <a:custGeom>
              <a:avLst/>
              <a:gdLst/>
              <a:ahLst/>
              <a:cxnLst/>
              <a:rect r="r" b="b" t="t" l="l"/>
              <a:pathLst>
                <a:path h="1009735" w="1610101">
                  <a:moveTo>
                    <a:pt x="43057" y="0"/>
                  </a:moveTo>
                  <a:lnTo>
                    <a:pt x="1567044" y="0"/>
                  </a:lnTo>
                  <a:cubicBezTo>
                    <a:pt x="1590824" y="0"/>
                    <a:pt x="1610101" y="19277"/>
                    <a:pt x="1610101" y="43057"/>
                  </a:cubicBezTo>
                  <a:lnTo>
                    <a:pt x="1610101" y="966678"/>
                  </a:lnTo>
                  <a:cubicBezTo>
                    <a:pt x="1610101" y="990458"/>
                    <a:pt x="1590824" y="1009735"/>
                    <a:pt x="1567044" y="1009735"/>
                  </a:cubicBezTo>
                  <a:lnTo>
                    <a:pt x="43057" y="1009735"/>
                  </a:lnTo>
                  <a:cubicBezTo>
                    <a:pt x="19277" y="1009735"/>
                    <a:pt x="0" y="990458"/>
                    <a:pt x="0" y="966678"/>
                  </a:cubicBezTo>
                  <a:lnTo>
                    <a:pt x="0" y="43057"/>
                  </a:lnTo>
                  <a:cubicBezTo>
                    <a:pt x="0" y="19277"/>
                    <a:pt x="19277" y="0"/>
                    <a:pt x="43057" y="0"/>
                  </a:cubicBezTo>
                  <a:close/>
                </a:path>
              </a:pathLst>
            </a:custGeom>
            <a:solidFill>
              <a:srgbClr val="1E3B50">
                <a:alpha val="65882"/>
              </a:srgbClr>
            </a:solidFill>
          </p:spPr>
        </p:sp>
        <p:sp>
          <p:nvSpPr>
            <p:cNvPr name="TextBox 17" id="17"/>
            <p:cNvSpPr txBox="true"/>
            <p:nvPr/>
          </p:nvSpPr>
          <p:spPr>
            <a:xfrm>
              <a:off x="0" y="-47625"/>
              <a:ext cx="1610101" cy="1057360"/>
            </a:xfrm>
            <a:prstGeom prst="rect">
              <a:avLst/>
            </a:prstGeom>
          </p:spPr>
          <p:txBody>
            <a:bodyPr anchor="ctr" rtlCol="false" tIns="50800" lIns="50800" bIns="50800" rIns="50800"/>
            <a:lstStyle/>
            <a:p>
              <a:pPr algn="ctr">
                <a:lnSpc>
                  <a:spcPts val="3640"/>
                </a:lnSpc>
              </a:pPr>
            </a:p>
          </p:txBody>
        </p:sp>
      </p:grpSp>
      <p:grpSp>
        <p:nvGrpSpPr>
          <p:cNvPr name="Group 18" id="18"/>
          <p:cNvGrpSpPr/>
          <p:nvPr/>
        </p:nvGrpSpPr>
        <p:grpSpPr>
          <a:xfrm rot="0">
            <a:off x="2095327" y="6209023"/>
            <a:ext cx="497409" cy="277995"/>
            <a:chOff x="0" y="0"/>
            <a:chExt cx="1069101" cy="597507"/>
          </a:xfrm>
        </p:grpSpPr>
        <p:sp>
          <p:nvSpPr>
            <p:cNvPr name="Freeform 19" id="19"/>
            <p:cNvSpPr/>
            <p:nvPr/>
          </p:nvSpPr>
          <p:spPr>
            <a:xfrm flipH="false" flipV="false" rot="0">
              <a:off x="0" y="0"/>
              <a:ext cx="1069101" cy="597507"/>
            </a:xfrm>
            <a:custGeom>
              <a:avLst/>
              <a:gdLst/>
              <a:ahLst/>
              <a:cxnLst/>
              <a:rect r="r" b="b" t="t" l="l"/>
              <a:pathLst>
                <a:path h="597507" w="1069101">
                  <a:moveTo>
                    <a:pt x="534551" y="0"/>
                  </a:moveTo>
                  <a:cubicBezTo>
                    <a:pt x="239327" y="0"/>
                    <a:pt x="0" y="133756"/>
                    <a:pt x="0" y="298753"/>
                  </a:cubicBezTo>
                  <a:cubicBezTo>
                    <a:pt x="0" y="463750"/>
                    <a:pt x="239327" y="597507"/>
                    <a:pt x="534551" y="597507"/>
                  </a:cubicBezTo>
                  <a:cubicBezTo>
                    <a:pt x="829775" y="597507"/>
                    <a:pt x="1069101" y="463750"/>
                    <a:pt x="1069101" y="298753"/>
                  </a:cubicBezTo>
                  <a:cubicBezTo>
                    <a:pt x="1069101" y="133756"/>
                    <a:pt x="829775" y="0"/>
                    <a:pt x="534551" y="0"/>
                  </a:cubicBezTo>
                  <a:close/>
                </a:path>
              </a:pathLst>
            </a:custGeom>
            <a:solidFill>
              <a:srgbClr val="356A97">
                <a:alpha val="49804"/>
              </a:srgbClr>
            </a:solidFill>
            <a:ln w="9525" cap="sq">
              <a:solidFill>
                <a:srgbClr val="386D99">
                  <a:alpha val="49804"/>
                </a:srgbClr>
              </a:solidFill>
              <a:prstDash val="solid"/>
              <a:miter/>
            </a:ln>
          </p:spPr>
        </p:sp>
        <p:sp>
          <p:nvSpPr>
            <p:cNvPr name="TextBox 20" id="20"/>
            <p:cNvSpPr txBox="true"/>
            <p:nvPr/>
          </p:nvSpPr>
          <p:spPr>
            <a:xfrm>
              <a:off x="100228" y="8391"/>
              <a:ext cx="868645" cy="533099"/>
            </a:xfrm>
            <a:prstGeom prst="rect">
              <a:avLst/>
            </a:prstGeom>
          </p:spPr>
          <p:txBody>
            <a:bodyPr anchor="ctr" rtlCol="false" tIns="50800" lIns="50800" bIns="50800" rIns="50800"/>
            <a:lstStyle/>
            <a:p>
              <a:pPr algn="ctr">
                <a:lnSpc>
                  <a:spcPts val="3640"/>
                </a:lnSpc>
              </a:pPr>
            </a:p>
          </p:txBody>
        </p:sp>
      </p:grpSp>
      <p:sp>
        <p:nvSpPr>
          <p:cNvPr name="TextBox 21" id="21"/>
          <p:cNvSpPr txBox="true"/>
          <p:nvPr/>
        </p:nvSpPr>
        <p:spPr>
          <a:xfrm rot="0">
            <a:off x="2887785" y="1797310"/>
            <a:ext cx="5118555" cy="422275"/>
          </a:xfrm>
          <a:prstGeom prst="rect">
            <a:avLst/>
          </a:prstGeom>
        </p:spPr>
        <p:txBody>
          <a:bodyPr anchor="t" rtlCol="false" tIns="0" lIns="0" bIns="0" rIns="0">
            <a:spAutoFit/>
          </a:bodyPr>
          <a:lstStyle/>
          <a:p>
            <a:pPr algn="l">
              <a:lnSpc>
                <a:spcPts val="3499"/>
              </a:lnSpc>
            </a:pPr>
            <a:r>
              <a:rPr lang="en-US" sz="2499">
                <a:solidFill>
                  <a:srgbClr val="DCDDDD"/>
                </a:solidFill>
                <a:latin typeface="League Spartan"/>
                <a:ea typeface="League Spartan"/>
                <a:cs typeface="League Spartan"/>
                <a:sym typeface="League Spartan"/>
              </a:rPr>
              <a:t>Matchup Matrix: Win Rate (%)</a:t>
            </a:r>
          </a:p>
        </p:txBody>
      </p:sp>
      <p:sp>
        <p:nvSpPr>
          <p:cNvPr name="TextBox 22" id="22"/>
          <p:cNvSpPr txBox="true"/>
          <p:nvPr/>
        </p:nvSpPr>
        <p:spPr>
          <a:xfrm rot="0">
            <a:off x="10276210" y="2756229"/>
            <a:ext cx="6616927" cy="1787048"/>
          </a:xfrm>
          <a:prstGeom prst="rect">
            <a:avLst/>
          </a:prstGeom>
        </p:spPr>
        <p:txBody>
          <a:bodyPr anchor="t" rtlCol="false" tIns="0" lIns="0" bIns="0" rIns="0">
            <a:spAutoFit/>
          </a:bodyPr>
          <a:lstStyle/>
          <a:p>
            <a:pPr algn="l" marL="407772" indent="-203886" lvl="1">
              <a:lnSpc>
                <a:spcPts val="3645"/>
              </a:lnSpc>
              <a:buFont typeface="Arial"/>
              <a:buChar char="•"/>
            </a:pPr>
            <a:r>
              <a:rPr lang="en-US" sz="1888">
                <a:solidFill>
                  <a:srgbClr val="DCDDDD"/>
                </a:solidFill>
                <a:latin typeface="League Spartan"/>
                <a:ea typeface="League Spartan"/>
                <a:cs typeface="League Spartan"/>
                <a:sym typeface="League Spartan"/>
              </a:rPr>
              <a:t>40 pairwise matchups analyzed (Top 10 factions)</a:t>
            </a:r>
          </a:p>
          <a:p>
            <a:pPr algn="l" marL="407772" indent="-203886" lvl="1">
              <a:lnSpc>
                <a:spcPts val="3645"/>
              </a:lnSpc>
              <a:buFont typeface="Arial"/>
              <a:buChar char="•"/>
            </a:pPr>
            <a:r>
              <a:rPr lang="en-US" sz="1888">
                <a:solidFill>
                  <a:srgbClr val="DCDDDD"/>
                </a:solidFill>
                <a:latin typeface="League Spartan"/>
                <a:ea typeface="League Spartan"/>
                <a:cs typeface="League Spartan"/>
                <a:sym typeface="League Spartan"/>
              </a:rPr>
              <a:t>Only 3 matchups statistically significant (p &lt; 0.05)</a:t>
            </a:r>
          </a:p>
          <a:p>
            <a:pPr algn="l" marL="407772" indent="-203886" lvl="1">
              <a:lnSpc>
                <a:spcPts val="3645"/>
              </a:lnSpc>
              <a:buFont typeface="Arial"/>
              <a:buChar char="•"/>
            </a:pPr>
            <a:r>
              <a:rPr lang="en-US" sz="1888">
                <a:solidFill>
                  <a:srgbClr val="DCDDDD"/>
                </a:solidFill>
                <a:latin typeface="League Spartan"/>
                <a:ea typeface="League Spartan"/>
                <a:cs typeface="League Spartan"/>
                <a:sym typeface="League Spartan"/>
              </a:rPr>
              <a:t>Several directional trends (&gt;60% / &lt;40% WR)</a:t>
            </a:r>
          </a:p>
          <a:p>
            <a:pPr algn="l" marL="407772" indent="-203886" lvl="1">
              <a:lnSpc>
                <a:spcPts val="3645"/>
              </a:lnSpc>
              <a:buFont typeface="Arial"/>
              <a:buChar char="•"/>
            </a:pPr>
            <a:r>
              <a:rPr lang="en-US" sz="1888">
                <a:solidFill>
                  <a:srgbClr val="DCDDDD"/>
                </a:solidFill>
                <a:latin typeface="League Spartan"/>
                <a:ea typeface="League Spartan"/>
                <a:cs typeface="League Spartan"/>
                <a:sym typeface="League Spartan"/>
              </a:rPr>
              <a:t>Presence of hard and soft counters</a:t>
            </a:r>
          </a:p>
        </p:txBody>
      </p:sp>
      <p:sp>
        <p:nvSpPr>
          <p:cNvPr name="TextBox 23" id="23"/>
          <p:cNvSpPr txBox="true"/>
          <p:nvPr/>
        </p:nvSpPr>
        <p:spPr>
          <a:xfrm rot="0">
            <a:off x="10744337" y="5667513"/>
            <a:ext cx="5680673" cy="3176285"/>
          </a:xfrm>
          <a:prstGeom prst="rect">
            <a:avLst/>
          </a:prstGeom>
        </p:spPr>
        <p:txBody>
          <a:bodyPr anchor="t" rtlCol="false" tIns="0" lIns="0" bIns="0" rIns="0">
            <a:spAutoFit/>
          </a:bodyPr>
          <a:lstStyle/>
          <a:p>
            <a:pPr algn="l" marL="450463" indent="-225232" lvl="1">
              <a:lnSpc>
                <a:spcPts val="4277"/>
              </a:lnSpc>
              <a:buFont typeface="Arial"/>
              <a:buChar char="•"/>
            </a:pPr>
            <a:r>
              <a:rPr lang="en-US" sz="2086">
                <a:solidFill>
                  <a:srgbClr val="DCDDDD"/>
                </a:solidFill>
                <a:latin typeface="League Spartan"/>
                <a:ea typeface="League Spartan"/>
                <a:cs typeface="League Spartan"/>
                <a:sym typeface="League Spartan"/>
              </a:rPr>
              <a:t>Necrons show the most polarized performance (hard counters)</a:t>
            </a:r>
          </a:p>
          <a:p>
            <a:pPr algn="l" marL="450463" indent="-225232" lvl="1">
              <a:lnSpc>
                <a:spcPts val="4277"/>
              </a:lnSpc>
              <a:buFont typeface="Arial"/>
              <a:buChar char="•"/>
            </a:pPr>
            <a:r>
              <a:rPr lang="en-US" sz="2086">
                <a:solidFill>
                  <a:srgbClr val="DCDDDD"/>
                </a:solidFill>
                <a:latin typeface="League Spartan"/>
                <a:ea typeface="League Spartan"/>
                <a:cs typeface="League Spartan"/>
                <a:sym typeface="League Spartan"/>
              </a:rPr>
              <a:t>Space Marines dominate Imperial Knights despite lower unit cost</a:t>
            </a:r>
          </a:p>
          <a:p>
            <a:pPr algn="l" marL="450463" indent="-225232" lvl="1">
              <a:lnSpc>
                <a:spcPts val="4277"/>
              </a:lnSpc>
              <a:buFont typeface="Arial"/>
              <a:buChar char="•"/>
            </a:pPr>
            <a:r>
              <a:rPr lang="en-US" sz="2086">
                <a:solidFill>
                  <a:srgbClr val="DCDDDD"/>
                </a:solidFill>
                <a:latin typeface="League Spartan"/>
                <a:ea typeface="League Spartan"/>
                <a:cs typeface="League Spartan"/>
                <a:sym typeface="League Spartan"/>
              </a:rPr>
              <a:t>Aeldari matchups are mostly balanced (skill-driven outcomes)</a:t>
            </a:r>
          </a:p>
        </p:txBody>
      </p:sp>
      <p:grpSp>
        <p:nvGrpSpPr>
          <p:cNvPr name="Group 24" id="24"/>
          <p:cNvGrpSpPr/>
          <p:nvPr/>
        </p:nvGrpSpPr>
        <p:grpSpPr>
          <a:xfrm rot="0">
            <a:off x="2095327" y="6209023"/>
            <a:ext cx="497409" cy="277995"/>
            <a:chOff x="0" y="0"/>
            <a:chExt cx="1069101" cy="597507"/>
          </a:xfrm>
        </p:grpSpPr>
        <p:sp>
          <p:nvSpPr>
            <p:cNvPr name="Freeform 25" id="25"/>
            <p:cNvSpPr/>
            <p:nvPr/>
          </p:nvSpPr>
          <p:spPr>
            <a:xfrm flipH="false" flipV="false" rot="0">
              <a:off x="0" y="0"/>
              <a:ext cx="1069101" cy="597507"/>
            </a:xfrm>
            <a:custGeom>
              <a:avLst/>
              <a:gdLst/>
              <a:ahLst/>
              <a:cxnLst/>
              <a:rect r="r" b="b" t="t" l="l"/>
              <a:pathLst>
                <a:path h="597507" w="1069101">
                  <a:moveTo>
                    <a:pt x="534551" y="0"/>
                  </a:moveTo>
                  <a:cubicBezTo>
                    <a:pt x="239327" y="0"/>
                    <a:pt x="0" y="133756"/>
                    <a:pt x="0" y="298753"/>
                  </a:cubicBezTo>
                  <a:cubicBezTo>
                    <a:pt x="0" y="463750"/>
                    <a:pt x="239327" y="597507"/>
                    <a:pt x="534551" y="597507"/>
                  </a:cubicBezTo>
                  <a:cubicBezTo>
                    <a:pt x="829775" y="597507"/>
                    <a:pt x="1069101" y="463750"/>
                    <a:pt x="1069101" y="298753"/>
                  </a:cubicBezTo>
                  <a:cubicBezTo>
                    <a:pt x="1069101" y="133756"/>
                    <a:pt x="829775" y="0"/>
                    <a:pt x="534551" y="0"/>
                  </a:cubicBezTo>
                  <a:close/>
                </a:path>
              </a:pathLst>
            </a:custGeom>
            <a:ln w="9525" cap="sq">
              <a:solidFill>
                <a:srgbClr val="386D99">
                  <a:alpha val="88627"/>
                </a:srgbClr>
              </a:solidFill>
              <a:prstDash val="solid"/>
              <a:miter/>
            </a:ln>
          </p:spPr>
        </p:sp>
        <p:sp>
          <p:nvSpPr>
            <p:cNvPr name="TextBox 26" id="26"/>
            <p:cNvSpPr txBox="true"/>
            <p:nvPr/>
          </p:nvSpPr>
          <p:spPr>
            <a:xfrm>
              <a:off x="100228" y="8391"/>
              <a:ext cx="868645" cy="533099"/>
            </a:xfrm>
            <a:prstGeom prst="rect">
              <a:avLst/>
            </a:prstGeom>
          </p:spPr>
          <p:txBody>
            <a:bodyPr anchor="ctr" rtlCol="false" tIns="50800" lIns="50800" bIns="50800" rIns="50800"/>
            <a:lstStyle/>
            <a:p>
              <a:pPr algn="ctr">
                <a:lnSpc>
                  <a:spcPts val="3640"/>
                </a:lnSpc>
              </a:pPr>
            </a:p>
          </p:txBody>
        </p:sp>
      </p:grpSp>
      <p:grpSp>
        <p:nvGrpSpPr>
          <p:cNvPr name="Group 27" id="27"/>
          <p:cNvGrpSpPr/>
          <p:nvPr/>
        </p:nvGrpSpPr>
        <p:grpSpPr>
          <a:xfrm rot="-2808167">
            <a:off x="5902038" y="8468468"/>
            <a:ext cx="497409" cy="277995"/>
            <a:chOff x="0" y="0"/>
            <a:chExt cx="1069101" cy="597507"/>
          </a:xfrm>
        </p:grpSpPr>
        <p:sp>
          <p:nvSpPr>
            <p:cNvPr name="Freeform 28" id="28"/>
            <p:cNvSpPr/>
            <p:nvPr/>
          </p:nvSpPr>
          <p:spPr>
            <a:xfrm flipH="false" flipV="false" rot="0">
              <a:off x="0" y="0"/>
              <a:ext cx="1069101" cy="597507"/>
            </a:xfrm>
            <a:custGeom>
              <a:avLst/>
              <a:gdLst/>
              <a:ahLst/>
              <a:cxnLst/>
              <a:rect r="r" b="b" t="t" l="l"/>
              <a:pathLst>
                <a:path h="597507" w="1069101">
                  <a:moveTo>
                    <a:pt x="534551" y="0"/>
                  </a:moveTo>
                  <a:cubicBezTo>
                    <a:pt x="239327" y="0"/>
                    <a:pt x="0" y="133756"/>
                    <a:pt x="0" y="298753"/>
                  </a:cubicBezTo>
                  <a:cubicBezTo>
                    <a:pt x="0" y="463750"/>
                    <a:pt x="239327" y="597507"/>
                    <a:pt x="534551" y="597507"/>
                  </a:cubicBezTo>
                  <a:cubicBezTo>
                    <a:pt x="829775" y="597507"/>
                    <a:pt x="1069101" y="463750"/>
                    <a:pt x="1069101" y="298753"/>
                  </a:cubicBezTo>
                  <a:cubicBezTo>
                    <a:pt x="1069101" y="133756"/>
                    <a:pt x="829775" y="0"/>
                    <a:pt x="534551" y="0"/>
                  </a:cubicBezTo>
                  <a:close/>
                </a:path>
              </a:pathLst>
            </a:custGeom>
            <a:solidFill>
              <a:srgbClr val="356A97">
                <a:alpha val="49804"/>
              </a:srgbClr>
            </a:solidFill>
            <a:ln w="9525" cap="sq">
              <a:solidFill>
                <a:srgbClr val="386D99">
                  <a:alpha val="49804"/>
                </a:srgbClr>
              </a:solidFill>
              <a:prstDash val="solid"/>
              <a:miter/>
            </a:ln>
          </p:spPr>
        </p:sp>
        <p:sp>
          <p:nvSpPr>
            <p:cNvPr name="TextBox 29" id="29"/>
            <p:cNvSpPr txBox="true"/>
            <p:nvPr/>
          </p:nvSpPr>
          <p:spPr>
            <a:xfrm>
              <a:off x="100228" y="8391"/>
              <a:ext cx="868645" cy="533099"/>
            </a:xfrm>
            <a:prstGeom prst="rect">
              <a:avLst/>
            </a:prstGeom>
          </p:spPr>
          <p:txBody>
            <a:bodyPr anchor="ctr" rtlCol="false" tIns="50800" lIns="50800" bIns="50800" rIns="50800"/>
            <a:lstStyle/>
            <a:p>
              <a:pPr algn="ctr">
                <a:lnSpc>
                  <a:spcPts val="3640"/>
                </a:lnSpc>
              </a:pPr>
            </a:p>
          </p:txBody>
        </p:sp>
      </p:grpSp>
      <p:grpSp>
        <p:nvGrpSpPr>
          <p:cNvPr name="Group 30" id="30"/>
          <p:cNvGrpSpPr/>
          <p:nvPr/>
        </p:nvGrpSpPr>
        <p:grpSpPr>
          <a:xfrm rot="-2808167">
            <a:off x="5902038" y="8468468"/>
            <a:ext cx="497409" cy="277995"/>
            <a:chOff x="0" y="0"/>
            <a:chExt cx="1069101" cy="597507"/>
          </a:xfrm>
        </p:grpSpPr>
        <p:sp>
          <p:nvSpPr>
            <p:cNvPr name="Freeform 31" id="31"/>
            <p:cNvSpPr/>
            <p:nvPr/>
          </p:nvSpPr>
          <p:spPr>
            <a:xfrm flipH="false" flipV="false" rot="0">
              <a:off x="0" y="0"/>
              <a:ext cx="1069101" cy="597507"/>
            </a:xfrm>
            <a:custGeom>
              <a:avLst/>
              <a:gdLst/>
              <a:ahLst/>
              <a:cxnLst/>
              <a:rect r="r" b="b" t="t" l="l"/>
              <a:pathLst>
                <a:path h="597507" w="1069101">
                  <a:moveTo>
                    <a:pt x="534551" y="0"/>
                  </a:moveTo>
                  <a:cubicBezTo>
                    <a:pt x="239327" y="0"/>
                    <a:pt x="0" y="133756"/>
                    <a:pt x="0" y="298753"/>
                  </a:cubicBezTo>
                  <a:cubicBezTo>
                    <a:pt x="0" y="463750"/>
                    <a:pt x="239327" y="597507"/>
                    <a:pt x="534551" y="597507"/>
                  </a:cubicBezTo>
                  <a:cubicBezTo>
                    <a:pt x="829775" y="597507"/>
                    <a:pt x="1069101" y="463750"/>
                    <a:pt x="1069101" y="298753"/>
                  </a:cubicBezTo>
                  <a:cubicBezTo>
                    <a:pt x="1069101" y="133756"/>
                    <a:pt x="829775" y="0"/>
                    <a:pt x="534551" y="0"/>
                  </a:cubicBezTo>
                  <a:close/>
                </a:path>
              </a:pathLst>
            </a:custGeom>
            <a:ln w="9525" cap="sq">
              <a:solidFill>
                <a:srgbClr val="386D99">
                  <a:alpha val="88627"/>
                </a:srgbClr>
              </a:solidFill>
              <a:prstDash val="solid"/>
              <a:miter/>
            </a:ln>
          </p:spPr>
        </p:sp>
        <p:sp>
          <p:nvSpPr>
            <p:cNvPr name="TextBox 32" id="32"/>
            <p:cNvSpPr txBox="true"/>
            <p:nvPr/>
          </p:nvSpPr>
          <p:spPr>
            <a:xfrm>
              <a:off x="100228" y="8391"/>
              <a:ext cx="868645" cy="533099"/>
            </a:xfrm>
            <a:prstGeom prst="rect">
              <a:avLst/>
            </a:prstGeom>
          </p:spPr>
          <p:txBody>
            <a:bodyPr anchor="ctr" rtlCol="false" tIns="50800" lIns="50800" bIns="50800" rIns="50800"/>
            <a:lstStyle/>
            <a:p>
              <a:pPr algn="ctr">
                <a:lnSpc>
                  <a:spcPts val="3640"/>
                </a:lnSpc>
              </a:pPr>
            </a:p>
          </p:txBody>
        </p:sp>
      </p:grpSp>
      <p:grpSp>
        <p:nvGrpSpPr>
          <p:cNvPr name="Group 33" id="33"/>
          <p:cNvGrpSpPr/>
          <p:nvPr/>
        </p:nvGrpSpPr>
        <p:grpSpPr>
          <a:xfrm rot="0">
            <a:off x="10825720" y="5838963"/>
            <a:ext cx="278302" cy="277995"/>
            <a:chOff x="0" y="0"/>
            <a:chExt cx="598165" cy="597507"/>
          </a:xfrm>
        </p:grpSpPr>
        <p:sp>
          <p:nvSpPr>
            <p:cNvPr name="Freeform 34" id="34"/>
            <p:cNvSpPr/>
            <p:nvPr/>
          </p:nvSpPr>
          <p:spPr>
            <a:xfrm flipH="false" flipV="false" rot="0">
              <a:off x="0" y="0"/>
              <a:ext cx="598165" cy="597507"/>
            </a:xfrm>
            <a:custGeom>
              <a:avLst/>
              <a:gdLst/>
              <a:ahLst/>
              <a:cxnLst/>
              <a:rect r="r" b="b" t="t" l="l"/>
              <a:pathLst>
                <a:path h="597507" w="598165">
                  <a:moveTo>
                    <a:pt x="299083" y="0"/>
                  </a:moveTo>
                  <a:cubicBezTo>
                    <a:pt x="133904" y="0"/>
                    <a:pt x="0" y="133756"/>
                    <a:pt x="0" y="298753"/>
                  </a:cubicBezTo>
                  <a:cubicBezTo>
                    <a:pt x="0" y="463750"/>
                    <a:pt x="133904" y="597507"/>
                    <a:pt x="299083" y="597507"/>
                  </a:cubicBezTo>
                  <a:cubicBezTo>
                    <a:pt x="464262" y="597507"/>
                    <a:pt x="598165" y="463750"/>
                    <a:pt x="598165" y="298753"/>
                  </a:cubicBezTo>
                  <a:cubicBezTo>
                    <a:pt x="598165" y="133756"/>
                    <a:pt x="464262" y="0"/>
                    <a:pt x="299083" y="0"/>
                  </a:cubicBezTo>
                  <a:close/>
                </a:path>
              </a:pathLst>
            </a:custGeom>
            <a:solidFill>
              <a:srgbClr val="356A97"/>
            </a:solidFill>
            <a:ln w="9525" cap="sq">
              <a:solidFill>
                <a:srgbClr val="386D99"/>
              </a:solidFill>
              <a:prstDash val="solid"/>
              <a:miter/>
            </a:ln>
          </p:spPr>
        </p:sp>
        <p:sp>
          <p:nvSpPr>
            <p:cNvPr name="TextBox 35" id="35"/>
            <p:cNvSpPr txBox="true"/>
            <p:nvPr/>
          </p:nvSpPr>
          <p:spPr>
            <a:xfrm>
              <a:off x="56078" y="8391"/>
              <a:ext cx="486009" cy="533099"/>
            </a:xfrm>
            <a:prstGeom prst="rect">
              <a:avLst/>
            </a:prstGeom>
          </p:spPr>
          <p:txBody>
            <a:bodyPr anchor="ctr" rtlCol="false" tIns="50800" lIns="50800" bIns="50800" rIns="50800"/>
            <a:lstStyle/>
            <a:p>
              <a:pPr algn="ctr">
                <a:lnSpc>
                  <a:spcPts val="3640"/>
                </a:lnSpc>
              </a:pPr>
            </a:p>
          </p:txBody>
        </p:sp>
      </p:grpSp>
      <p:grpSp>
        <p:nvGrpSpPr>
          <p:cNvPr name="Group 36" id="36"/>
          <p:cNvGrpSpPr/>
          <p:nvPr/>
        </p:nvGrpSpPr>
        <p:grpSpPr>
          <a:xfrm rot="-2808167">
            <a:off x="3652608" y="8448409"/>
            <a:ext cx="442377" cy="277995"/>
            <a:chOff x="0" y="0"/>
            <a:chExt cx="950819" cy="597507"/>
          </a:xfrm>
        </p:grpSpPr>
        <p:sp>
          <p:nvSpPr>
            <p:cNvPr name="Freeform 37" id="37"/>
            <p:cNvSpPr/>
            <p:nvPr/>
          </p:nvSpPr>
          <p:spPr>
            <a:xfrm flipH="false" flipV="false" rot="0">
              <a:off x="0" y="0"/>
              <a:ext cx="950819" cy="597507"/>
            </a:xfrm>
            <a:custGeom>
              <a:avLst/>
              <a:gdLst/>
              <a:ahLst/>
              <a:cxnLst/>
              <a:rect r="r" b="b" t="t" l="l"/>
              <a:pathLst>
                <a:path h="597507" w="950819">
                  <a:moveTo>
                    <a:pt x="475409" y="0"/>
                  </a:moveTo>
                  <a:cubicBezTo>
                    <a:pt x="212848" y="0"/>
                    <a:pt x="0" y="133756"/>
                    <a:pt x="0" y="298753"/>
                  </a:cubicBezTo>
                  <a:cubicBezTo>
                    <a:pt x="0" y="463750"/>
                    <a:pt x="212848" y="597507"/>
                    <a:pt x="475409" y="597507"/>
                  </a:cubicBezTo>
                  <a:cubicBezTo>
                    <a:pt x="737971" y="597507"/>
                    <a:pt x="950819" y="463750"/>
                    <a:pt x="950819" y="298753"/>
                  </a:cubicBezTo>
                  <a:cubicBezTo>
                    <a:pt x="950819" y="133756"/>
                    <a:pt x="737971" y="0"/>
                    <a:pt x="475409" y="0"/>
                  </a:cubicBezTo>
                  <a:close/>
                </a:path>
              </a:pathLst>
            </a:custGeom>
            <a:solidFill>
              <a:srgbClr val="63AC5F">
                <a:alpha val="49804"/>
              </a:srgbClr>
            </a:solidFill>
            <a:ln w="9525" cap="sq">
              <a:solidFill>
                <a:srgbClr val="68B266">
                  <a:alpha val="49804"/>
                </a:srgbClr>
              </a:solidFill>
              <a:prstDash val="solid"/>
              <a:miter/>
            </a:ln>
          </p:spPr>
        </p:sp>
        <p:sp>
          <p:nvSpPr>
            <p:cNvPr name="TextBox 38" id="38"/>
            <p:cNvSpPr txBox="true"/>
            <p:nvPr/>
          </p:nvSpPr>
          <p:spPr>
            <a:xfrm>
              <a:off x="89139" y="8391"/>
              <a:ext cx="772540" cy="533099"/>
            </a:xfrm>
            <a:prstGeom prst="rect">
              <a:avLst/>
            </a:prstGeom>
          </p:spPr>
          <p:txBody>
            <a:bodyPr anchor="ctr" rtlCol="false" tIns="50800" lIns="50800" bIns="50800" rIns="50800"/>
            <a:lstStyle/>
            <a:p>
              <a:pPr algn="ctr">
                <a:lnSpc>
                  <a:spcPts val="3640"/>
                </a:lnSpc>
              </a:pPr>
            </a:p>
          </p:txBody>
        </p:sp>
      </p:grpSp>
      <p:grpSp>
        <p:nvGrpSpPr>
          <p:cNvPr name="Group 39" id="39"/>
          <p:cNvGrpSpPr/>
          <p:nvPr/>
        </p:nvGrpSpPr>
        <p:grpSpPr>
          <a:xfrm rot="-2808167">
            <a:off x="3652608" y="8448409"/>
            <a:ext cx="442377" cy="277995"/>
            <a:chOff x="0" y="0"/>
            <a:chExt cx="950819" cy="597507"/>
          </a:xfrm>
        </p:grpSpPr>
        <p:sp>
          <p:nvSpPr>
            <p:cNvPr name="Freeform 40" id="40"/>
            <p:cNvSpPr/>
            <p:nvPr/>
          </p:nvSpPr>
          <p:spPr>
            <a:xfrm flipH="false" flipV="false" rot="0">
              <a:off x="0" y="0"/>
              <a:ext cx="950819" cy="597507"/>
            </a:xfrm>
            <a:custGeom>
              <a:avLst/>
              <a:gdLst/>
              <a:ahLst/>
              <a:cxnLst/>
              <a:rect r="r" b="b" t="t" l="l"/>
              <a:pathLst>
                <a:path h="597507" w="950819">
                  <a:moveTo>
                    <a:pt x="475409" y="0"/>
                  </a:moveTo>
                  <a:cubicBezTo>
                    <a:pt x="212848" y="0"/>
                    <a:pt x="0" y="133756"/>
                    <a:pt x="0" y="298753"/>
                  </a:cubicBezTo>
                  <a:cubicBezTo>
                    <a:pt x="0" y="463750"/>
                    <a:pt x="212848" y="597507"/>
                    <a:pt x="475409" y="597507"/>
                  </a:cubicBezTo>
                  <a:cubicBezTo>
                    <a:pt x="737971" y="597507"/>
                    <a:pt x="950819" y="463750"/>
                    <a:pt x="950819" y="298753"/>
                  </a:cubicBezTo>
                  <a:cubicBezTo>
                    <a:pt x="950819" y="133756"/>
                    <a:pt x="737971" y="0"/>
                    <a:pt x="475409" y="0"/>
                  </a:cubicBezTo>
                  <a:close/>
                </a:path>
              </a:pathLst>
            </a:custGeom>
            <a:ln w="9525" cap="sq">
              <a:solidFill>
                <a:srgbClr val="68B266"/>
              </a:solidFill>
              <a:prstDash val="solid"/>
              <a:miter/>
            </a:ln>
          </p:spPr>
        </p:sp>
        <p:sp>
          <p:nvSpPr>
            <p:cNvPr name="TextBox 41" id="41"/>
            <p:cNvSpPr txBox="true"/>
            <p:nvPr/>
          </p:nvSpPr>
          <p:spPr>
            <a:xfrm>
              <a:off x="89139" y="8391"/>
              <a:ext cx="772540" cy="533099"/>
            </a:xfrm>
            <a:prstGeom prst="rect">
              <a:avLst/>
            </a:prstGeom>
          </p:spPr>
          <p:txBody>
            <a:bodyPr anchor="ctr" rtlCol="false" tIns="50800" lIns="50800" bIns="50800" rIns="50800"/>
            <a:lstStyle/>
            <a:p>
              <a:pPr algn="ctr">
                <a:lnSpc>
                  <a:spcPts val="3640"/>
                </a:lnSpc>
              </a:pPr>
            </a:p>
          </p:txBody>
        </p:sp>
      </p:grpSp>
      <p:grpSp>
        <p:nvGrpSpPr>
          <p:cNvPr name="Group 42" id="42"/>
          <p:cNvGrpSpPr/>
          <p:nvPr/>
        </p:nvGrpSpPr>
        <p:grpSpPr>
          <a:xfrm rot="0">
            <a:off x="2150359" y="3889722"/>
            <a:ext cx="442377" cy="277995"/>
            <a:chOff x="0" y="0"/>
            <a:chExt cx="950819" cy="597507"/>
          </a:xfrm>
        </p:grpSpPr>
        <p:sp>
          <p:nvSpPr>
            <p:cNvPr name="Freeform 43" id="43"/>
            <p:cNvSpPr/>
            <p:nvPr/>
          </p:nvSpPr>
          <p:spPr>
            <a:xfrm flipH="false" flipV="false" rot="0">
              <a:off x="0" y="0"/>
              <a:ext cx="950819" cy="597507"/>
            </a:xfrm>
            <a:custGeom>
              <a:avLst/>
              <a:gdLst/>
              <a:ahLst/>
              <a:cxnLst/>
              <a:rect r="r" b="b" t="t" l="l"/>
              <a:pathLst>
                <a:path h="597507" w="950819">
                  <a:moveTo>
                    <a:pt x="475409" y="0"/>
                  </a:moveTo>
                  <a:cubicBezTo>
                    <a:pt x="212848" y="0"/>
                    <a:pt x="0" y="133756"/>
                    <a:pt x="0" y="298753"/>
                  </a:cubicBezTo>
                  <a:cubicBezTo>
                    <a:pt x="0" y="463750"/>
                    <a:pt x="212848" y="597507"/>
                    <a:pt x="475409" y="597507"/>
                  </a:cubicBezTo>
                  <a:cubicBezTo>
                    <a:pt x="737971" y="597507"/>
                    <a:pt x="950819" y="463750"/>
                    <a:pt x="950819" y="298753"/>
                  </a:cubicBezTo>
                  <a:cubicBezTo>
                    <a:pt x="950819" y="133756"/>
                    <a:pt x="737971" y="0"/>
                    <a:pt x="475409" y="0"/>
                  </a:cubicBezTo>
                  <a:close/>
                </a:path>
              </a:pathLst>
            </a:custGeom>
            <a:solidFill>
              <a:srgbClr val="63AC5F">
                <a:alpha val="49804"/>
              </a:srgbClr>
            </a:solidFill>
            <a:ln w="9525" cap="sq">
              <a:solidFill>
                <a:srgbClr val="68B266">
                  <a:alpha val="49804"/>
                </a:srgbClr>
              </a:solidFill>
              <a:prstDash val="solid"/>
              <a:miter/>
            </a:ln>
          </p:spPr>
        </p:sp>
        <p:sp>
          <p:nvSpPr>
            <p:cNvPr name="TextBox 44" id="44"/>
            <p:cNvSpPr txBox="true"/>
            <p:nvPr/>
          </p:nvSpPr>
          <p:spPr>
            <a:xfrm>
              <a:off x="89139" y="8391"/>
              <a:ext cx="772540" cy="533099"/>
            </a:xfrm>
            <a:prstGeom prst="rect">
              <a:avLst/>
            </a:prstGeom>
          </p:spPr>
          <p:txBody>
            <a:bodyPr anchor="ctr" rtlCol="false" tIns="50800" lIns="50800" bIns="50800" rIns="50800"/>
            <a:lstStyle/>
            <a:p>
              <a:pPr algn="ctr">
                <a:lnSpc>
                  <a:spcPts val="3640"/>
                </a:lnSpc>
              </a:pPr>
            </a:p>
          </p:txBody>
        </p:sp>
      </p:grpSp>
      <p:grpSp>
        <p:nvGrpSpPr>
          <p:cNvPr name="Group 45" id="45"/>
          <p:cNvGrpSpPr/>
          <p:nvPr/>
        </p:nvGrpSpPr>
        <p:grpSpPr>
          <a:xfrm rot="0">
            <a:off x="2150359" y="3895369"/>
            <a:ext cx="442377" cy="277995"/>
            <a:chOff x="0" y="0"/>
            <a:chExt cx="950819" cy="597507"/>
          </a:xfrm>
        </p:grpSpPr>
        <p:sp>
          <p:nvSpPr>
            <p:cNvPr name="Freeform 46" id="46"/>
            <p:cNvSpPr/>
            <p:nvPr/>
          </p:nvSpPr>
          <p:spPr>
            <a:xfrm flipH="false" flipV="false" rot="0">
              <a:off x="0" y="0"/>
              <a:ext cx="950819" cy="597507"/>
            </a:xfrm>
            <a:custGeom>
              <a:avLst/>
              <a:gdLst/>
              <a:ahLst/>
              <a:cxnLst/>
              <a:rect r="r" b="b" t="t" l="l"/>
              <a:pathLst>
                <a:path h="597507" w="950819">
                  <a:moveTo>
                    <a:pt x="475409" y="0"/>
                  </a:moveTo>
                  <a:cubicBezTo>
                    <a:pt x="212848" y="0"/>
                    <a:pt x="0" y="133756"/>
                    <a:pt x="0" y="298753"/>
                  </a:cubicBezTo>
                  <a:cubicBezTo>
                    <a:pt x="0" y="463750"/>
                    <a:pt x="212848" y="597507"/>
                    <a:pt x="475409" y="597507"/>
                  </a:cubicBezTo>
                  <a:cubicBezTo>
                    <a:pt x="737971" y="597507"/>
                    <a:pt x="950819" y="463750"/>
                    <a:pt x="950819" y="298753"/>
                  </a:cubicBezTo>
                  <a:cubicBezTo>
                    <a:pt x="950819" y="133756"/>
                    <a:pt x="737971" y="0"/>
                    <a:pt x="475409" y="0"/>
                  </a:cubicBezTo>
                  <a:close/>
                </a:path>
              </a:pathLst>
            </a:custGeom>
            <a:ln w="9525" cap="sq">
              <a:solidFill>
                <a:srgbClr val="68B266"/>
              </a:solidFill>
              <a:prstDash val="solid"/>
              <a:miter/>
            </a:ln>
          </p:spPr>
        </p:sp>
        <p:sp>
          <p:nvSpPr>
            <p:cNvPr name="TextBox 47" id="47"/>
            <p:cNvSpPr txBox="true"/>
            <p:nvPr/>
          </p:nvSpPr>
          <p:spPr>
            <a:xfrm>
              <a:off x="89139" y="8391"/>
              <a:ext cx="772540" cy="533099"/>
            </a:xfrm>
            <a:prstGeom prst="rect">
              <a:avLst/>
            </a:prstGeom>
          </p:spPr>
          <p:txBody>
            <a:bodyPr anchor="ctr" rtlCol="false" tIns="50800" lIns="50800" bIns="50800" rIns="50800"/>
            <a:lstStyle/>
            <a:p>
              <a:pPr algn="ctr">
                <a:lnSpc>
                  <a:spcPts val="3640"/>
                </a:lnSpc>
              </a:pPr>
            </a:p>
          </p:txBody>
        </p:sp>
      </p:grpSp>
      <p:grpSp>
        <p:nvGrpSpPr>
          <p:cNvPr name="Group 48" id="48"/>
          <p:cNvGrpSpPr/>
          <p:nvPr/>
        </p:nvGrpSpPr>
        <p:grpSpPr>
          <a:xfrm rot="0">
            <a:off x="10827796" y="8012210"/>
            <a:ext cx="276225" cy="276225"/>
            <a:chOff x="0" y="0"/>
            <a:chExt cx="910864" cy="910864"/>
          </a:xfrm>
        </p:grpSpPr>
        <p:sp>
          <p:nvSpPr>
            <p:cNvPr name="Freeform 49" id="49"/>
            <p:cNvSpPr/>
            <p:nvPr/>
          </p:nvSpPr>
          <p:spPr>
            <a:xfrm flipH="false" flipV="false" rot="0">
              <a:off x="0" y="0"/>
              <a:ext cx="910863" cy="910863"/>
            </a:xfrm>
            <a:custGeom>
              <a:avLst/>
              <a:gdLst/>
              <a:ahLst/>
              <a:cxnLst/>
              <a:rect r="r" b="b" t="t" l="l"/>
              <a:pathLst>
                <a:path h="910863" w="910863">
                  <a:moveTo>
                    <a:pt x="455432" y="0"/>
                  </a:moveTo>
                  <a:cubicBezTo>
                    <a:pt x="203904" y="0"/>
                    <a:pt x="0" y="203904"/>
                    <a:pt x="0" y="455432"/>
                  </a:cubicBezTo>
                  <a:cubicBezTo>
                    <a:pt x="0" y="706960"/>
                    <a:pt x="203904" y="910863"/>
                    <a:pt x="455432" y="910863"/>
                  </a:cubicBezTo>
                  <a:cubicBezTo>
                    <a:pt x="706960" y="910863"/>
                    <a:pt x="910863" y="706960"/>
                    <a:pt x="910863" y="455432"/>
                  </a:cubicBezTo>
                  <a:cubicBezTo>
                    <a:pt x="910863" y="203904"/>
                    <a:pt x="706960" y="0"/>
                    <a:pt x="455432" y="0"/>
                  </a:cubicBezTo>
                  <a:close/>
                </a:path>
              </a:pathLst>
            </a:custGeom>
            <a:solidFill>
              <a:srgbClr val="63AC5F"/>
            </a:solidFill>
            <a:ln w="9525" cap="sq">
              <a:solidFill>
                <a:srgbClr val="68B266"/>
              </a:solidFill>
              <a:prstDash val="solid"/>
              <a:miter/>
            </a:ln>
          </p:spPr>
        </p:sp>
        <p:sp>
          <p:nvSpPr>
            <p:cNvPr name="TextBox 50" id="50"/>
            <p:cNvSpPr txBox="true"/>
            <p:nvPr/>
          </p:nvSpPr>
          <p:spPr>
            <a:xfrm>
              <a:off x="85393" y="37768"/>
              <a:ext cx="740077" cy="787702"/>
            </a:xfrm>
            <a:prstGeom prst="rect">
              <a:avLst/>
            </a:prstGeom>
          </p:spPr>
          <p:txBody>
            <a:bodyPr anchor="ctr" rtlCol="false" tIns="50800" lIns="50800" bIns="50800" rIns="50800"/>
            <a:lstStyle/>
            <a:p>
              <a:pPr algn="ctr">
                <a:lnSpc>
                  <a:spcPts val="3640"/>
                </a:lnSpc>
              </a:pPr>
            </a:p>
          </p:txBody>
        </p:sp>
      </p:grpSp>
      <p:grpSp>
        <p:nvGrpSpPr>
          <p:cNvPr name="Group 51" id="51"/>
          <p:cNvGrpSpPr/>
          <p:nvPr/>
        </p:nvGrpSpPr>
        <p:grpSpPr>
          <a:xfrm rot="0">
            <a:off x="10827796" y="6926360"/>
            <a:ext cx="276225" cy="276225"/>
            <a:chOff x="0" y="0"/>
            <a:chExt cx="910864" cy="910864"/>
          </a:xfrm>
        </p:grpSpPr>
        <p:sp>
          <p:nvSpPr>
            <p:cNvPr name="Freeform 52" id="52"/>
            <p:cNvSpPr/>
            <p:nvPr/>
          </p:nvSpPr>
          <p:spPr>
            <a:xfrm flipH="false" flipV="false" rot="0">
              <a:off x="0" y="0"/>
              <a:ext cx="910863" cy="910863"/>
            </a:xfrm>
            <a:custGeom>
              <a:avLst/>
              <a:gdLst/>
              <a:ahLst/>
              <a:cxnLst/>
              <a:rect r="r" b="b" t="t" l="l"/>
              <a:pathLst>
                <a:path h="910863" w="910863">
                  <a:moveTo>
                    <a:pt x="455432" y="0"/>
                  </a:moveTo>
                  <a:cubicBezTo>
                    <a:pt x="203904" y="0"/>
                    <a:pt x="0" y="203904"/>
                    <a:pt x="0" y="455432"/>
                  </a:cubicBezTo>
                  <a:cubicBezTo>
                    <a:pt x="0" y="706960"/>
                    <a:pt x="203904" y="910863"/>
                    <a:pt x="455432" y="910863"/>
                  </a:cubicBezTo>
                  <a:cubicBezTo>
                    <a:pt x="706960" y="910863"/>
                    <a:pt x="910863" y="706960"/>
                    <a:pt x="910863" y="455432"/>
                  </a:cubicBezTo>
                  <a:cubicBezTo>
                    <a:pt x="910863" y="203904"/>
                    <a:pt x="706960" y="0"/>
                    <a:pt x="455432" y="0"/>
                  </a:cubicBezTo>
                  <a:close/>
                </a:path>
              </a:pathLst>
            </a:custGeom>
            <a:solidFill>
              <a:srgbClr val="CB6CE6"/>
            </a:solidFill>
            <a:ln w="9525" cap="sq">
              <a:solidFill>
                <a:srgbClr val="68B266"/>
              </a:solidFill>
              <a:prstDash val="solid"/>
              <a:miter/>
            </a:ln>
          </p:spPr>
        </p:sp>
        <p:sp>
          <p:nvSpPr>
            <p:cNvPr name="TextBox 53" id="53"/>
            <p:cNvSpPr txBox="true"/>
            <p:nvPr/>
          </p:nvSpPr>
          <p:spPr>
            <a:xfrm>
              <a:off x="85393" y="37768"/>
              <a:ext cx="740077" cy="787702"/>
            </a:xfrm>
            <a:prstGeom prst="rect">
              <a:avLst/>
            </a:prstGeom>
          </p:spPr>
          <p:txBody>
            <a:bodyPr anchor="ctr" rtlCol="false" tIns="50800" lIns="50800" bIns="50800" rIns="50800"/>
            <a:lstStyle/>
            <a:p>
              <a:pPr algn="ctr">
                <a:lnSpc>
                  <a:spcPts val="3640"/>
                </a:lnSpc>
              </a:pPr>
            </a:p>
          </p:txBody>
        </p:sp>
      </p:grpSp>
      <p:grpSp>
        <p:nvGrpSpPr>
          <p:cNvPr name="Group 54" id="54"/>
          <p:cNvGrpSpPr/>
          <p:nvPr/>
        </p:nvGrpSpPr>
        <p:grpSpPr>
          <a:xfrm rot="-2778951">
            <a:off x="5933279" y="8673808"/>
            <a:ext cx="1095964" cy="345820"/>
            <a:chOff x="0" y="0"/>
            <a:chExt cx="1461285" cy="461093"/>
          </a:xfrm>
        </p:grpSpPr>
        <p:grpSp>
          <p:nvGrpSpPr>
            <p:cNvPr name="Group 55" id="55"/>
            <p:cNvGrpSpPr/>
            <p:nvPr/>
          </p:nvGrpSpPr>
          <p:grpSpPr>
            <a:xfrm rot="0">
              <a:off x="0" y="0"/>
              <a:ext cx="1461285" cy="461093"/>
              <a:chOff x="0" y="0"/>
              <a:chExt cx="2355601" cy="743285"/>
            </a:xfrm>
          </p:grpSpPr>
          <p:sp>
            <p:nvSpPr>
              <p:cNvPr name="Freeform 56" id="56"/>
              <p:cNvSpPr/>
              <p:nvPr/>
            </p:nvSpPr>
            <p:spPr>
              <a:xfrm flipH="false" flipV="false" rot="0">
                <a:off x="0" y="0"/>
                <a:ext cx="2355601" cy="743285"/>
              </a:xfrm>
              <a:custGeom>
                <a:avLst/>
                <a:gdLst/>
                <a:ahLst/>
                <a:cxnLst/>
                <a:rect r="r" b="b" t="t" l="l"/>
                <a:pathLst>
                  <a:path h="743285" w="2355601">
                    <a:moveTo>
                      <a:pt x="1177800" y="0"/>
                    </a:moveTo>
                    <a:cubicBezTo>
                      <a:pt x="527319" y="0"/>
                      <a:pt x="0" y="166390"/>
                      <a:pt x="0" y="371642"/>
                    </a:cubicBezTo>
                    <a:cubicBezTo>
                      <a:pt x="0" y="576895"/>
                      <a:pt x="527319" y="743285"/>
                      <a:pt x="1177800" y="743285"/>
                    </a:cubicBezTo>
                    <a:cubicBezTo>
                      <a:pt x="1828282" y="743285"/>
                      <a:pt x="2355601" y="576895"/>
                      <a:pt x="2355601" y="371642"/>
                    </a:cubicBezTo>
                    <a:cubicBezTo>
                      <a:pt x="2355601" y="166390"/>
                      <a:pt x="1828282" y="0"/>
                      <a:pt x="1177800" y="0"/>
                    </a:cubicBezTo>
                    <a:close/>
                  </a:path>
                </a:pathLst>
              </a:custGeom>
              <a:solidFill>
                <a:srgbClr val="CB6CE6">
                  <a:alpha val="49804"/>
                </a:srgbClr>
              </a:solidFill>
              <a:ln w="9525" cap="sq">
                <a:solidFill>
                  <a:srgbClr val="CB6CE6">
                    <a:alpha val="49804"/>
                  </a:srgbClr>
                </a:solidFill>
                <a:prstDash val="solid"/>
                <a:miter/>
              </a:ln>
            </p:spPr>
          </p:sp>
          <p:sp>
            <p:nvSpPr>
              <p:cNvPr name="TextBox 57" id="57"/>
              <p:cNvSpPr txBox="true"/>
              <p:nvPr/>
            </p:nvSpPr>
            <p:spPr>
              <a:xfrm>
                <a:off x="220838" y="22058"/>
                <a:ext cx="1913926" cy="651544"/>
              </a:xfrm>
              <a:prstGeom prst="rect">
                <a:avLst/>
              </a:prstGeom>
            </p:spPr>
            <p:txBody>
              <a:bodyPr anchor="ctr" rtlCol="false" tIns="50800" lIns="50800" bIns="50800" rIns="50800"/>
              <a:lstStyle/>
              <a:p>
                <a:pPr algn="ctr">
                  <a:lnSpc>
                    <a:spcPts val="3640"/>
                  </a:lnSpc>
                </a:pPr>
              </a:p>
            </p:txBody>
          </p:sp>
        </p:grpSp>
        <p:grpSp>
          <p:nvGrpSpPr>
            <p:cNvPr name="Group 58" id="58"/>
            <p:cNvGrpSpPr/>
            <p:nvPr/>
          </p:nvGrpSpPr>
          <p:grpSpPr>
            <a:xfrm rot="0">
              <a:off x="0" y="0"/>
              <a:ext cx="1461285" cy="461093"/>
              <a:chOff x="0" y="0"/>
              <a:chExt cx="2355601" cy="743285"/>
            </a:xfrm>
          </p:grpSpPr>
          <p:sp>
            <p:nvSpPr>
              <p:cNvPr name="Freeform 59" id="59"/>
              <p:cNvSpPr/>
              <p:nvPr/>
            </p:nvSpPr>
            <p:spPr>
              <a:xfrm flipH="false" flipV="false" rot="0">
                <a:off x="0" y="0"/>
                <a:ext cx="2355601" cy="743285"/>
              </a:xfrm>
              <a:custGeom>
                <a:avLst/>
                <a:gdLst/>
                <a:ahLst/>
                <a:cxnLst/>
                <a:rect r="r" b="b" t="t" l="l"/>
                <a:pathLst>
                  <a:path h="743285" w="2355601">
                    <a:moveTo>
                      <a:pt x="1177800" y="0"/>
                    </a:moveTo>
                    <a:cubicBezTo>
                      <a:pt x="527319" y="0"/>
                      <a:pt x="0" y="166390"/>
                      <a:pt x="0" y="371642"/>
                    </a:cubicBezTo>
                    <a:cubicBezTo>
                      <a:pt x="0" y="576895"/>
                      <a:pt x="527319" y="743285"/>
                      <a:pt x="1177800" y="743285"/>
                    </a:cubicBezTo>
                    <a:cubicBezTo>
                      <a:pt x="1828282" y="743285"/>
                      <a:pt x="2355601" y="576895"/>
                      <a:pt x="2355601" y="371642"/>
                    </a:cubicBezTo>
                    <a:cubicBezTo>
                      <a:pt x="2355601" y="166390"/>
                      <a:pt x="1828282" y="0"/>
                      <a:pt x="1177800" y="0"/>
                    </a:cubicBezTo>
                    <a:close/>
                  </a:path>
                </a:pathLst>
              </a:custGeom>
              <a:ln w="9525" cap="sq">
                <a:solidFill>
                  <a:srgbClr val="CB6CE6">
                    <a:alpha val="88627"/>
                  </a:srgbClr>
                </a:solidFill>
                <a:prstDash val="solid"/>
                <a:miter/>
              </a:ln>
            </p:spPr>
          </p:sp>
          <p:sp>
            <p:nvSpPr>
              <p:cNvPr name="TextBox 60" id="60"/>
              <p:cNvSpPr txBox="true"/>
              <p:nvPr/>
            </p:nvSpPr>
            <p:spPr>
              <a:xfrm>
                <a:off x="220838" y="22058"/>
                <a:ext cx="1913926" cy="651544"/>
              </a:xfrm>
              <a:prstGeom prst="rect">
                <a:avLst/>
              </a:prstGeom>
            </p:spPr>
            <p:txBody>
              <a:bodyPr anchor="ctr" rtlCol="false" tIns="50800" lIns="50800" bIns="50800" rIns="50800"/>
              <a:lstStyle/>
              <a:p>
                <a:pPr algn="ctr">
                  <a:lnSpc>
                    <a:spcPts val="3640"/>
                  </a:lnSpc>
                </a:pPr>
              </a:p>
            </p:txBody>
          </p:sp>
        </p:grpSp>
      </p:grpSp>
      <p:grpSp>
        <p:nvGrpSpPr>
          <p:cNvPr name="Group 61" id="61"/>
          <p:cNvGrpSpPr/>
          <p:nvPr/>
        </p:nvGrpSpPr>
        <p:grpSpPr>
          <a:xfrm rot="0">
            <a:off x="1426721" y="6784013"/>
            <a:ext cx="1095964" cy="284694"/>
            <a:chOff x="0" y="0"/>
            <a:chExt cx="1461285" cy="379591"/>
          </a:xfrm>
        </p:grpSpPr>
        <p:grpSp>
          <p:nvGrpSpPr>
            <p:cNvPr name="Group 62" id="62"/>
            <p:cNvGrpSpPr/>
            <p:nvPr/>
          </p:nvGrpSpPr>
          <p:grpSpPr>
            <a:xfrm rot="0">
              <a:off x="0" y="0"/>
              <a:ext cx="1461285" cy="379591"/>
              <a:chOff x="0" y="0"/>
              <a:chExt cx="2355601" cy="611904"/>
            </a:xfrm>
          </p:grpSpPr>
          <p:sp>
            <p:nvSpPr>
              <p:cNvPr name="Freeform 63" id="63"/>
              <p:cNvSpPr/>
              <p:nvPr/>
            </p:nvSpPr>
            <p:spPr>
              <a:xfrm flipH="false" flipV="false" rot="0">
                <a:off x="0" y="0"/>
                <a:ext cx="2355601" cy="611904"/>
              </a:xfrm>
              <a:custGeom>
                <a:avLst/>
                <a:gdLst/>
                <a:ahLst/>
                <a:cxnLst/>
                <a:rect r="r" b="b" t="t" l="l"/>
                <a:pathLst>
                  <a:path h="611904" w="2355601">
                    <a:moveTo>
                      <a:pt x="1177800" y="0"/>
                    </a:moveTo>
                    <a:cubicBezTo>
                      <a:pt x="527319" y="0"/>
                      <a:pt x="0" y="136979"/>
                      <a:pt x="0" y="305952"/>
                    </a:cubicBezTo>
                    <a:cubicBezTo>
                      <a:pt x="0" y="474924"/>
                      <a:pt x="527319" y="611904"/>
                      <a:pt x="1177800" y="611904"/>
                    </a:cubicBezTo>
                    <a:cubicBezTo>
                      <a:pt x="1828282" y="611904"/>
                      <a:pt x="2355601" y="474924"/>
                      <a:pt x="2355601" y="305952"/>
                    </a:cubicBezTo>
                    <a:cubicBezTo>
                      <a:pt x="2355601" y="136979"/>
                      <a:pt x="1828282" y="0"/>
                      <a:pt x="1177800" y="0"/>
                    </a:cubicBezTo>
                    <a:close/>
                  </a:path>
                </a:pathLst>
              </a:custGeom>
              <a:solidFill>
                <a:srgbClr val="CB6CE6">
                  <a:alpha val="49804"/>
                </a:srgbClr>
              </a:solidFill>
              <a:ln w="9525" cap="sq">
                <a:solidFill>
                  <a:srgbClr val="CB6CE6">
                    <a:alpha val="49804"/>
                  </a:srgbClr>
                </a:solidFill>
                <a:prstDash val="solid"/>
                <a:miter/>
              </a:ln>
            </p:spPr>
          </p:sp>
          <p:sp>
            <p:nvSpPr>
              <p:cNvPr name="TextBox 64" id="64"/>
              <p:cNvSpPr txBox="true"/>
              <p:nvPr/>
            </p:nvSpPr>
            <p:spPr>
              <a:xfrm>
                <a:off x="220838" y="9741"/>
                <a:ext cx="1913926" cy="544797"/>
              </a:xfrm>
              <a:prstGeom prst="rect">
                <a:avLst/>
              </a:prstGeom>
            </p:spPr>
            <p:txBody>
              <a:bodyPr anchor="ctr" rtlCol="false" tIns="50800" lIns="50800" bIns="50800" rIns="50800"/>
              <a:lstStyle/>
              <a:p>
                <a:pPr algn="ctr">
                  <a:lnSpc>
                    <a:spcPts val="3640"/>
                  </a:lnSpc>
                </a:pPr>
              </a:p>
            </p:txBody>
          </p:sp>
        </p:grpSp>
        <p:grpSp>
          <p:nvGrpSpPr>
            <p:cNvPr name="Group 65" id="65"/>
            <p:cNvGrpSpPr/>
            <p:nvPr/>
          </p:nvGrpSpPr>
          <p:grpSpPr>
            <a:xfrm rot="0">
              <a:off x="0" y="0"/>
              <a:ext cx="1461285" cy="379591"/>
              <a:chOff x="0" y="0"/>
              <a:chExt cx="2355601" cy="611904"/>
            </a:xfrm>
          </p:grpSpPr>
          <p:sp>
            <p:nvSpPr>
              <p:cNvPr name="Freeform 66" id="66"/>
              <p:cNvSpPr/>
              <p:nvPr/>
            </p:nvSpPr>
            <p:spPr>
              <a:xfrm flipH="false" flipV="false" rot="0">
                <a:off x="0" y="0"/>
                <a:ext cx="2355601" cy="611904"/>
              </a:xfrm>
              <a:custGeom>
                <a:avLst/>
                <a:gdLst/>
                <a:ahLst/>
                <a:cxnLst/>
                <a:rect r="r" b="b" t="t" l="l"/>
                <a:pathLst>
                  <a:path h="611904" w="2355601">
                    <a:moveTo>
                      <a:pt x="1177800" y="0"/>
                    </a:moveTo>
                    <a:cubicBezTo>
                      <a:pt x="527319" y="0"/>
                      <a:pt x="0" y="136979"/>
                      <a:pt x="0" y="305952"/>
                    </a:cubicBezTo>
                    <a:cubicBezTo>
                      <a:pt x="0" y="474924"/>
                      <a:pt x="527319" y="611904"/>
                      <a:pt x="1177800" y="611904"/>
                    </a:cubicBezTo>
                    <a:cubicBezTo>
                      <a:pt x="1828282" y="611904"/>
                      <a:pt x="2355601" y="474924"/>
                      <a:pt x="2355601" y="305952"/>
                    </a:cubicBezTo>
                    <a:cubicBezTo>
                      <a:pt x="2355601" y="136979"/>
                      <a:pt x="1828282" y="0"/>
                      <a:pt x="1177800" y="0"/>
                    </a:cubicBezTo>
                    <a:close/>
                  </a:path>
                </a:pathLst>
              </a:custGeom>
              <a:ln w="9525" cap="sq">
                <a:solidFill>
                  <a:srgbClr val="CB6CE6">
                    <a:alpha val="88627"/>
                  </a:srgbClr>
                </a:solidFill>
                <a:prstDash val="solid"/>
                <a:miter/>
              </a:ln>
            </p:spPr>
          </p:sp>
          <p:sp>
            <p:nvSpPr>
              <p:cNvPr name="TextBox 67" id="67"/>
              <p:cNvSpPr txBox="true"/>
              <p:nvPr/>
            </p:nvSpPr>
            <p:spPr>
              <a:xfrm>
                <a:off x="220838" y="9741"/>
                <a:ext cx="1913926" cy="544797"/>
              </a:xfrm>
              <a:prstGeom prst="rect">
                <a:avLst/>
              </a:prstGeom>
            </p:spPr>
            <p:txBody>
              <a:bodyPr anchor="ctr" rtlCol="false" tIns="50800" lIns="50800" bIns="50800" rIns="50800"/>
              <a:lstStyle/>
              <a:p>
                <a:pPr algn="ctr">
                  <a:lnSpc>
                    <a:spcPts val="3640"/>
                  </a:lnSpc>
                </a:pPr>
              </a:p>
            </p:txBody>
          </p:sp>
        </p:grpSp>
      </p:grpSp>
      <p:grpSp>
        <p:nvGrpSpPr>
          <p:cNvPr name="Group 68" id="68"/>
          <p:cNvGrpSpPr/>
          <p:nvPr/>
        </p:nvGrpSpPr>
        <p:grpSpPr>
          <a:xfrm rot="0">
            <a:off x="4196199" y="5990333"/>
            <a:ext cx="1399386" cy="715375"/>
            <a:chOff x="0" y="0"/>
            <a:chExt cx="886805" cy="453340"/>
          </a:xfrm>
        </p:grpSpPr>
        <p:sp>
          <p:nvSpPr>
            <p:cNvPr name="Freeform 69" id="69"/>
            <p:cNvSpPr/>
            <p:nvPr/>
          </p:nvSpPr>
          <p:spPr>
            <a:xfrm flipH="false" flipV="false" rot="0">
              <a:off x="0" y="0"/>
              <a:ext cx="886805" cy="453340"/>
            </a:xfrm>
            <a:custGeom>
              <a:avLst/>
              <a:gdLst/>
              <a:ahLst/>
              <a:cxnLst/>
              <a:rect r="r" b="b" t="t" l="l"/>
              <a:pathLst>
                <a:path h="453340" w="886805">
                  <a:moveTo>
                    <a:pt x="443402" y="0"/>
                  </a:moveTo>
                  <a:cubicBezTo>
                    <a:pt x="198518" y="0"/>
                    <a:pt x="0" y="101484"/>
                    <a:pt x="0" y="226670"/>
                  </a:cubicBezTo>
                  <a:cubicBezTo>
                    <a:pt x="0" y="351856"/>
                    <a:pt x="198518" y="453340"/>
                    <a:pt x="443402" y="453340"/>
                  </a:cubicBezTo>
                  <a:cubicBezTo>
                    <a:pt x="688287" y="453340"/>
                    <a:pt x="886805" y="351856"/>
                    <a:pt x="886805" y="226670"/>
                  </a:cubicBezTo>
                  <a:cubicBezTo>
                    <a:pt x="886805" y="101484"/>
                    <a:pt x="688287" y="0"/>
                    <a:pt x="443402" y="0"/>
                  </a:cubicBezTo>
                  <a:close/>
                </a:path>
              </a:pathLst>
            </a:custGeom>
            <a:ln w="47625" cap="sq">
              <a:solidFill>
                <a:srgbClr val="CC4636"/>
              </a:solidFill>
              <a:prstDash val="solid"/>
              <a:miter/>
            </a:ln>
          </p:spPr>
        </p:sp>
        <p:sp>
          <p:nvSpPr>
            <p:cNvPr name="TextBox 70" id="70"/>
            <p:cNvSpPr txBox="true"/>
            <p:nvPr/>
          </p:nvSpPr>
          <p:spPr>
            <a:xfrm>
              <a:off x="83138" y="-5124"/>
              <a:ext cx="720529" cy="415964"/>
            </a:xfrm>
            <a:prstGeom prst="rect">
              <a:avLst/>
            </a:prstGeom>
          </p:spPr>
          <p:txBody>
            <a:bodyPr anchor="ctr" rtlCol="false" tIns="50800" lIns="50800" bIns="50800" rIns="50800"/>
            <a:lstStyle/>
            <a:p>
              <a:pPr algn="ctr">
                <a:lnSpc>
                  <a:spcPts val="3640"/>
                </a:lnSpc>
              </a:pPr>
            </a:p>
          </p:txBody>
        </p:sp>
      </p:grpSp>
      <p:grpSp>
        <p:nvGrpSpPr>
          <p:cNvPr name="Group 71" id="71"/>
          <p:cNvGrpSpPr/>
          <p:nvPr/>
        </p:nvGrpSpPr>
        <p:grpSpPr>
          <a:xfrm rot="0">
            <a:off x="5376871" y="6568672"/>
            <a:ext cx="743406" cy="715375"/>
            <a:chOff x="0" y="0"/>
            <a:chExt cx="471104" cy="453340"/>
          </a:xfrm>
        </p:grpSpPr>
        <p:sp>
          <p:nvSpPr>
            <p:cNvPr name="Freeform 72" id="72"/>
            <p:cNvSpPr/>
            <p:nvPr/>
          </p:nvSpPr>
          <p:spPr>
            <a:xfrm flipH="false" flipV="false" rot="0">
              <a:off x="0" y="0"/>
              <a:ext cx="471104" cy="453340"/>
            </a:xfrm>
            <a:custGeom>
              <a:avLst/>
              <a:gdLst/>
              <a:ahLst/>
              <a:cxnLst/>
              <a:rect r="r" b="b" t="t" l="l"/>
              <a:pathLst>
                <a:path h="453340" w="471104">
                  <a:moveTo>
                    <a:pt x="235552" y="0"/>
                  </a:moveTo>
                  <a:cubicBezTo>
                    <a:pt x="105460" y="0"/>
                    <a:pt x="0" y="101484"/>
                    <a:pt x="0" y="226670"/>
                  </a:cubicBezTo>
                  <a:cubicBezTo>
                    <a:pt x="0" y="351856"/>
                    <a:pt x="105460" y="453340"/>
                    <a:pt x="235552" y="453340"/>
                  </a:cubicBezTo>
                  <a:cubicBezTo>
                    <a:pt x="365644" y="453340"/>
                    <a:pt x="471104" y="351856"/>
                    <a:pt x="471104" y="226670"/>
                  </a:cubicBezTo>
                  <a:cubicBezTo>
                    <a:pt x="471104" y="101484"/>
                    <a:pt x="365644" y="0"/>
                    <a:pt x="235552" y="0"/>
                  </a:cubicBezTo>
                  <a:close/>
                </a:path>
              </a:pathLst>
            </a:custGeom>
            <a:ln w="47625" cap="sq">
              <a:solidFill>
                <a:srgbClr val="CC4636"/>
              </a:solidFill>
              <a:prstDash val="solid"/>
              <a:miter/>
            </a:ln>
          </p:spPr>
        </p:sp>
        <p:sp>
          <p:nvSpPr>
            <p:cNvPr name="TextBox 73" id="73"/>
            <p:cNvSpPr txBox="true"/>
            <p:nvPr/>
          </p:nvSpPr>
          <p:spPr>
            <a:xfrm>
              <a:off x="44166" y="-5124"/>
              <a:ext cx="382772" cy="415964"/>
            </a:xfrm>
            <a:prstGeom prst="rect">
              <a:avLst/>
            </a:prstGeom>
          </p:spPr>
          <p:txBody>
            <a:bodyPr anchor="ctr" rtlCol="false" tIns="50800" lIns="50800" bIns="50800" rIns="50800"/>
            <a:lstStyle/>
            <a:p>
              <a:pPr algn="ctr">
                <a:lnSpc>
                  <a:spcPts val="3640"/>
                </a:lnSpc>
              </a:pPr>
            </a:p>
          </p:txBody>
        </p:sp>
      </p:grpSp>
      <p:grpSp>
        <p:nvGrpSpPr>
          <p:cNvPr name="Group 74" id="74"/>
          <p:cNvGrpSpPr/>
          <p:nvPr/>
        </p:nvGrpSpPr>
        <p:grpSpPr>
          <a:xfrm rot="0">
            <a:off x="10378772" y="3346365"/>
            <a:ext cx="280969" cy="270375"/>
            <a:chOff x="0" y="0"/>
            <a:chExt cx="471104" cy="453340"/>
          </a:xfrm>
        </p:grpSpPr>
        <p:sp>
          <p:nvSpPr>
            <p:cNvPr name="Freeform 75" id="75"/>
            <p:cNvSpPr/>
            <p:nvPr/>
          </p:nvSpPr>
          <p:spPr>
            <a:xfrm flipH="false" flipV="false" rot="0">
              <a:off x="0" y="0"/>
              <a:ext cx="471104" cy="453340"/>
            </a:xfrm>
            <a:custGeom>
              <a:avLst/>
              <a:gdLst/>
              <a:ahLst/>
              <a:cxnLst/>
              <a:rect r="r" b="b" t="t" l="l"/>
              <a:pathLst>
                <a:path h="453340" w="471104">
                  <a:moveTo>
                    <a:pt x="235552" y="0"/>
                  </a:moveTo>
                  <a:cubicBezTo>
                    <a:pt x="105460" y="0"/>
                    <a:pt x="0" y="101484"/>
                    <a:pt x="0" y="226670"/>
                  </a:cubicBezTo>
                  <a:cubicBezTo>
                    <a:pt x="0" y="351856"/>
                    <a:pt x="105460" y="453340"/>
                    <a:pt x="235552" y="453340"/>
                  </a:cubicBezTo>
                  <a:cubicBezTo>
                    <a:pt x="365644" y="453340"/>
                    <a:pt x="471104" y="351856"/>
                    <a:pt x="471104" y="226670"/>
                  </a:cubicBezTo>
                  <a:cubicBezTo>
                    <a:pt x="471104" y="101484"/>
                    <a:pt x="365644" y="0"/>
                    <a:pt x="235552" y="0"/>
                  </a:cubicBezTo>
                  <a:close/>
                </a:path>
              </a:pathLst>
            </a:custGeom>
            <a:ln w="47625" cap="sq">
              <a:solidFill>
                <a:srgbClr val="CC4636"/>
              </a:solidFill>
              <a:prstDash val="solid"/>
              <a:miter/>
            </a:ln>
          </p:spPr>
        </p:sp>
        <p:sp>
          <p:nvSpPr>
            <p:cNvPr name="TextBox 76" id="76"/>
            <p:cNvSpPr txBox="true"/>
            <p:nvPr/>
          </p:nvSpPr>
          <p:spPr>
            <a:xfrm>
              <a:off x="44166" y="-5124"/>
              <a:ext cx="382772" cy="415964"/>
            </a:xfrm>
            <a:prstGeom prst="rect">
              <a:avLst/>
            </a:prstGeom>
          </p:spPr>
          <p:txBody>
            <a:bodyPr anchor="ctr" rtlCol="false" tIns="50800" lIns="50800" bIns="50800" rIns="50800"/>
            <a:lstStyle/>
            <a:p>
              <a:pPr algn="ctr">
                <a:lnSpc>
                  <a:spcPts val="3640"/>
                </a:lnSpc>
              </a:pP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324A5B"/>
        </a:solidFill>
      </p:bgPr>
    </p:bg>
    <p:spTree>
      <p:nvGrpSpPr>
        <p:cNvPr id="1" name=""/>
        <p:cNvGrpSpPr/>
        <p:nvPr/>
      </p:nvGrpSpPr>
      <p:grpSpPr>
        <a:xfrm>
          <a:off x="0" y="0"/>
          <a:ext cx="0" cy="0"/>
          <a:chOff x="0" y="0"/>
          <a:chExt cx="0" cy="0"/>
        </a:xfrm>
      </p:grpSpPr>
      <p:sp>
        <p:nvSpPr>
          <p:cNvPr name="Freeform 2" id="2"/>
          <p:cNvSpPr/>
          <p:nvPr/>
        </p:nvSpPr>
        <p:spPr>
          <a:xfrm flipH="false" flipV="false" rot="0">
            <a:off x="152400" y="-515328"/>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39000"/>
            </a:blip>
            <a:stretch>
              <a:fillRect l="0" t="0" r="0" b="0"/>
            </a:stretch>
          </a:blipFill>
        </p:spPr>
      </p:sp>
      <p:sp>
        <p:nvSpPr>
          <p:cNvPr name="TextBox 3" id="3"/>
          <p:cNvSpPr txBox="true"/>
          <p:nvPr/>
        </p:nvSpPr>
        <p:spPr>
          <a:xfrm rot="0">
            <a:off x="2451954" y="914400"/>
            <a:ext cx="4606351" cy="995700"/>
          </a:xfrm>
          <a:prstGeom prst="rect">
            <a:avLst/>
          </a:prstGeom>
        </p:spPr>
        <p:txBody>
          <a:bodyPr anchor="t" rtlCol="false" tIns="0" lIns="0" bIns="0" rIns="0">
            <a:spAutoFit/>
          </a:bodyPr>
          <a:lstStyle/>
          <a:p>
            <a:pPr algn="l">
              <a:lnSpc>
                <a:spcPts val="8119"/>
              </a:lnSpc>
              <a:spcBef>
                <a:spcPct val="0"/>
              </a:spcBef>
            </a:pPr>
            <a:r>
              <a:rPr lang="en-US" sz="5799">
                <a:solidFill>
                  <a:srgbClr val="DCDDDD"/>
                </a:solidFill>
                <a:latin typeface="Black Ops One"/>
                <a:ea typeface="Black Ops One"/>
                <a:cs typeface="Black Ops One"/>
                <a:sym typeface="Black Ops One"/>
              </a:rPr>
              <a:t>Limitations</a:t>
            </a:r>
          </a:p>
        </p:txBody>
      </p:sp>
      <p:grpSp>
        <p:nvGrpSpPr>
          <p:cNvPr name="Group 4" id="4"/>
          <p:cNvGrpSpPr/>
          <p:nvPr/>
        </p:nvGrpSpPr>
        <p:grpSpPr>
          <a:xfrm rot="0">
            <a:off x="1033009" y="2829970"/>
            <a:ext cx="7444241" cy="5999431"/>
            <a:chOff x="0" y="0"/>
            <a:chExt cx="1960623" cy="1580097"/>
          </a:xfrm>
        </p:grpSpPr>
        <p:sp>
          <p:nvSpPr>
            <p:cNvPr name="Freeform 5" id="5"/>
            <p:cNvSpPr/>
            <p:nvPr/>
          </p:nvSpPr>
          <p:spPr>
            <a:xfrm flipH="false" flipV="false" rot="0">
              <a:off x="0" y="0"/>
              <a:ext cx="1960623" cy="1580097"/>
            </a:xfrm>
            <a:custGeom>
              <a:avLst/>
              <a:gdLst/>
              <a:ahLst/>
              <a:cxnLst/>
              <a:rect r="r" b="b" t="t" l="l"/>
              <a:pathLst>
                <a:path h="1580097" w="1960623">
                  <a:moveTo>
                    <a:pt x="35360" y="0"/>
                  </a:moveTo>
                  <a:lnTo>
                    <a:pt x="1925263" y="0"/>
                  </a:lnTo>
                  <a:cubicBezTo>
                    <a:pt x="1944792" y="0"/>
                    <a:pt x="1960623" y="15831"/>
                    <a:pt x="1960623" y="35360"/>
                  </a:cubicBezTo>
                  <a:lnTo>
                    <a:pt x="1960623" y="1544737"/>
                  </a:lnTo>
                  <a:cubicBezTo>
                    <a:pt x="1960623" y="1564266"/>
                    <a:pt x="1944792" y="1580097"/>
                    <a:pt x="1925263" y="1580097"/>
                  </a:cubicBezTo>
                  <a:lnTo>
                    <a:pt x="35360" y="1580097"/>
                  </a:lnTo>
                  <a:cubicBezTo>
                    <a:pt x="15831" y="1580097"/>
                    <a:pt x="0" y="1564266"/>
                    <a:pt x="0" y="1544737"/>
                  </a:cubicBezTo>
                  <a:lnTo>
                    <a:pt x="0" y="35360"/>
                  </a:lnTo>
                  <a:cubicBezTo>
                    <a:pt x="0" y="15831"/>
                    <a:pt x="15831" y="0"/>
                    <a:pt x="35360" y="0"/>
                  </a:cubicBezTo>
                  <a:close/>
                </a:path>
              </a:pathLst>
            </a:custGeom>
            <a:solidFill>
              <a:srgbClr val="1E3B50">
                <a:alpha val="65882"/>
              </a:srgbClr>
            </a:solidFill>
          </p:spPr>
        </p:sp>
        <p:sp>
          <p:nvSpPr>
            <p:cNvPr name="TextBox 6" id="6"/>
            <p:cNvSpPr txBox="true"/>
            <p:nvPr/>
          </p:nvSpPr>
          <p:spPr>
            <a:xfrm>
              <a:off x="0" y="-47625"/>
              <a:ext cx="1960623" cy="1627722"/>
            </a:xfrm>
            <a:prstGeom prst="rect">
              <a:avLst/>
            </a:prstGeom>
          </p:spPr>
          <p:txBody>
            <a:bodyPr anchor="ctr" rtlCol="false" tIns="50800" lIns="50800" bIns="50800" rIns="50800"/>
            <a:lstStyle/>
            <a:p>
              <a:pPr algn="ctr">
                <a:lnSpc>
                  <a:spcPts val="3640"/>
                </a:lnSpc>
              </a:pPr>
            </a:p>
          </p:txBody>
        </p:sp>
      </p:grpSp>
      <p:sp>
        <p:nvSpPr>
          <p:cNvPr name="TextBox 7" id="7"/>
          <p:cNvSpPr txBox="true"/>
          <p:nvPr/>
        </p:nvSpPr>
        <p:spPr>
          <a:xfrm rot="0">
            <a:off x="1341050" y="2772820"/>
            <a:ext cx="6828158" cy="6056581"/>
          </a:xfrm>
          <a:prstGeom prst="rect">
            <a:avLst/>
          </a:prstGeom>
        </p:spPr>
        <p:txBody>
          <a:bodyPr anchor="t" rtlCol="false" tIns="0" lIns="0" bIns="0" rIns="0">
            <a:spAutoFit/>
          </a:bodyPr>
          <a:lstStyle/>
          <a:p>
            <a:pPr algn="ctr">
              <a:lnSpc>
                <a:spcPts val="3721"/>
              </a:lnSpc>
            </a:pPr>
          </a:p>
          <a:p>
            <a:pPr algn="ctr">
              <a:lnSpc>
                <a:spcPts val="3721"/>
              </a:lnSpc>
            </a:pPr>
            <a:r>
              <a:rPr lang="en-US" sz="2658">
                <a:solidFill>
                  <a:srgbClr val="DCDDDD"/>
                </a:solidFill>
                <a:latin typeface="League Spartan"/>
                <a:ea typeface="League Spartan"/>
                <a:cs typeface="League Spartan"/>
                <a:sym typeface="League Spartan"/>
              </a:rPr>
              <a:t>Analysis limited to the 2025 World Championship due to frequent balance updates, reducing generalizability and statistical power in matchup and detachment results</a:t>
            </a:r>
          </a:p>
          <a:p>
            <a:pPr algn="ctr">
              <a:lnSpc>
                <a:spcPts val="3721"/>
              </a:lnSpc>
            </a:pPr>
          </a:p>
          <a:p>
            <a:pPr algn="ctr">
              <a:lnSpc>
                <a:spcPts val="3721"/>
              </a:lnSpc>
            </a:pPr>
            <a:r>
              <a:rPr lang="en-US" sz="2658">
                <a:solidFill>
                  <a:srgbClr val="DCDDDD"/>
                </a:solidFill>
                <a:latin typeface="League Spartan"/>
                <a:ea typeface="League Spartan"/>
                <a:cs typeface="League Spartan"/>
                <a:sym typeface="League Spartan"/>
              </a:rPr>
              <a:t>Army costs are inferred, not actual player expenses</a:t>
            </a:r>
          </a:p>
          <a:p>
            <a:pPr algn="ctr">
              <a:lnSpc>
                <a:spcPts val="3721"/>
              </a:lnSpc>
            </a:pPr>
          </a:p>
          <a:p>
            <a:pPr algn="ctr">
              <a:lnSpc>
                <a:spcPts val="3721"/>
              </a:lnSpc>
            </a:pPr>
            <a:r>
              <a:rPr lang="en-US" sz="2658">
                <a:solidFill>
                  <a:srgbClr val="DCDDDD"/>
                </a:solidFill>
                <a:latin typeface="League Spartan"/>
                <a:ea typeface="League Spartan"/>
                <a:cs typeface="League Spartan"/>
                <a:sym typeface="League Spartan"/>
              </a:rPr>
              <a:t>The unit-name dictionary is tailored to this event and may not generalize</a:t>
            </a:r>
            <a:r>
              <a:rPr lang="en-US" sz="2658">
                <a:solidFill>
                  <a:srgbClr val="DCDDDD"/>
                </a:solidFill>
                <a:latin typeface="League Spartan"/>
                <a:ea typeface="League Spartan"/>
                <a:cs typeface="League Spartan"/>
                <a:sym typeface="League Spartan"/>
              </a:rPr>
              <a:t> </a:t>
            </a:r>
          </a:p>
          <a:p>
            <a:pPr algn="ctr">
              <a:lnSpc>
                <a:spcPts val="3721"/>
              </a:lnSpc>
            </a:pPr>
          </a:p>
        </p:txBody>
      </p:sp>
      <p:sp>
        <p:nvSpPr>
          <p:cNvPr name="TextBox 8" id="8"/>
          <p:cNvSpPr txBox="true"/>
          <p:nvPr/>
        </p:nvSpPr>
        <p:spPr>
          <a:xfrm rot="0">
            <a:off x="9815059" y="914400"/>
            <a:ext cx="7444168" cy="995700"/>
          </a:xfrm>
          <a:prstGeom prst="rect">
            <a:avLst/>
          </a:prstGeom>
        </p:spPr>
        <p:txBody>
          <a:bodyPr anchor="t" rtlCol="false" tIns="0" lIns="0" bIns="0" rIns="0">
            <a:spAutoFit/>
          </a:bodyPr>
          <a:lstStyle/>
          <a:p>
            <a:pPr algn="ctr">
              <a:lnSpc>
                <a:spcPts val="8119"/>
              </a:lnSpc>
              <a:spcBef>
                <a:spcPct val="0"/>
              </a:spcBef>
            </a:pPr>
            <a:r>
              <a:rPr lang="en-US" sz="5799">
                <a:solidFill>
                  <a:srgbClr val="DCDDDD"/>
                </a:solidFill>
                <a:latin typeface="Black Ops One"/>
                <a:ea typeface="Black Ops One"/>
                <a:cs typeface="Black Ops One"/>
                <a:sym typeface="Black Ops One"/>
              </a:rPr>
              <a:t>F</a:t>
            </a:r>
            <a:r>
              <a:rPr lang="en-US" sz="5799">
                <a:solidFill>
                  <a:srgbClr val="DCDDDD"/>
                </a:solidFill>
                <a:latin typeface="Black Ops One"/>
                <a:ea typeface="Black Ops One"/>
                <a:cs typeface="Black Ops One"/>
                <a:sym typeface="Black Ops One"/>
              </a:rPr>
              <a:t>uture work</a:t>
            </a:r>
          </a:p>
        </p:txBody>
      </p:sp>
      <p:grpSp>
        <p:nvGrpSpPr>
          <p:cNvPr name="Group 9" id="9"/>
          <p:cNvGrpSpPr/>
          <p:nvPr/>
        </p:nvGrpSpPr>
        <p:grpSpPr>
          <a:xfrm rot="0">
            <a:off x="9815059" y="2829970"/>
            <a:ext cx="7444241" cy="5999431"/>
            <a:chOff x="0" y="0"/>
            <a:chExt cx="1960623" cy="1580097"/>
          </a:xfrm>
        </p:grpSpPr>
        <p:sp>
          <p:nvSpPr>
            <p:cNvPr name="Freeform 10" id="10"/>
            <p:cNvSpPr/>
            <p:nvPr/>
          </p:nvSpPr>
          <p:spPr>
            <a:xfrm flipH="false" flipV="false" rot="0">
              <a:off x="0" y="0"/>
              <a:ext cx="1960623" cy="1580097"/>
            </a:xfrm>
            <a:custGeom>
              <a:avLst/>
              <a:gdLst/>
              <a:ahLst/>
              <a:cxnLst/>
              <a:rect r="r" b="b" t="t" l="l"/>
              <a:pathLst>
                <a:path h="1580097" w="1960623">
                  <a:moveTo>
                    <a:pt x="35360" y="0"/>
                  </a:moveTo>
                  <a:lnTo>
                    <a:pt x="1925263" y="0"/>
                  </a:lnTo>
                  <a:cubicBezTo>
                    <a:pt x="1944792" y="0"/>
                    <a:pt x="1960623" y="15831"/>
                    <a:pt x="1960623" y="35360"/>
                  </a:cubicBezTo>
                  <a:lnTo>
                    <a:pt x="1960623" y="1544737"/>
                  </a:lnTo>
                  <a:cubicBezTo>
                    <a:pt x="1960623" y="1564266"/>
                    <a:pt x="1944792" y="1580097"/>
                    <a:pt x="1925263" y="1580097"/>
                  </a:cubicBezTo>
                  <a:lnTo>
                    <a:pt x="35360" y="1580097"/>
                  </a:lnTo>
                  <a:cubicBezTo>
                    <a:pt x="15831" y="1580097"/>
                    <a:pt x="0" y="1564266"/>
                    <a:pt x="0" y="1544737"/>
                  </a:cubicBezTo>
                  <a:lnTo>
                    <a:pt x="0" y="35360"/>
                  </a:lnTo>
                  <a:cubicBezTo>
                    <a:pt x="0" y="15831"/>
                    <a:pt x="15831" y="0"/>
                    <a:pt x="35360" y="0"/>
                  </a:cubicBezTo>
                  <a:close/>
                </a:path>
              </a:pathLst>
            </a:custGeom>
            <a:solidFill>
              <a:srgbClr val="1E3B50">
                <a:alpha val="65882"/>
              </a:srgbClr>
            </a:solidFill>
          </p:spPr>
        </p:sp>
        <p:sp>
          <p:nvSpPr>
            <p:cNvPr name="TextBox 11" id="11"/>
            <p:cNvSpPr txBox="true"/>
            <p:nvPr/>
          </p:nvSpPr>
          <p:spPr>
            <a:xfrm>
              <a:off x="0" y="-47625"/>
              <a:ext cx="1960623" cy="1627722"/>
            </a:xfrm>
            <a:prstGeom prst="rect">
              <a:avLst/>
            </a:prstGeom>
          </p:spPr>
          <p:txBody>
            <a:bodyPr anchor="ctr" rtlCol="false" tIns="50800" lIns="50800" bIns="50800" rIns="50800"/>
            <a:lstStyle/>
            <a:p>
              <a:pPr algn="ctr">
                <a:lnSpc>
                  <a:spcPts val="3640"/>
                </a:lnSpc>
              </a:pPr>
            </a:p>
          </p:txBody>
        </p:sp>
      </p:grpSp>
      <p:sp>
        <p:nvSpPr>
          <p:cNvPr name="TextBox 12" id="12"/>
          <p:cNvSpPr txBox="true"/>
          <p:nvPr/>
        </p:nvSpPr>
        <p:spPr>
          <a:xfrm rot="0">
            <a:off x="10114931" y="2772820"/>
            <a:ext cx="6844498" cy="5589892"/>
          </a:xfrm>
          <a:prstGeom prst="rect">
            <a:avLst/>
          </a:prstGeom>
        </p:spPr>
        <p:txBody>
          <a:bodyPr anchor="t" rtlCol="false" tIns="0" lIns="0" bIns="0" rIns="0">
            <a:spAutoFit/>
          </a:bodyPr>
          <a:lstStyle/>
          <a:p>
            <a:pPr algn="r">
              <a:lnSpc>
                <a:spcPts val="3721"/>
              </a:lnSpc>
            </a:pPr>
          </a:p>
          <a:p>
            <a:pPr algn="ctr">
              <a:lnSpc>
                <a:spcPts val="3721"/>
              </a:lnSpc>
            </a:pPr>
            <a:r>
              <a:rPr lang="en-US" sz="2658">
                <a:solidFill>
                  <a:srgbClr val="DCDDDD"/>
                </a:solidFill>
                <a:latin typeface="League Spartan"/>
                <a:ea typeface="League Spartan"/>
                <a:cs typeface="League Spartan"/>
                <a:sym typeface="League Spartan"/>
              </a:rPr>
              <a:t>Expand the dataset by extracting data from additional tournaments, properly handling balance changes over time and the release of new units</a:t>
            </a:r>
          </a:p>
          <a:p>
            <a:pPr algn="r">
              <a:lnSpc>
                <a:spcPts val="3721"/>
              </a:lnSpc>
            </a:pPr>
          </a:p>
          <a:p>
            <a:pPr algn="ctr">
              <a:lnSpc>
                <a:spcPts val="3721"/>
              </a:lnSpc>
            </a:pPr>
            <a:r>
              <a:rPr lang="en-US" sz="2658">
                <a:solidFill>
                  <a:srgbClr val="DCDDDD"/>
                </a:solidFill>
                <a:latin typeface="League Spartan"/>
                <a:ea typeface="League Spartan"/>
                <a:cs typeface="League Spartan"/>
                <a:sym typeface="League Spartan"/>
              </a:rPr>
              <a:t>Develop an army building interface that allows users to evaluate army potential competitive performance by identifying, through a maximum-similarity matching system, the most comparable army</a:t>
            </a:r>
          </a:p>
        </p:txBody>
      </p:sp>
      <p:sp>
        <p:nvSpPr>
          <p:cNvPr name="AutoShape 13" id="13"/>
          <p:cNvSpPr/>
          <p:nvPr/>
        </p:nvSpPr>
        <p:spPr>
          <a:xfrm flipV="true">
            <a:off x="2451954" y="2080899"/>
            <a:ext cx="4455710" cy="0"/>
          </a:xfrm>
          <a:prstGeom prst="line">
            <a:avLst/>
          </a:prstGeom>
          <a:ln cap="flat" w="38100">
            <a:solidFill>
              <a:srgbClr val="DCDDDD"/>
            </a:solidFill>
            <a:prstDash val="solid"/>
            <a:headEnd type="none" len="sm" w="sm"/>
            <a:tailEnd type="none" len="sm" w="sm"/>
          </a:ln>
        </p:spPr>
      </p:sp>
      <p:sp>
        <p:nvSpPr>
          <p:cNvPr name="AutoShape 14" id="14"/>
          <p:cNvSpPr/>
          <p:nvPr/>
        </p:nvSpPr>
        <p:spPr>
          <a:xfrm>
            <a:off x="11050401" y="2099949"/>
            <a:ext cx="4973557" cy="19050"/>
          </a:xfrm>
          <a:prstGeom prst="line">
            <a:avLst/>
          </a:prstGeom>
          <a:ln cap="flat" w="38100">
            <a:solidFill>
              <a:srgbClr val="DCDDDD"/>
            </a:solidFill>
            <a:prstDash val="solid"/>
            <a:headEnd type="none" len="sm" w="sm"/>
            <a:tailEnd type="none" len="sm" w="sm"/>
          </a:ln>
        </p:spPr>
      </p:sp>
      <p:sp>
        <p:nvSpPr>
          <p:cNvPr name="TextBox 15" id="15"/>
          <p:cNvSpPr txBox="true"/>
          <p:nvPr/>
        </p:nvSpPr>
        <p:spPr>
          <a:xfrm rot="0">
            <a:off x="6840824" y="4535771"/>
            <a:ext cx="4606351" cy="1193802"/>
          </a:xfrm>
          <a:prstGeom prst="rect">
            <a:avLst/>
          </a:prstGeom>
        </p:spPr>
        <p:txBody>
          <a:bodyPr anchor="t" rtlCol="false" tIns="0" lIns="0" bIns="0" rIns="0">
            <a:spAutoFit/>
          </a:bodyPr>
          <a:lstStyle/>
          <a:p>
            <a:pPr algn="ctr">
              <a:lnSpc>
                <a:spcPts val="9799"/>
              </a:lnSpc>
              <a:spcBef>
                <a:spcPct val="0"/>
              </a:spcBef>
            </a:pPr>
            <a:r>
              <a:rPr lang="en-US" sz="6999">
                <a:solidFill>
                  <a:srgbClr val="DCDDDD"/>
                </a:solidFill>
                <a:latin typeface="Black Ops One"/>
                <a:ea typeface="Black Ops One"/>
                <a:cs typeface="Black Ops One"/>
                <a:sym typeface="Black Ops One"/>
              </a:rPr>
              <a:t>&amp;</a:t>
            </a:r>
          </a:p>
        </p:txBody>
      </p:sp>
      <p:sp>
        <p:nvSpPr>
          <p:cNvPr name="AutoShape 16" id="16"/>
          <p:cNvSpPr/>
          <p:nvPr/>
        </p:nvSpPr>
        <p:spPr>
          <a:xfrm flipV="true">
            <a:off x="9144000" y="5795689"/>
            <a:ext cx="0" cy="3808483"/>
          </a:xfrm>
          <a:prstGeom prst="line">
            <a:avLst/>
          </a:prstGeom>
          <a:ln cap="flat" w="38100">
            <a:solidFill>
              <a:srgbClr val="DCDDDD"/>
            </a:solidFill>
            <a:prstDash val="solid"/>
            <a:headEnd type="none" len="sm" w="sm"/>
            <a:tailEnd type="none" len="sm" w="sm"/>
          </a:ln>
        </p:spPr>
      </p:sp>
      <p:sp>
        <p:nvSpPr>
          <p:cNvPr name="AutoShape 17" id="17"/>
          <p:cNvSpPr/>
          <p:nvPr/>
        </p:nvSpPr>
        <p:spPr>
          <a:xfrm flipV="true">
            <a:off x="9144000" y="1028700"/>
            <a:ext cx="0" cy="3463410"/>
          </a:xfrm>
          <a:prstGeom prst="line">
            <a:avLst/>
          </a:prstGeom>
          <a:ln cap="flat" w="38100">
            <a:solidFill>
              <a:srgbClr val="DCDDDD"/>
            </a:solidFill>
            <a:prstDash val="solid"/>
            <a:headEnd type="none" len="sm" w="sm"/>
            <a:tailEnd type="none" len="sm" w="sm"/>
          </a:ln>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492107" y="0"/>
            <a:ext cx="21272214" cy="6647567"/>
          </a:xfrm>
          <a:custGeom>
            <a:avLst/>
            <a:gdLst/>
            <a:ahLst/>
            <a:cxnLst/>
            <a:rect r="r" b="b" t="t" l="l"/>
            <a:pathLst>
              <a:path h="6647567" w="21272214">
                <a:moveTo>
                  <a:pt x="0" y="0"/>
                </a:moveTo>
                <a:lnTo>
                  <a:pt x="21272214" y="0"/>
                </a:lnTo>
                <a:lnTo>
                  <a:pt x="21272214" y="6647567"/>
                </a:lnTo>
                <a:lnTo>
                  <a:pt x="0" y="6647567"/>
                </a:lnTo>
                <a:lnTo>
                  <a:pt x="0" y="0"/>
                </a:lnTo>
                <a:close/>
              </a:path>
            </a:pathLst>
          </a:custGeom>
          <a:blipFill>
            <a:blip r:embed="rId2"/>
            <a:stretch>
              <a:fillRect l="0" t="0" r="0" b="0"/>
            </a:stretch>
          </a:blipFill>
        </p:spPr>
      </p:sp>
      <p:sp>
        <p:nvSpPr>
          <p:cNvPr name="Freeform 3" id="3"/>
          <p:cNvSpPr/>
          <p:nvPr/>
        </p:nvSpPr>
        <p:spPr>
          <a:xfrm flipH="false" flipV="false" rot="0">
            <a:off x="-814865" y="0"/>
            <a:ext cx="19102865" cy="7697115"/>
          </a:xfrm>
          <a:custGeom>
            <a:avLst/>
            <a:gdLst/>
            <a:ahLst/>
            <a:cxnLst/>
            <a:rect r="r" b="b" t="t" l="l"/>
            <a:pathLst>
              <a:path h="7697115" w="19102865">
                <a:moveTo>
                  <a:pt x="0" y="0"/>
                </a:moveTo>
                <a:lnTo>
                  <a:pt x="19102865" y="0"/>
                </a:lnTo>
                <a:lnTo>
                  <a:pt x="19102865" y="7697115"/>
                </a:lnTo>
                <a:lnTo>
                  <a:pt x="0" y="7697115"/>
                </a:lnTo>
                <a:lnTo>
                  <a:pt x="0" y="0"/>
                </a:lnTo>
                <a:close/>
              </a:path>
            </a:pathLst>
          </a:custGeom>
          <a:blipFill>
            <a:blip r:embed="rId3"/>
            <a:stretch>
              <a:fillRect l="-6918" t="-23829" r="-7906" b="-25783"/>
            </a:stretch>
          </a:blipFill>
        </p:spPr>
      </p:sp>
      <p:sp>
        <p:nvSpPr>
          <p:cNvPr name="Freeform 4" id="4"/>
          <p:cNvSpPr/>
          <p:nvPr/>
        </p:nvSpPr>
        <p:spPr>
          <a:xfrm flipH="false" flipV="false" rot="-5400000">
            <a:off x="5094479" y="-2921055"/>
            <a:ext cx="6316903" cy="21236341"/>
          </a:xfrm>
          <a:custGeom>
            <a:avLst/>
            <a:gdLst/>
            <a:ahLst/>
            <a:cxnLst/>
            <a:rect r="r" b="b" t="t" l="l"/>
            <a:pathLst>
              <a:path h="21236341" w="6316903">
                <a:moveTo>
                  <a:pt x="0" y="0"/>
                </a:moveTo>
                <a:lnTo>
                  <a:pt x="6316903" y="0"/>
                </a:lnTo>
                <a:lnTo>
                  <a:pt x="6316903" y="21236341"/>
                </a:lnTo>
                <a:lnTo>
                  <a:pt x="0" y="21236341"/>
                </a:lnTo>
                <a:lnTo>
                  <a:pt x="0" y="0"/>
                </a:lnTo>
                <a:close/>
              </a:path>
            </a:pathLst>
          </a:custGeom>
          <a:blipFill>
            <a:blip r:embed="rId4"/>
            <a:stretch>
              <a:fillRect l="-57347" t="0" r="-21642" b="-7559"/>
            </a:stretch>
          </a:blipFill>
        </p:spPr>
      </p:sp>
      <p:sp>
        <p:nvSpPr>
          <p:cNvPr name="Freeform 5" id="5"/>
          <p:cNvSpPr/>
          <p:nvPr/>
        </p:nvSpPr>
        <p:spPr>
          <a:xfrm flipH="false" flipV="false" rot="0">
            <a:off x="2267781" y="5416170"/>
            <a:ext cx="13752437" cy="2819250"/>
          </a:xfrm>
          <a:custGeom>
            <a:avLst/>
            <a:gdLst/>
            <a:ahLst/>
            <a:cxnLst/>
            <a:rect r="r" b="b" t="t" l="l"/>
            <a:pathLst>
              <a:path h="2819250" w="13752437">
                <a:moveTo>
                  <a:pt x="0" y="0"/>
                </a:moveTo>
                <a:lnTo>
                  <a:pt x="13752438" y="0"/>
                </a:lnTo>
                <a:lnTo>
                  <a:pt x="13752438" y="2819249"/>
                </a:lnTo>
                <a:lnTo>
                  <a:pt x="0" y="2819249"/>
                </a:lnTo>
                <a:lnTo>
                  <a:pt x="0" y="0"/>
                </a:lnTo>
                <a:close/>
              </a:path>
            </a:pathLst>
          </a:custGeom>
          <a:blipFill>
            <a:blip r:embed="rId5"/>
            <a:stretch>
              <a:fillRect l="0" t="0" r="0" b="0"/>
            </a:stretch>
          </a:blipFill>
        </p:spPr>
      </p:sp>
      <p:sp>
        <p:nvSpPr>
          <p:cNvPr name="AutoShape 6" id="6"/>
          <p:cNvSpPr/>
          <p:nvPr/>
        </p:nvSpPr>
        <p:spPr>
          <a:xfrm>
            <a:off x="4287033" y="9373605"/>
            <a:ext cx="9713934" cy="0"/>
          </a:xfrm>
          <a:prstGeom prst="line">
            <a:avLst/>
          </a:prstGeom>
          <a:ln cap="flat" w="38100">
            <a:solidFill>
              <a:srgbClr val="DCDDDD"/>
            </a:solidFill>
            <a:prstDash val="solid"/>
            <a:headEnd type="none" len="sm" w="sm"/>
            <a:tailEnd type="none" len="sm" w="sm"/>
          </a:ln>
        </p:spPr>
      </p:sp>
      <p:sp>
        <p:nvSpPr>
          <p:cNvPr name="TextBox 7" id="7"/>
          <p:cNvSpPr txBox="true"/>
          <p:nvPr/>
        </p:nvSpPr>
        <p:spPr>
          <a:xfrm rot="0">
            <a:off x="5219042" y="8291564"/>
            <a:ext cx="7849916" cy="910591"/>
          </a:xfrm>
          <a:prstGeom prst="rect">
            <a:avLst/>
          </a:prstGeom>
        </p:spPr>
        <p:txBody>
          <a:bodyPr anchor="t" rtlCol="false" tIns="0" lIns="0" bIns="0" rIns="0">
            <a:spAutoFit/>
          </a:bodyPr>
          <a:lstStyle/>
          <a:p>
            <a:pPr algn="ctr">
              <a:lnSpc>
                <a:spcPts val="7559"/>
              </a:lnSpc>
              <a:spcBef>
                <a:spcPct val="0"/>
              </a:spcBef>
            </a:pPr>
            <a:r>
              <a:rPr lang="en-US" sz="5399">
                <a:solidFill>
                  <a:srgbClr val="DCDDDD"/>
                </a:solidFill>
                <a:latin typeface="Black Ops One"/>
                <a:ea typeface="Black Ops One"/>
                <a:cs typeface="Black Ops One"/>
                <a:sym typeface="Black Ops One"/>
              </a:rPr>
              <a:t>Tournament Analysis</a:t>
            </a:r>
          </a:p>
        </p:txBody>
      </p:sp>
      <p:sp>
        <p:nvSpPr>
          <p:cNvPr name="TextBox 8" id="8"/>
          <p:cNvSpPr txBox="true"/>
          <p:nvPr/>
        </p:nvSpPr>
        <p:spPr>
          <a:xfrm rot="0">
            <a:off x="4444594" y="9575045"/>
            <a:ext cx="9398811" cy="438803"/>
          </a:xfrm>
          <a:prstGeom prst="rect">
            <a:avLst/>
          </a:prstGeom>
        </p:spPr>
        <p:txBody>
          <a:bodyPr anchor="t" rtlCol="false" tIns="0" lIns="0" bIns="0" rIns="0">
            <a:spAutoFit/>
          </a:bodyPr>
          <a:lstStyle/>
          <a:p>
            <a:pPr algn="ctr">
              <a:lnSpc>
                <a:spcPts val="3640"/>
              </a:lnSpc>
              <a:spcBef>
                <a:spcPct val="0"/>
              </a:spcBef>
            </a:pPr>
            <a:r>
              <a:rPr lang="en-US" sz="2600">
                <a:solidFill>
                  <a:srgbClr val="DCDDDD"/>
                </a:solidFill>
                <a:latin typeface="League Spartan"/>
                <a:ea typeface="League Spartan"/>
                <a:cs typeface="League Spartan"/>
                <a:sym typeface="League Spartan"/>
              </a:rPr>
              <a:t>Cesaratto Ilaria - Mezzanzanica Chiara - Porro Andrea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DAG_h-Z_6vU</dc:identifier>
  <dcterms:modified xsi:type="dcterms:W3CDTF">2011-08-01T06:04:30Z</dcterms:modified>
  <cp:revision>1</cp:revision>
  <dc:title>Warhammer 40K Tournament Analysis</dc:title>
</cp:coreProperties>
</file>